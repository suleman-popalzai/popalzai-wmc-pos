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3f67a7e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43f67a7e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471d0eaf4a_1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471d0eaf4a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471d0eaf4a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471d0eaf4a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471d0eaf4a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471d0eaf4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471d0eaf4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471d0eaf4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471d0eaf4a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471d0eaf4a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471d0eaf4a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471d0eaf4a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471d0eaf4a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471d0eaf4a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71d0eaf4a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471d0eaf4a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71d0eaf4a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471d0eaf4a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471d0eaf4a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471d0eaf4a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471d0eaf4a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471d0eaf4a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71d0eaf4a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471d0eaf4a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471d0eaf4a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471d0eaf4a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71d0eaf4a_1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471d0eaf4a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71d0eaf4a_1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471d0eaf4a_1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71d0eaf4a_1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471d0eaf4a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471d0eaf4a_1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471d0eaf4a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71d0eaf4a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471d0eaf4a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71d0eaf4a_1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471d0eaf4a_1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47553de9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47553de9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471d0eaf4a_1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471d0eaf4a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</a:t>
            </a:r>
            <a:r>
              <a:rPr lang="de" sz="3800">
                <a:solidFill>
                  <a:schemeClr val="dk2"/>
                </a:solidFill>
              </a:rPr>
              <a:t>Layout Module</a:t>
            </a:r>
            <a:endParaRPr sz="380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200" y="1336425"/>
            <a:ext cx="5102026" cy="342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Layout Module</a:t>
            </a:r>
            <a:endParaRPr sz="3800"/>
          </a:p>
        </p:txBody>
      </p:sp>
      <p:sp>
        <p:nvSpPr>
          <p:cNvPr id="61" name="Google Shape;61;p14"/>
          <p:cNvSpPr txBox="1"/>
          <p:nvPr/>
        </p:nvSpPr>
        <p:spPr>
          <a:xfrm>
            <a:off x="521675" y="1509900"/>
            <a:ext cx="78435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Das </a:t>
            </a:r>
            <a:r>
              <a:rPr b="1" lang="de" sz="1600">
                <a:solidFill>
                  <a:schemeClr val="dk1"/>
                </a:solidFill>
              </a:rPr>
              <a:t>Flexbox-Layout-Modul</a:t>
            </a:r>
            <a:r>
              <a:rPr lang="de" sz="1600">
                <a:solidFill>
                  <a:schemeClr val="dk1"/>
                </a:solidFill>
              </a:rPr>
              <a:t> zielt darauf ab, eine effizientere Methode zur Anordnung, Ausrichtung und Verteilung des Platzes zwischen den Elementen in einem Container bereitzustellen, selbst wenn deren Größe unbekannt und/oder dynamisch ist (daher das Wort "Flex").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Die Hauptidee hinter dem Flex-Layout ist es, dem Container die Möglichkeit zu geben, die Breite/Höhe (und die Reihenfolge) seiner Elemente zu ändern, um den verfügbaren Platz bestmöglich auszufüllen (hauptsächlich, um sich an alle Arten von Anzeigegeräten und Bildschirmgrößen anzupassen)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Layout Module</a:t>
            </a:r>
            <a:endParaRPr sz="3800"/>
          </a:p>
        </p:txBody>
      </p:sp>
      <p:sp>
        <p:nvSpPr>
          <p:cNvPr id="67" name="Google Shape;67;p15"/>
          <p:cNvSpPr txBox="1"/>
          <p:nvPr/>
        </p:nvSpPr>
        <p:spPr>
          <a:xfrm>
            <a:off x="650250" y="3230500"/>
            <a:ext cx="78435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>
                <a:solidFill>
                  <a:schemeClr val="dk1"/>
                </a:solidFill>
              </a:rPr>
              <a:t>Die </a:t>
            </a:r>
            <a:r>
              <a:rPr b="1" lang="de" sz="1600">
                <a:solidFill>
                  <a:schemeClr val="dk1"/>
                </a:solidFill>
              </a:rPr>
              <a:t>MAIN-AXIS</a:t>
            </a:r>
            <a:r>
              <a:rPr lang="de" sz="1600">
                <a:solidFill>
                  <a:schemeClr val="dk1"/>
                </a:solidFill>
              </a:rPr>
              <a:t> eines Flex-Containers ist die primäre Achse, entlang der die Flex-Elemente angeordnet werden. Sie muss nicht unbedingt horizontal sein; dies hängt von der Eigenschaft flex-direction ab.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Die </a:t>
            </a:r>
            <a:r>
              <a:rPr b="1" lang="de" sz="1600">
                <a:solidFill>
                  <a:schemeClr val="dk1"/>
                </a:solidFill>
              </a:rPr>
              <a:t>CROSS-AXIS</a:t>
            </a:r>
            <a:r>
              <a:rPr lang="de" sz="1600">
                <a:solidFill>
                  <a:schemeClr val="dk1"/>
                </a:solidFill>
              </a:rPr>
              <a:t> steht senkrecht zur Hauptachse und wird Querachse genannt. Ihre Richtung hängt von der Richtung der Hauptachse ab.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300" y="1092273"/>
            <a:ext cx="4788949" cy="22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Flex-Container</a:t>
            </a:r>
            <a:endParaRPr sz="380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675" y="1840825"/>
            <a:ext cx="4295701" cy="176954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5250350" y="218732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Definiert einen Flex-Container; Block oder inline.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Er aktiviert einen Flex-Kontext für alle seine direkten Kinder.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5262475" y="1170125"/>
            <a:ext cx="4295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display:</a:t>
            </a: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flex | inline-flex;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Flex-Container</a:t>
            </a:r>
            <a:endParaRPr sz="3800"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775" y="1683125"/>
            <a:ext cx="3389200" cy="21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884675" y="2336825"/>
            <a:ext cx="3947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row </a:t>
            </a:r>
            <a:r>
              <a:rPr lang="de"/>
              <a:t>(default)</a:t>
            </a:r>
            <a:r>
              <a:rPr lang="de"/>
              <a:t>:  inks nach rechts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row-reverse:</a:t>
            </a:r>
            <a:r>
              <a:rPr lang="de"/>
              <a:t> von rechts nach links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column:</a:t>
            </a:r>
            <a:r>
              <a:rPr lang="de"/>
              <a:t> oben nach unten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column-reverse:</a:t>
            </a:r>
            <a:r>
              <a:rPr lang="de"/>
              <a:t> von unten nach oben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Festlegung der </a:t>
            </a:r>
            <a:r>
              <a:rPr b="1" lang="de"/>
              <a:t>MAIN-AXIS</a:t>
            </a:r>
            <a:r>
              <a:rPr lang="de"/>
              <a:t>.</a:t>
            </a:r>
            <a:br>
              <a:rPr lang="de"/>
            </a:br>
            <a:r>
              <a:rPr lang="de"/>
              <a:t>Bei row | row-reverse: horizontal.</a:t>
            </a:r>
            <a:br>
              <a:rPr lang="de"/>
            </a:br>
            <a:r>
              <a:rPr lang="de"/>
              <a:t>Bei column | column-reverse: vertikal.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4881475" y="1246325"/>
            <a:ext cx="42957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flex-direction:</a:t>
            </a: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row | row-reverse |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column | column-reverse;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Flex-Container</a:t>
            </a:r>
            <a:endParaRPr sz="3800"/>
          </a:p>
        </p:txBody>
      </p:sp>
      <p:sp>
        <p:nvSpPr>
          <p:cNvPr id="90" name="Google Shape;90;p18"/>
          <p:cNvSpPr txBox="1"/>
          <p:nvPr/>
        </p:nvSpPr>
        <p:spPr>
          <a:xfrm>
            <a:off x="4881475" y="1246325"/>
            <a:ext cx="4295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flex-wrap:</a:t>
            </a: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nowrap | wrap | wrap-reverse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25" y="1734175"/>
            <a:ext cx="3453750" cy="205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4881475" y="2272900"/>
            <a:ext cx="4124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nowrap</a:t>
            </a:r>
            <a:r>
              <a:rPr lang="de"/>
              <a:t> (default):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Alle Flex-Kinder in einer Zeile</a:t>
            </a:r>
            <a:br>
              <a:rPr lang="de"/>
            </a:br>
            <a:r>
              <a:rPr lang="de"/>
              <a:t>(möglicher overflow).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	</a:t>
            </a:r>
            <a:br>
              <a:rPr lang="de"/>
            </a:br>
            <a:r>
              <a:rPr b="1" lang="de"/>
              <a:t>wrap:</a:t>
            </a:r>
            <a:br>
              <a:rPr lang="de"/>
            </a:br>
            <a:r>
              <a:rPr lang="de"/>
              <a:t>Flex-Kinder werden auf mehrere Zeilen umbrochen, von oben nach unten.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wrap-reverse:</a:t>
            </a:r>
            <a:br>
              <a:rPr lang="de"/>
            </a:br>
            <a:r>
              <a:rPr lang="de"/>
              <a:t>Flex-Kinder werden in mehreren Zeilen von unten nach oben umbrochen.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Flex-Container</a:t>
            </a:r>
            <a:endParaRPr sz="3800"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1170125"/>
            <a:ext cx="2632847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4881475" y="1246325"/>
            <a:ext cx="42957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justify-content</a:t>
            </a:r>
            <a:r>
              <a:rPr b="1"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flex-start | flex-send | center |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space-between | space-around | space-evenly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4881475" y="2806300"/>
            <a:ext cx="4124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flex-start </a:t>
            </a:r>
            <a:r>
              <a:rPr lang="de"/>
              <a:t>(default)</a:t>
            </a:r>
            <a:br>
              <a:rPr lang="de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Richtet die Flex-Kinder auf der </a:t>
            </a:r>
            <a:r>
              <a:rPr b="1" lang="de"/>
              <a:t>MAIN-AXIS</a:t>
            </a:r>
            <a:r>
              <a:rPr lang="de"/>
              <a:t> aus.</a:t>
            </a:r>
            <a:br>
              <a:rPr lang="de"/>
            </a:br>
            <a:br>
              <a:rPr lang="de"/>
            </a:br>
            <a:r>
              <a:rPr lang="de"/>
              <a:t>Bei row | row-reverse horizontal.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Bei column | column-reverse vertikal.</a:t>
            </a:r>
            <a:br>
              <a:rPr lang="de"/>
            </a:b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Flex-Container</a:t>
            </a:r>
            <a:endParaRPr sz="3800"/>
          </a:p>
        </p:txBody>
      </p:sp>
      <p:sp>
        <p:nvSpPr>
          <p:cNvPr id="106" name="Google Shape;106;p20"/>
          <p:cNvSpPr txBox="1"/>
          <p:nvPr/>
        </p:nvSpPr>
        <p:spPr>
          <a:xfrm>
            <a:off x="4881475" y="1246325"/>
            <a:ext cx="42957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align-items</a:t>
            </a:r>
            <a:r>
              <a:rPr b="1"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flex-start | flex-send | center |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stretch | baseline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4881475" y="2806300"/>
            <a:ext cx="4444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stretch</a:t>
            </a:r>
            <a:r>
              <a:rPr b="1" lang="de"/>
              <a:t> </a:t>
            </a:r>
            <a:r>
              <a:rPr lang="de"/>
              <a:t>(default)</a:t>
            </a:r>
            <a:br>
              <a:rPr lang="de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Richtet die Flex-Kinder auf der </a:t>
            </a:r>
            <a:r>
              <a:rPr b="1" lang="de"/>
              <a:t>CROSS</a:t>
            </a:r>
            <a:r>
              <a:rPr b="1" lang="de"/>
              <a:t>-AXIS</a:t>
            </a:r>
            <a:r>
              <a:rPr lang="de"/>
              <a:t> aus.</a:t>
            </a:r>
            <a:br>
              <a:rPr lang="de"/>
            </a:br>
            <a:br>
              <a:rPr lang="de"/>
            </a:br>
            <a:r>
              <a:rPr lang="de"/>
              <a:t>Bei row | row-reverse vertikal.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Bei column | column-reverse horizontal.</a:t>
            </a:r>
            <a:br>
              <a:rPr lang="de"/>
            </a:b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322525"/>
            <a:ext cx="2814225" cy="363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Flex-Container</a:t>
            </a:r>
            <a:endParaRPr sz="3800"/>
          </a:p>
        </p:txBody>
      </p:sp>
      <p:sp>
        <p:nvSpPr>
          <p:cNvPr id="114" name="Google Shape;114;p21"/>
          <p:cNvSpPr txBox="1"/>
          <p:nvPr/>
        </p:nvSpPr>
        <p:spPr>
          <a:xfrm>
            <a:off x="4881475" y="1246325"/>
            <a:ext cx="42957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align-content: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flex-start | flex-send | center |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space-between | space-around 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4881475" y="2806300"/>
            <a:ext cx="4096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flex-start</a:t>
            </a:r>
            <a:r>
              <a:rPr b="1" lang="de"/>
              <a:t> </a:t>
            </a:r>
            <a:r>
              <a:rPr lang="de"/>
              <a:t>(default)</a:t>
            </a:r>
            <a:br>
              <a:rPr lang="de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Richtet die Flex-Kinder in </a:t>
            </a:r>
            <a:r>
              <a:rPr b="1" lang="de"/>
              <a:t>MULTI-LINE</a:t>
            </a:r>
            <a:r>
              <a:rPr lang="de"/>
              <a:t> Flex-Containers aus.</a:t>
            </a:r>
            <a:br>
              <a:rPr lang="de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Also bei `flex-wrap: wrap | wrap-reverse`</a:t>
            </a:r>
            <a:br>
              <a:rPr lang="de"/>
            </a:br>
            <a:r>
              <a:rPr lang="de"/>
              <a:t>Nicht bei `flex-wrap: nowrap`</a:t>
            </a:r>
            <a:br>
              <a:rPr lang="de"/>
            </a:b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322525"/>
            <a:ext cx="2715025" cy="350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Flex-Container</a:t>
            </a:r>
            <a:endParaRPr sz="3800"/>
          </a:p>
        </p:txBody>
      </p:sp>
      <p:sp>
        <p:nvSpPr>
          <p:cNvPr id="122" name="Google Shape;122;p22"/>
          <p:cNvSpPr txBox="1"/>
          <p:nvPr/>
        </p:nvSpPr>
        <p:spPr>
          <a:xfrm>
            <a:off x="4881475" y="1246325"/>
            <a:ext cx="40602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gap: 10px; /* both */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gap: 10px 20px; /* row-gap column-gap */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row-gap: 10px;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column-gap: 20px;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4881475" y="2958700"/>
            <a:ext cx="4096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</a:t>
            </a:r>
            <a:r>
              <a:rPr lang="de"/>
              <a:t>teuert explizit den Abstand zwischen Flex-Kinder.</a:t>
            </a:r>
            <a:br>
              <a:rPr lang="de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Dieser Abstand wird nur zwischen den Elementen und nicht an den Außenkanten angewendet.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de"/>
            </a:b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322525"/>
            <a:ext cx="3078051" cy="366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Flex-Kinder</a:t>
            </a:r>
            <a:endParaRPr sz="3800"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800" y="1720624"/>
            <a:ext cx="5051849" cy="17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Flex-Kinder</a:t>
            </a:r>
            <a:endParaRPr sz="3800"/>
          </a:p>
        </p:txBody>
      </p:sp>
      <p:sp>
        <p:nvSpPr>
          <p:cNvPr id="136" name="Google Shape;136;p24"/>
          <p:cNvSpPr txBox="1"/>
          <p:nvPr/>
        </p:nvSpPr>
        <p:spPr>
          <a:xfrm>
            <a:off x="4881475" y="1246325"/>
            <a:ext cx="40602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order: number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4881475" y="2806300"/>
            <a:ext cx="4096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Standardmäßig werden die Flex-Elemente in der Reihenfolge im DOM-Tree angeordnet.</a:t>
            </a:r>
            <a:br>
              <a:rPr lang="de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Order</a:t>
            </a:r>
            <a:r>
              <a:rPr lang="de"/>
              <a:t> steuert die Reihenfolge, in der sie im Flex-Container erscheinen.</a:t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3199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Flex-Kinder</a:t>
            </a:r>
            <a:endParaRPr sz="3800"/>
          </a:p>
        </p:txBody>
      </p:sp>
      <p:sp>
        <p:nvSpPr>
          <p:cNvPr id="144" name="Google Shape;144;p25"/>
          <p:cNvSpPr txBox="1"/>
          <p:nvPr/>
        </p:nvSpPr>
        <p:spPr>
          <a:xfrm>
            <a:off x="4881475" y="1246325"/>
            <a:ext cx="40602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flex-grow: number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4881475" y="2349100"/>
            <a:ext cx="4096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flex-grow (default 0):</a:t>
            </a:r>
            <a:br>
              <a:rPr lang="de"/>
            </a:br>
            <a:r>
              <a:rPr lang="de"/>
              <a:t>Definiert die Fähigkeit eines Flex-Kindes, bei Bedarf zu wachsen.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de"/>
            </a:br>
            <a:r>
              <a:rPr lang="de"/>
              <a:t>Wenn alle Flex-Kinder auf 1 eingestellt sind, wird der verbleibende Platz im Container gleichmäßig auf alle Kinder verteilt.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Wenn ein Flex-Kind auf 2 und andere auf 1 eingestellt sind, nimmt dieses Element doppelt so viel Platz in Anspruch wie eines der anderen.</a:t>
            </a:r>
            <a:br>
              <a:rPr lang="de"/>
            </a:b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00" y="1795850"/>
            <a:ext cx="3938599" cy="171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Flex-Kinder</a:t>
            </a:r>
            <a:endParaRPr sz="3800"/>
          </a:p>
        </p:txBody>
      </p:sp>
      <p:sp>
        <p:nvSpPr>
          <p:cNvPr id="152" name="Google Shape;152;p26"/>
          <p:cNvSpPr txBox="1"/>
          <p:nvPr/>
        </p:nvSpPr>
        <p:spPr>
          <a:xfrm>
            <a:off x="4881475" y="1246325"/>
            <a:ext cx="40602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flex-shrink: number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4881475" y="2349100"/>
            <a:ext cx="4096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flex-shrink (default 1):</a:t>
            </a:r>
            <a:br>
              <a:rPr lang="de"/>
            </a:br>
            <a:r>
              <a:rPr lang="de"/>
              <a:t>Definiert die Fähigkeit eines Flex-Kindes, bei Bedarf zu schrumpfen.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de"/>
            </a:br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00" y="1795850"/>
            <a:ext cx="3938599" cy="171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Flex-Kinder</a:t>
            </a:r>
            <a:endParaRPr sz="3800"/>
          </a:p>
        </p:txBody>
      </p:sp>
      <p:sp>
        <p:nvSpPr>
          <p:cNvPr id="160" name="Google Shape;160;p27"/>
          <p:cNvSpPr txBox="1"/>
          <p:nvPr/>
        </p:nvSpPr>
        <p:spPr>
          <a:xfrm>
            <a:off x="4881475" y="941525"/>
            <a:ext cx="40602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flex-basis: px | % | auto</a:t>
            </a:r>
            <a:b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4881475" y="1587100"/>
            <a:ext cx="40968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flex-basis</a:t>
            </a:r>
            <a:br>
              <a:rPr lang="de"/>
            </a:br>
            <a:r>
              <a:rPr lang="de"/>
              <a:t>Wunsch-Größe eines Elements, bevor der verbleibende Platz verteilt wird. Es kann eine Länge (z.B. 100%, 0px, etc.) oder auto sein.</a:t>
            </a:r>
            <a:br>
              <a:rPr lang="de"/>
            </a:br>
            <a:br>
              <a:rPr lang="de"/>
            </a:br>
            <a:r>
              <a:rPr b="1" lang="de"/>
              <a:t>flex-basis: auto (default)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/>
              <a:t>“Ich möchte so groß wie mein Inhalt sein”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flex-basis: 0px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/>
              <a:t>“Ich möchte 0px groß sein”</a:t>
            </a:r>
            <a:br>
              <a:rPr i="1" lang="de"/>
            </a:br>
            <a:r>
              <a:rPr lang="de"/>
              <a:t>Macht gemeinsam mit </a:t>
            </a:r>
            <a:r>
              <a:rPr b="1" lang="de">
                <a:solidFill>
                  <a:srgbClr val="38761D"/>
                </a:solidFill>
              </a:rPr>
              <a:t>flex-grow</a:t>
            </a:r>
            <a:r>
              <a:rPr lang="de"/>
              <a:t> Sinn.</a:t>
            </a:r>
            <a:br>
              <a:rPr lang="de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flex-basis: 100%</a:t>
            </a:r>
            <a:br>
              <a:rPr lang="de"/>
            </a:br>
            <a:r>
              <a:rPr i="1" lang="de"/>
              <a:t>“Ich möchte so breit wie der Container sein”</a:t>
            </a:r>
            <a:br>
              <a:rPr i="1" lang="de"/>
            </a:br>
            <a:r>
              <a:rPr lang="de"/>
              <a:t>Macht gemeinsam mit </a:t>
            </a:r>
            <a:r>
              <a:rPr b="1" lang="de">
                <a:solidFill>
                  <a:srgbClr val="38761D"/>
                </a:solidFill>
              </a:rPr>
              <a:t>flex-wrap: wrap</a:t>
            </a:r>
            <a:r>
              <a:rPr lang="de"/>
              <a:t> Sinn.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-&gt; Siehe Flexbox - Multiline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de"/>
            </a:br>
            <a:endParaRPr/>
          </a:p>
        </p:txBody>
      </p:sp>
      <p:pic>
        <p:nvPicPr>
          <p:cNvPr id="162" name="Google Shape;1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00" y="1795850"/>
            <a:ext cx="3938599" cy="171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Flex-Kinder</a:t>
            </a:r>
            <a:endParaRPr sz="3800"/>
          </a:p>
        </p:txBody>
      </p:sp>
      <p:sp>
        <p:nvSpPr>
          <p:cNvPr id="168" name="Google Shape;168;p28"/>
          <p:cNvSpPr txBox="1"/>
          <p:nvPr/>
        </p:nvSpPr>
        <p:spPr>
          <a:xfrm>
            <a:off x="4881475" y="1739500"/>
            <a:ext cx="4096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flex-basis: 0</a:t>
            </a:r>
            <a:br>
              <a:rPr lang="de"/>
            </a:br>
            <a:r>
              <a:rPr lang="de"/>
              <a:t>Der ganze Flex-Container (</a:t>
            </a:r>
            <a:r>
              <a:rPr b="1" lang="de"/>
              <a:t>ALL SPACE</a:t>
            </a:r>
            <a:r>
              <a:rPr lang="de"/>
              <a:t>) wird proportional auf die Flex-Kinder verteilt. In abhängig ihres flex-grow Wertes.</a:t>
            </a:r>
            <a:br>
              <a:rPr lang="de"/>
            </a:br>
            <a:br>
              <a:rPr lang="de"/>
            </a:br>
            <a:r>
              <a:rPr b="1" lang="de"/>
              <a:t>flex-basis: auto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Der extra Bereich des Flex-Containers (</a:t>
            </a:r>
            <a:r>
              <a:rPr b="1" lang="de"/>
              <a:t>EXTRA-SPACE</a:t>
            </a:r>
            <a:r>
              <a:rPr lang="de"/>
              <a:t>) wird proportional auf die Flex-Kinder verteilt. In abhängigkeit ihres flex-grow Wertes.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de"/>
            </a:br>
            <a:endParaRPr/>
          </a:p>
        </p:txBody>
      </p:sp>
      <p:pic>
        <p:nvPicPr>
          <p:cNvPr id="169" name="Google Shape;16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03525"/>
            <a:ext cx="4576674" cy="227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8"/>
          <p:cNvSpPr txBox="1"/>
          <p:nvPr/>
        </p:nvSpPr>
        <p:spPr>
          <a:xfrm>
            <a:off x="805400" y="4292350"/>
            <a:ext cx="52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Flex-Algorithmus:</a:t>
            </a:r>
            <a:r>
              <a:rPr lang="de"/>
              <a:t> Zuerst Basis -&gt; dann shrink -&gt; dann grow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Flex-Shorthand</a:t>
            </a:r>
            <a:endParaRPr sz="3800"/>
          </a:p>
        </p:txBody>
      </p:sp>
      <p:sp>
        <p:nvSpPr>
          <p:cNvPr id="176" name="Google Shape;176;p29"/>
          <p:cNvSpPr txBox="1"/>
          <p:nvPr/>
        </p:nvSpPr>
        <p:spPr>
          <a:xfrm>
            <a:off x="1080150" y="1571375"/>
            <a:ext cx="6360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Three values: flex-grow &amp; flex-shrink &amp; flex-basis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flex: 0 0 100%;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One value unitless number: flex-grow</a:t>
            </a:r>
            <a:br>
              <a:rPr lang="de">
                <a:solidFill>
                  <a:schemeClr val="dk1"/>
                </a:solidFill>
              </a:rPr>
            </a:br>
            <a:r>
              <a:rPr lang="de">
                <a:solidFill>
                  <a:schemeClr val="dk1"/>
                </a:solidFill>
              </a:rPr>
              <a:t>flex: 1;</a:t>
            </a:r>
            <a:br>
              <a:rPr lang="de">
                <a:solidFill>
                  <a:schemeClr val="dk1"/>
                </a:solidFill>
              </a:rPr>
            </a:br>
            <a:r>
              <a:rPr lang="de">
                <a:solidFill>
                  <a:schemeClr val="dk1"/>
                </a:solidFill>
              </a:rPr>
              <a:t>-&gt; flex: 1 0 0;</a:t>
            </a:r>
            <a:br>
              <a:rPr lang="de"/>
            </a:b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Flex-Shorthand</a:t>
            </a:r>
            <a:endParaRPr sz="3800"/>
          </a:p>
        </p:txBody>
      </p:sp>
      <p:sp>
        <p:nvSpPr>
          <p:cNvPr id="182" name="Google Shape;182;p30"/>
          <p:cNvSpPr txBox="1"/>
          <p:nvPr/>
        </p:nvSpPr>
        <p:spPr>
          <a:xfrm>
            <a:off x="488400" y="1372625"/>
            <a:ext cx="84201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flex: 0 1 auto (default)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/>
              <a:t>“</a:t>
            </a:r>
            <a:r>
              <a:rPr i="1" lang="de"/>
              <a:t>I want to be the width of my real content …. BUT if necessary I will shrink”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-&gt; This prevents overflowing the line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flex: 1 0 auto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/>
              <a:t>“</a:t>
            </a:r>
            <a:r>
              <a:rPr i="1" lang="de"/>
              <a:t>I want to be the width of my real content …. BUT if possible I will grow.”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-&gt; This might overflow the line (DANGEROUS !)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flex: 1 1 auto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/>
              <a:t>“</a:t>
            </a:r>
            <a:r>
              <a:rPr i="1" lang="de"/>
              <a:t>I want to be the width of my real content … BUT let’s see if I have to grow or shrink”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de"/>
            </a:br>
            <a:r>
              <a:rPr b="1" lang="de">
                <a:solidFill>
                  <a:schemeClr val="dk1"/>
                </a:solidFill>
              </a:rPr>
              <a:t>flex: 0 0 auto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/>
              <a:t>“</a:t>
            </a:r>
            <a:r>
              <a:rPr i="1" lang="de"/>
              <a:t>I will be the width of my real content …. YOU BASTARDS, don’t touch me !!!”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-&gt; This might overflow the line (DANGEROUS !)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Flex-Shorthand</a:t>
            </a:r>
            <a:endParaRPr sz="3800"/>
          </a:p>
        </p:txBody>
      </p:sp>
      <p:sp>
        <p:nvSpPr>
          <p:cNvPr id="188" name="Google Shape;188;p31"/>
          <p:cNvSpPr txBox="1"/>
          <p:nvPr/>
        </p:nvSpPr>
        <p:spPr>
          <a:xfrm>
            <a:off x="488400" y="1372625"/>
            <a:ext cx="84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1"/>
          <p:cNvSpPr txBox="1"/>
          <p:nvPr/>
        </p:nvSpPr>
        <p:spPr>
          <a:xfrm>
            <a:off x="488400" y="1372625"/>
            <a:ext cx="8420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flex: 1 0 0px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flex: 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de"/>
              <a:t>“I will start with my absolute minimum size … BUT if possible I will grow”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-&gt; Put this on all childs and they will grow equal in size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>
                <a:solidFill>
                  <a:schemeClr val="dk1"/>
                </a:solidFill>
              </a:rPr>
              <a:t>flex: 0 0 100%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de"/>
              <a:t>“I will take the entire flex-line for me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-&gt; Makes sense in ‘flex-wrap: wrap’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with Response Media</a:t>
            </a:r>
            <a:endParaRPr sz="3800"/>
          </a:p>
        </p:txBody>
      </p:sp>
      <p:sp>
        <p:nvSpPr>
          <p:cNvPr id="195" name="Google Shape;195;p32"/>
          <p:cNvSpPr txBox="1"/>
          <p:nvPr/>
        </p:nvSpPr>
        <p:spPr>
          <a:xfrm>
            <a:off x="2976300" y="3181750"/>
            <a:ext cx="4943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/>
              <a:t>2) Wrap img/video inside another tag</a:t>
            </a:r>
            <a:br>
              <a:rPr b="1" lang="de"/>
            </a:br>
            <a:r>
              <a:rPr b="1" lang="de"/>
              <a:t>    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img src=””&gt;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    -&gt; img/video has “intrinsic content” :-(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    -&gt; max-width will obey his “master” the wrapper-tag :-)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    -&gt; the wrapper-tag is controlled by flexbox</a:t>
            </a:r>
            <a:endParaRPr/>
          </a:p>
        </p:txBody>
      </p:sp>
      <p:pic>
        <p:nvPicPr>
          <p:cNvPr id="196" name="Google Shape;1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25" y="1243150"/>
            <a:ext cx="6151245" cy="19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2"/>
          <p:cNvSpPr txBox="1"/>
          <p:nvPr/>
        </p:nvSpPr>
        <p:spPr>
          <a:xfrm>
            <a:off x="540300" y="3186450"/>
            <a:ext cx="29928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1) Response media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video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max-width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de" sz="11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auto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de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/*remove bottom gap from    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de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img/video */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de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vertical-align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de" sz="11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bottom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" name="Google Shape;198;p32"/>
          <p:cNvSpPr txBox="1"/>
          <p:nvPr/>
        </p:nvSpPr>
        <p:spPr>
          <a:xfrm>
            <a:off x="6595400" y="1175888"/>
            <a:ext cx="29928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3</a:t>
            </a:r>
            <a:r>
              <a:rPr b="1" lang="de">
                <a:solidFill>
                  <a:schemeClr val="dk1"/>
                </a:solidFill>
              </a:rPr>
              <a:t>) Flex-Container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intro-article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de" sz="11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flex-direction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de" sz="11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align-items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de" sz="11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99" name="Google Shape;199;p32"/>
          <p:cNvSpPr txBox="1"/>
          <p:nvPr/>
        </p:nvSpPr>
        <p:spPr>
          <a:xfrm>
            <a:off x="6763825" y="2523425"/>
            <a:ext cx="3000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4) Flex-Kinder</a:t>
            </a:r>
            <a:b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intro-article__content,</a:t>
            </a:r>
            <a:b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intro-article__media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Multiline</a:t>
            </a:r>
            <a:endParaRPr sz="3800"/>
          </a:p>
        </p:txBody>
      </p:sp>
      <p:sp>
        <p:nvSpPr>
          <p:cNvPr id="205" name="Google Shape;205;p33"/>
          <p:cNvSpPr txBox="1"/>
          <p:nvPr/>
        </p:nvSpPr>
        <p:spPr>
          <a:xfrm>
            <a:off x="5975100" y="121450"/>
            <a:ext cx="26355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1) Flex-Container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wrapper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de" sz="11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flex-direction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de" sz="11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flex-wrap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de" sz="11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wrap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" name="Google Shape;206;p33"/>
          <p:cNvSpPr txBox="1"/>
          <p:nvPr/>
        </p:nvSpPr>
        <p:spPr>
          <a:xfrm>
            <a:off x="6001425" y="1413650"/>
            <a:ext cx="2685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2</a:t>
            </a:r>
            <a:r>
              <a:rPr b="1" lang="de">
                <a:solidFill>
                  <a:schemeClr val="dk1"/>
                </a:solidFill>
              </a:rPr>
              <a:t>) Flex-Kinder - Mobile First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wrapper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i="1" lang="de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0 0 100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07" name="Google Shape;20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00" y="1189925"/>
            <a:ext cx="1771310" cy="115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350" y="1189925"/>
            <a:ext cx="3677177" cy="115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000" y="2549250"/>
            <a:ext cx="5544001" cy="120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3"/>
          <p:cNvSpPr txBox="1"/>
          <p:nvPr/>
        </p:nvSpPr>
        <p:spPr>
          <a:xfrm>
            <a:off x="-217250" y="984050"/>
            <a:ext cx="16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Mobile</a:t>
            </a:r>
            <a:endParaRPr/>
          </a:p>
        </p:txBody>
      </p:sp>
      <p:sp>
        <p:nvSpPr>
          <p:cNvPr id="211" name="Google Shape;211;p33"/>
          <p:cNvSpPr txBox="1"/>
          <p:nvPr/>
        </p:nvSpPr>
        <p:spPr>
          <a:xfrm>
            <a:off x="4386863" y="979900"/>
            <a:ext cx="16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Tablet</a:t>
            </a:r>
            <a:endParaRPr/>
          </a:p>
        </p:txBody>
      </p:sp>
      <p:sp>
        <p:nvSpPr>
          <p:cNvPr id="212" name="Google Shape;212;p33"/>
          <p:cNvSpPr txBox="1"/>
          <p:nvPr/>
        </p:nvSpPr>
        <p:spPr>
          <a:xfrm>
            <a:off x="2744263" y="2343150"/>
            <a:ext cx="16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	Desktop</a:t>
            </a:r>
            <a:endParaRPr/>
          </a:p>
        </p:txBody>
      </p:sp>
      <p:sp>
        <p:nvSpPr>
          <p:cNvPr id="213" name="Google Shape;213;p33"/>
          <p:cNvSpPr txBox="1"/>
          <p:nvPr/>
        </p:nvSpPr>
        <p:spPr>
          <a:xfrm>
            <a:off x="6019175" y="2356700"/>
            <a:ext cx="33669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3</a:t>
            </a:r>
            <a:r>
              <a:rPr b="1" lang="de">
                <a:solidFill>
                  <a:schemeClr val="dk1"/>
                </a:solidFill>
              </a:rPr>
              <a:t>) Flex-Kinder - Tablet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@media </a:t>
            </a:r>
            <a:r>
              <a:rPr b="1" lang="de" sz="11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all 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min-width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600</a:t>
            </a:r>
            <a:r>
              <a:rPr b="1" lang="de" sz="11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aside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1 0 0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5983900" y="3357850"/>
            <a:ext cx="3622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4</a:t>
            </a:r>
            <a:r>
              <a:rPr b="1" lang="de">
                <a:solidFill>
                  <a:schemeClr val="dk1"/>
                </a:solidFill>
              </a:rPr>
              <a:t>) Flex-Kinder - Desktop</a:t>
            </a:r>
            <a:b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@media </a:t>
            </a:r>
            <a:r>
              <a:rPr b="1" lang="de" sz="11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all 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min-width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800</a:t>
            </a:r>
            <a:r>
              <a:rPr b="1" lang="de" sz="11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3 0 0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.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header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order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.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aside-1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order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.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order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.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aside-2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order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.</a:t>
            </a:r>
            <a:r>
              <a:rPr b="1" lang="de" sz="110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footer 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b="1"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order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905875" y="3711125"/>
            <a:ext cx="43131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div </a:t>
            </a:r>
            <a:r>
              <a:rPr b="1" lang="de" sz="110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1" lang="de" sz="110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="wrapper"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header </a:t>
            </a:r>
            <a:r>
              <a:rPr b="1" lang="de" sz="110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1" lang="de" sz="110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="header"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&gt;Header&lt;/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header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article </a:t>
            </a:r>
            <a:r>
              <a:rPr b="1" lang="de" sz="110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1" lang="de" sz="110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="main"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&gt;...&lt;/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article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aside </a:t>
            </a:r>
            <a:r>
              <a:rPr b="1" lang="de" sz="110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1" lang="de" sz="110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="aside aside-1"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Aside 1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aside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aside </a:t>
            </a:r>
            <a:r>
              <a:rPr b="1" lang="de" sz="110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1" lang="de" sz="110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="aside aside-2"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Aside 2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aside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footer </a:t>
            </a:r>
            <a:r>
              <a:rPr b="1" lang="de" sz="110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1" lang="de" sz="110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="footer"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de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Footer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footer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de" sz="1100">
                <a:solidFill>
                  <a:srgbClr val="000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de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16" name="Google Shape;216;p33"/>
          <p:cNvCxnSpPr/>
          <p:nvPr/>
        </p:nvCxnSpPr>
        <p:spPr>
          <a:xfrm>
            <a:off x="5687600" y="646125"/>
            <a:ext cx="476100" cy="3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33"/>
          <p:cNvSpPr txBox="1"/>
          <p:nvPr/>
        </p:nvSpPr>
        <p:spPr>
          <a:xfrm>
            <a:off x="5129650" y="373125"/>
            <a:ext cx="89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/>
              <a:t>Multiline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de" sz="3800">
                <a:solidFill>
                  <a:schemeClr val="dk2"/>
                </a:solidFill>
              </a:rPr>
              <a:t>Flexbox - Summary</a:t>
            </a:r>
            <a:endParaRPr sz="3800"/>
          </a:p>
        </p:txBody>
      </p:sp>
      <p:sp>
        <p:nvSpPr>
          <p:cNvPr id="223" name="Google Shape;223;p34"/>
          <p:cNvSpPr txBox="1"/>
          <p:nvPr/>
        </p:nvSpPr>
        <p:spPr>
          <a:xfrm>
            <a:off x="488400" y="1296425"/>
            <a:ext cx="84201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Flex-Container</a:t>
            </a:r>
            <a:br>
              <a:rPr lang="de"/>
            </a:br>
            <a:r>
              <a:rPr b="1" lang="de">
                <a:solidFill>
                  <a:srgbClr val="CC0000"/>
                </a:solidFill>
              </a:rPr>
              <a:t>display</a:t>
            </a:r>
            <a:r>
              <a:rPr lang="de">
                <a:solidFill>
                  <a:srgbClr val="CC0000"/>
                </a:solidFill>
              </a:rPr>
              <a:t>:</a:t>
            </a:r>
            <a:r>
              <a:rPr lang="de"/>
              <a:t> </a:t>
            </a:r>
            <a:r>
              <a:rPr lang="de"/>
              <a:t>flex | inline-flex</a:t>
            </a:r>
            <a:br>
              <a:rPr lang="de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CC0000"/>
                </a:solidFill>
              </a:rPr>
              <a:t>flex-direction:</a:t>
            </a:r>
            <a:r>
              <a:rPr lang="de"/>
              <a:t> </a:t>
            </a:r>
            <a:r>
              <a:rPr lang="de"/>
              <a:t>row (</a:t>
            </a:r>
            <a:r>
              <a:rPr b="1" lang="de"/>
              <a:t>default</a:t>
            </a:r>
            <a:r>
              <a:rPr lang="de"/>
              <a:t>) | column | row-reverse | column-reverse</a:t>
            </a:r>
            <a:br>
              <a:rPr lang="de"/>
            </a:br>
            <a:r>
              <a:rPr b="1" lang="de">
                <a:solidFill>
                  <a:srgbClr val="CC0000"/>
                </a:solidFill>
              </a:rPr>
              <a:t>flex-wrap:</a:t>
            </a:r>
            <a:r>
              <a:rPr lang="de">
                <a:solidFill>
                  <a:srgbClr val="CC0000"/>
                </a:solidFill>
              </a:rPr>
              <a:t> </a:t>
            </a:r>
            <a:r>
              <a:rPr lang="de"/>
              <a:t>nowrap (</a:t>
            </a:r>
            <a:r>
              <a:rPr b="1" lang="de"/>
              <a:t>default</a:t>
            </a:r>
            <a:r>
              <a:rPr lang="de"/>
              <a:t>) | wrap | wrap-reverse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CC0000"/>
                </a:solidFill>
              </a:rPr>
              <a:t>flex-flow:</a:t>
            </a:r>
            <a:r>
              <a:rPr lang="de">
                <a:solidFill>
                  <a:schemeClr val="dk1"/>
                </a:solidFill>
              </a:rPr>
              <a:t> row nowrap (</a:t>
            </a:r>
            <a:r>
              <a:rPr b="1" lang="de">
                <a:solidFill>
                  <a:schemeClr val="dk1"/>
                </a:solidFill>
              </a:rPr>
              <a:t>default</a:t>
            </a:r>
            <a:r>
              <a:rPr lang="de">
                <a:solidFill>
                  <a:schemeClr val="dk1"/>
                </a:solidFill>
              </a:rPr>
              <a:t>); </a:t>
            </a:r>
            <a:r>
              <a:rPr b="1" lang="de">
                <a:solidFill>
                  <a:srgbClr val="6AA84F"/>
                </a:solidFill>
              </a:rPr>
              <a:t>/* Shorthand for flex-direction &amp; flex-wrap */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de"/>
            </a:br>
            <a:r>
              <a:rPr b="1" lang="de">
                <a:solidFill>
                  <a:srgbClr val="CC0000"/>
                </a:solidFill>
              </a:rPr>
              <a:t>justify-content:</a:t>
            </a:r>
            <a:r>
              <a:rPr b="1" lang="de"/>
              <a:t> </a:t>
            </a:r>
            <a:r>
              <a:rPr lang="de"/>
              <a:t>flex-start (</a:t>
            </a:r>
            <a:r>
              <a:rPr b="1" lang="de"/>
              <a:t>default</a:t>
            </a:r>
            <a:r>
              <a:rPr lang="de"/>
              <a:t>) | center | flex-end | space-around | space-between | space-evenly</a:t>
            </a:r>
            <a:br>
              <a:rPr lang="de"/>
            </a:br>
            <a:r>
              <a:rPr b="1" lang="de">
                <a:solidFill>
                  <a:srgbClr val="CC0000"/>
                </a:solidFill>
              </a:rPr>
              <a:t>align-items:</a:t>
            </a:r>
            <a:r>
              <a:rPr lang="de"/>
              <a:t> flex-start | center | flex-end </a:t>
            </a:r>
            <a:r>
              <a:rPr lang="de"/>
              <a:t>| stretch (</a:t>
            </a:r>
            <a:r>
              <a:rPr b="1" lang="de"/>
              <a:t>default</a:t>
            </a:r>
            <a:r>
              <a:rPr lang="de"/>
              <a:t>) </a:t>
            </a:r>
            <a:r>
              <a:rPr lang="de"/>
              <a:t>| baseline</a:t>
            </a:r>
            <a:br>
              <a:rPr lang="de"/>
            </a:br>
            <a:r>
              <a:rPr b="1" lang="de">
                <a:solidFill>
                  <a:srgbClr val="CC0000"/>
                </a:solidFill>
              </a:rPr>
              <a:t>align-content:</a:t>
            </a:r>
            <a:r>
              <a:rPr b="1" lang="de"/>
              <a:t> </a:t>
            </a:r>
            <a:r>
              <a:rPr lang="de"/>
              <a:t>flex-start (</a:t>
            </a:r>
            <a:r>
              <a:rPr b="1" lang="de"/>
              <a:t>default</a:t>
            </a:r>
            <a:r>
              <a:rPr lang="de"/>
              <a:t>) | center | flex-end | stretch</a:t>
            </a:r>
            <a:br>
              <a:rPr lang="de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Flex-Kinder</a:t>
            </a:r>
            <a:br>
              <a:rPr lang="de"/>
            </a:br>
            <a:r>
              <a:rPr b="1" lang="de">
                <a:solidFill>
                  <a:srgbClr val="CC0000"/>
                </a:solidFill>
              </a:rPr>
              <a:t>flex-grow:</a:t>
            </a:r>
            <a:r>
              <a:rPr b="1" lang="de"/>
              <a:t> </a:t>
            </a:r>
            <a:r>
              <a:rPr lang="de"/>
              <a:t>number</a:t>
            </a:r>
            <a:br>
              <a:rPr lang="de"/>
            </a:br>
            <a:r>
              <a:rPr b="1" lang="de">
                <a:solidFill>
                  <a:srgbClr val="CC0000"/>
                </a:solidFill>
              </a:rPr>
              <a:t>flex-shrink:</a:t>
            </a:r>
            <a:r>
              <a:rPr lang="de"/>
              <a:t> number</a:t>
            </a:r>
            <a:br>
              <a:rPr lang="de"/>
            </a:br>
            <a:r>
              <a:rPr b="1" lang="de">
                <a:solidFill>
                  <a:srgbClr val="CC0000"/>
                </a:solidFill>
              </a:rPr>
              <a:t>flex-basis:</a:t>
            </a:r>
            <a:r>
              <a:rPr lang="de"/>
              <a:t> auto | px | %</a:t>
            </a:r>
            <a:br>
              <a:rPr lang="de"/>
            </a:br>
            <a:r>
              <a:rPr b="1" lang="de">
                <a:solidFill>
                  <a:srgbClr val="CC0000"/>
                </a:solidFill>
              </a:rPr>
              <a:t>flex:</a:t>
            </a:r>
            <a:r>
              <a:rPr lang="de"/>
              <a:t> 0 1 auto (</a:t>
            </a:r>
            <a:r>
              <a:rPr b="1" lang="de"/>
              <a:t>default</a:t>
            </a:r>
            <a:r>
              <a:rPr lang="de"/>
              <a:t>) </a:t>
            </a:r>
            <a:r>
              <a:rPr b="1" lang="de">
                <a:solidFill>
                  <a:srgbClr val="6AA84F"/>
                </a:solidFill>
              </a:rPr>
              <a:t>/* Shorthand for flex-grow &amp; flex-shrink &amp; flex-basis */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