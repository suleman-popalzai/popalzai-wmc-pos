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307" r:id="rId5"/>
    <p:sldId id="300" r:id="rId6"/>
    <p:sldId id="323" r:id="rId7"/>
    <p:sldId id="319" r:id="rId8"/>
    <p:sldId id="308" r:id="rId9"/>
    <p:sldId id="309" r:id="rId10"/>
    <p:sldId id="310" r:id="rId11"/>
    <p:sldId id="311" r:id="rId12"/>
    <p:sldId id="312" r:id="rId13"/>
    <p:sldId id="313" r:id="rId14"/>
    <p:sldId id="314" r:id="rId15"/>
    <p:sldId id="301" r:id="rId16"/>
    <p:sldId id="302" r:id="rId17"/>
    <p:sldId id="321" r:id="rId18"/>
    <p:sldId id="322" r:id="rId19"/>
    <p:sldId id="297" r:id="rId20"/>
    <p:sldId id="298" r:id="rId21"/>
  </p:sldIdLst>
  <p:sldSz cx="9144000" cy="5143500" type="screen16x9"/>
  <p:notesSz cx="6858000" cy="9144000"/>
  <p:embeddedFontLst>
    <p:embeddedFont>
      <p:font typeface="Amasis MT Pro Light" panose="02040304050005020304" pitchFamily="18" charset="0"/>
      <p:regular r:id="rId23"/>
      <p:italic r:id="rId24"/>
    </p:embeddedFont>
    <p:embeddedFont>
      <p:font typeface="Livvic Light" pitchFamily="2" charset="0"/>
      <p:regular r:id="rId25"/>
      <p:italic r:id="rId26"/>
    </p:embeddedFont>
    <p:embeddedFont>
      <p:font typeface="Maven Pro" panose="020B0604020202020204" charset="0"/>
      <p:regular r:id="rId27"/>
      <p:bold r:id="rId28"/>
    </p:embeddedFont>
    <p:embeddedFont>
      <p:font typeface="Nunito Light" pitchFamily="2" charset="0"/>
      <p:regular r:id="rId29"/>
      <p:italic r:id="rId30"/>
    </p:embeddedFont>
    <p:embeddedFont>
      <p:font typeface="Proxima Nova" panose="020B0604020202020204" charset="0"/>
      <p:regular r:id="rId31"/>
      <p:bold r:id="rId32"/>
      <p:italic r:id="rId33"/>
      <p:boldItalic r:id="rId34"/>
    </p:embeddedFont>
    <p:embeddedFont>
      <p:font typeface="Proxima Nova Semibold" panose="020B0604020202020204" charset="0"/>
      <p:regular r:id="rId35"/>
      <p:bold r:id="rId36"/>
      <p:boldItalic r:id="rId37"/>
    </p:embeddedFont>
    <p:embeddedFont>
      <p:font typeface="Share Tech" panose="020B060402020202020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FCC"/>
    <a:srgbClr val="869FB1"/>
    <a:srgbClr val="CBD4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81B237-B720-4363-9903-D0F37AB810E4}">
  <a:tblStyle styleId="{0D81B237-B720-4363-9903-D0F37AB810E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05" autoAdjust="0"/>
    <p:restoredTop sz="89989" autoAdjust="0"/>
  </p:normalViewPr>
  <p:slideViewPr>
    <p:cSldViewPr snapToGrid="0">
      <p:cViewPr varScale="1">
        <p:scale>
          <a:sx n="91" d="100"/>
          <a:sy n="91" d="100"/>
        </p:scale>
        <p:origin x="831"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c52a2e8d8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c52a2e8d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c60e245bf_1_31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c60e245bf_1_31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060456" y="1158638"/>
            <a:ext cx="121198" cy="121434"/>
          </a:xfrm>
          <a:custGeom>
            <a:avLst/>
            <a:gdLst/>
            <a:ahLst/>
            <a:cxnLst/>
            <a:rect l="l" t="t" r="r" b="b"/>
            <a:pathLst>
              <a:path w="4625" h="4634" extrusionOk="0">
                <a:moveTo>
                  <a:pt x="1" y="0"/>
                </a:moveTo>
                <a:lnTo>
                  <a:pt x="1" y="4633"/>
                </a:lnTo>
                <a:lnTo>
                  <a:pt x="4625" y="4633"/>
                </a:lnTo>
                <a:lnTo>
                  <a:pt x="4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9740" y="916059"/>
            <a:ext cx="121434" cy="121434"/>
          </a:xfrm>
          <a:custGeom>
            <a:avLst/>
            <a:gdLst/>
            <a:ahLst/>
            <a:cxnLst/>
            <a:rect l="l" t="t" r="r" b="b"/>
            <a:pathLst>
              <a:path w="4634" h="4634" extrusionOk="0">
                <a:moveTo>
                  <a:pt x="0" y="1"/>
                </a:moveTo>
                <a:lnTo>
                  <a:pt x="0" y="4634"/>
                </a:lnTo>
                <a:lnTo>
                  <a:pt x="4633" y="463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57933" y="2452405"/>
            <a:ext cx="57599" cy="57599"/>
          </a:xfrm>
          <a:custGeom>
            <a:avLst/>
            <a:gdLst/>
            <a:ahLst/>
            <a:cxnLst/>
            <a:rect l="l" t="t" r="r" b="b"/>
            <a:pathLst>
              <a:path w="2198" h="2198" fill="none" extrusionOk="0">
                <a:moveTo>
                  <a:pt x="1" y="1"/>
                </a:moveTo>
                <a:lnTo>
                  <a:pt x="2198" y="1"/>
                </a:lnTo>
                <a:lnTo>
                  <a:pt x="2198" y="2198"/>
                </a:lnTo>
                <a:lnTo>
                  <a:pt x="1" y="2198"/>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10023" y="4821495"/>
            <a:ext cx="98059" cy="98295"/>
          </a:xfrm>
          <a:custGeom>
            <a:avLst/>
            <a:gdLst/>
            <a:ahLst/>
            <a:cxnLst/>
            <a:rect l="l" t="t" r="r" b="b"/>
            <a:pathLst>
              <a:path w="3742" h="3751" fill="none" extrusionOk="0">
                <a:moveTo>
                  <a:pt x="1" y="0"/>
                </a:moveTo>
                <a:lnTo>
                  <a:pt x="3742" y="0"/>
                </a:lnTo>
                <a:lnTo>
                  <a:pt x="3742" y="3750"/>
                </a:lnTo>
                <a:lnTo>
                  <a:pt x="1" y="3750"/>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5669" y="1557059"/>
            <a:ext cx="57834" cy="57599"/>
          </a:xfrm>
          <a:custGeom>
            <a:avLst/>
            <a:gdLst/>
            <a:ahLst/>
            <a:cxnLst/>
            <a:rect l="l" t="t" r="r" b="b"/>
            <a:pathLst>
              <a:path w="2207" h="2198" fill="none" extrusionOk="0">
                <a:moveTo>
                  <a:pt x="0" y="0"/>
                </a:moveTo>
                <a:lnTo>
                  <a:pt x="2207" y="0"/>
                </a:lnTo>
                <a:lnTo>
                  <a:pt x="2207" y="2197"/>
                </a:lnTo>
                <a:lnTo>
                  <a:pt x="0" y="2197"/>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263673" y="2953681"/>
            <a:ext cx="104086" cy="104322"/>
          </a:xfrm>
          <a:custGeom>
            <a:avLst/>
            <a:gdLst/>
            <a:ahLst/>
            <a:cxnLst/>
            <a:rect l="l" t="t" r="r" b="b"/>
            <a:pathLst>
              <a:path w="3972" h="3981" extrusionOk="0">
                <a:moveTo>
                  <a:pt x="0" y="1"/>
                </a:moveTo>
                <a:lnTo>
                  <a:pt x="0" y="3981"/>
                </a:lnTo>
                <a:lnTo>
                  <a:pt x="3972" y="3981"/>
                </a:lnTo>
                <a:lnTo>
                  <a:pt x="39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avLst/>
              <a:gdLst/>
              <a:ahLst/>
              <a:cxnLst/>
              <a:rect l="l" t="t" r="r" b="b"/>
              <a:pathLst>
                <a:path w="7208" h="7198" fill="none" extrusionOk="0">
                  <a:moveTo>
                    <a:pt x="1" y="0"/>
                  </a:moveTo>
                  <a:lnTo>
                    <a:pt x="7208" y="0"/>
                  </a:lnTo>
                  <a:lnTo>
                    <a:pt x="7208" y="7198"/>
                  </a:lnTo>
                  <a:lnTo>
                    <a:pt x="1" y="7198"/>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05393" y="1452501"/>
              <a:ext cx="133226" cy="133252"/>
            </a:xfrm>
            <a:custGeom>
              <a:avLst/>
              <a:gdLst/>
              <a:ahLst/>
              <a:cxnLst/>
              <a:rect l="l" t="t" r="r" b="b"/>
              <a:pathLst>
                <a:path w="5084" h="5085" fill="none" extrusionOk="0">
                  <a:moveTo>
                    <a:pt x="0" y="1"/>
                  </a:moveTo>
                  <a:lnTo>
                    <a:pt x="5083" y="1"/>
                  </a:lnTo>
                  <a:lnTo>
                    <a:pt x="5083" y="5084"/>
                  </a:lnTo>
                  <a:lnTo>
                    <a:pt x="0"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31651" y="975334"/>
              <a:ext cx="80476" cy="80711"/>
            </a:xfrm>
            <a:custGeom>
              <a:avLst/>
              <a:gdLst/>
              <a:ahLst/>
              <a:cxnLst/>
              <a:rect l="l" t="t" r="r" b="b"/>
              <a:pathLst>
                <a:path w="3071" h="3080" fill="none" extrusionOk="0">
                  <a:moveTo>
                    <a:pt x="0" y="0"/>
                  </a:moveTo>
                  <a:lnTo>
                    <a:pt x="3070" y="0"/>
                  </a:lnTo>
                  <a:lnTo>
                    <a:pt x="3070" y="3080"/>
                  </a:lnTo>
                  <a:lnTo>
                    <a:pt x="0" y="3080"/>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p:nvPr/>
        </p:nvSpPr>
        <p:spPr>
          <a:xfrm>
            <a:off x="8485996" y="1614632"/>
            <a:ext cx="80502" cy="80476"/>
          </a:xfrm>
          <a:custGeom>
            <a:avLst/>
            <a:gdLst/>
            <a:ahLst/>
            <a:cxnLst/>
            <a:rect l="l" t="t" r="r" b="b"/>
            <a:pathLst>
              <a:path w="3072" h="3071" extrusionOk="0">
                <a:moveTo>
                  <a:pt x="1" y="0"/>
                </a:moveTo>
                <a:lnTo>
                  <a:pt x="1" y="3070"/>
                </a:lnTo>
                <a:lnTo>
                  <a:pt x="3071" y="3070"/>
                </a:lnTo>
                <a:lnTo>
                  <a:pt x="30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avLst/>
              <a:gdLst/>
              <a:ahLst/>
              <a:cxnLst/>
              <a:rect l="l" t="t" r="r" b="b"/>
              <a:pathLst>
                <a:path w="3742" h="3752" fill="none" extrusionOk="0">
                  <a:moveTo>
                    <a:pt x="0" y="1"/>
                  </a:moveTo>
                  <a:lnTo>
                    <a:pt x="3741" y="1"/>
                  </a:lnTo>
                  <a:lnTo>
                    <a:pt x="3741" y="3751"/>
                  </a:lnTo>
                  <a:lnTo>
                    <a:pt x="0" y="3751"/>
                  </a:lnTo>
                  <a:close/>
                </a:path>
              </a:pathLst>
            </a:custGeom>
            <a:noFill/>
            <a:ln w="29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92705" y="16006"/>
              <a:ext cx="8464" cy="894665"/>
            </a:xfrm>
            <a:custGeom>
              <a:avLst/>
              <a:gdLst/>
              <a:ahLst/>
              <a:cxnLst/>
              <a:rect l="l" t="t" r="r" b="b"/>
              <a:pathLst>
                <a:path w="323" h="34141" extrusionOk="0">
                  <a:moveTo>
                    <a:pt x="157" y="1"/>
                  </a:moveTo>
                  <a:lnTo>
                    <a:pt x="1" y="34141"/>
                  </a:lnTo>
                  <a:lnTo>
                    <a:pt x="323" y="34141"/>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avLst/>
              <a:gdLst/>
              <a:ahLst/>
              <a:cxnLst/>
              <a:rect l="l" t="t" r="r" b="b"/>
              <a:pathLst>
                <a:path w="4624" h="4625" extrusionOk="0">
                  <a:moveTo>
                    <a:pt x="0" y="1"/>
                  </a:moveTo>
                  <a:lnTo>
                    <a:pt x="0" y="4624"/>
                  </a:lnTo>
                  <a:lnTo>
                    <a:pt x="4624" y="4624"/>
                  </a:lnTo>
                  <a:lnTo>
                    <a:pt x="4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309007" y="3136513"/>
              <a:ext cx="8464" cy="554288"/>
            </a:xfrm>
            <a:custGeom>
              <a:avLst/>
              <a:gdLst/>
              <a:ahLst/>
              <a:cxnLst/>
              <a:rect l="l" t="t" r="r" b="b"/>
              <a:pathLst>
                <a:path w="323" h="21152" extrusionOk="0">
                  <a:moveTo>
                    <a:pt x="166" y="1"/>
                  </a:moveTo>
                  <a:lnTo>
                    <a:pt x="0" y="21152"/>
                  </a:lnTo>
                  <a:lnTo>
                    <a:pt x="322" y="21152"/>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avLst/>
              <a:gdLst/>
              <a:ahLst/>
              <a:cxnLst/>
              <a:rect l="l" t="t" r="r" b="b"/>
              <a:pathLst>
                <a:path w="7199" h="7208" fill="none" extrusionOk="0">
                  <a:moveTo>
                    <a:pt x="0" y="1"/>
                  </a:moveTo>
                  <a:lnTo>
                    <a:pt x="7198" y="1"/>
                  </a:lnTo>
                  <a:lnTo>
                    <a:pt x="7198" y="7207"/>
                  </a:lnTo>
                  <a:lnTo>
                    <a:pt x="0" y="7207"/>
                  </a:lnTo>
                  <a:close/>
                </a:path>
              </a:pathLst>
            </a:custGeom>
            <a:noFill/>
            <a:ln w="5750"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78316" y="4166291"/>
              <a:ext cx="133226" cy="133226"/>
            </a:xfrm>
            <a:custGeom>
              <a:avLst/>
              <a:gdLst/>
              <a:ahLst/>
              <a:cxnLst/>
              <a:rect l="l" t="t" r="r" b="b"/>
              <a:pathLst>
                <a:path w="5084" h="5084" fill="none" extrusionOk="0">
                  <a:moveTo>
                    <a:pt x="1" y="0"/>
                  </a:moveTo>
                  <a:lnTo>
                    <a:pt x="5084" y="0"/>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04573" y="3689098"/>
              <a:ext cx="80476" cy="80476"/>
            </a:xfrm>
            <a:custGeom>
              <a:avLst/>
              <a:gdLst/>
              <a:ahLst/>
              <a:cxnLst/>
              <a:rect l="l" t="t" r="r" b="b"/>
              <a:pathLst>
                <a:path w="3071" h="3071" fill="none" extrusionOk="0">
                  <a:moveTo>
                    <a:pt x="1" y="0"/>
                  </a:moveTo>
                  <a:lnTo>
                    <a:pt x="3071" y="0"/>
                  </a:lnTo>
                  <a:lnTo>
                    <a:pt x="3071" y="3071"/>
                  </a:lnTo>
                  <a:lnTo>
                    <a:pt x="1" y="3071"/>
                  </a:lnTo>
                  <a:close/>
                </a:path>
              </a:pathLst>
            </a:custGeom>
            <a:noFill/>
            <a:ln w="25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40710" y="2402301"/>
              <a:ext cx="8464" cy="1011487"/>
            </a:xfrm>
            <a:custGeom>
              <a:avLst/>
              <a:gdLst/>
              <a:ahLst/>
              <a:cxnLst/>
              <a:rect l="l" t="t" r="r" b="b"/>
              <a:pathLst>
                <a:path w="323" h="38599" extrusionOk="0">
                  <a:moveTo>
                    <a:pt x="157" y="1"/>
                  </a:moveTo>
                  <a:lnTo>
                    <a:pt x="0" y="38599"/>
                  </a:lnTo>
                  <a:lnTo>
                    <a:pt x="322" y="38599"/>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935726" y="10"/>
            <a:ext cx="8464" cy="2519637"/>
          </a:xfrm>
          <a:custGeom>
            <a:avLst/>
            <a:gdLst/>
            <a:ahLst/>
            <a:cxnLst/>
            <a:rect l="l" t="t" r="r" b="b"/>
            <a:pathLst>
              <a:path w="323" h="96151" extrusionOk="0">
                <a:moveTo>
                  <a:pt x="166" y="0"/>
                </a:moveTo>
                <a:lnTo>
                  <a:pt x="1" y="96150"/>
                </a:lnTo>
                <a:lnTo>
                  <a:pt x="323" y="96150"/>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6863" y="21446"/>
            <a:ext cx="8464" cy="1689069"/>
          </a:xfrm>
          <a:custGeom>
            <a:avLst/>
            <a:gdLst/>
            <a:ahLst/>
            <a:cxnLst/>
            <a:rect l="l" t="t" r="r" b="b"/>
            <a:pathLst>
              <a:path w="323" h="64456" extrusionOk="0">
                <a:moveTo>
                  <a:pt x="166" y="0"/>
                </a:moveTo>
                <a:lnTo>
                  <a:pt x="1" y="64456"/>
                </a:lnTo>
                <a:lnTo>
                  <a:pt x="322" y="64456"/>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avLst/>
              <a:gdLst/>
              <a:ahLst/>
              <a:cxnLst/>
              <a:rect l="l" t="t" r="r" b="b"/>
              <a:pathLst>
                <a:path w="2198" h="2207" fill="none" extrusionOk="0">
                  <a:moveTo>
                    <a:pt x="1" y="0"/>
                  </a:moveTo>
                  <a:lnTo>
                    <a:pt x="2197" y="0"/>
                  </a:lnTo>
                  <a:lnTo>
                    <a:pt x="2197" y="2206"/>
                  </a:lnTo>
                  <a:lnTo>
                    <a:pt x="1" y="2206"/>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3269" y="173907"/>
              <a:ext cx="8438" cy="692074"/>
            </a:xfrm>
            <a:custGeom>
              <a:avLst/>
              <a:gdLst/>
              <a:ahLst/>
              <a:cxnLst/>
              <a:rect l="l" t="t" r="r" b="b"/>
              <a:pathLst>
                <a:path w="322" h="26410" extrusionOk="0">
                  <a:moveTo>
                    <a:pt x="166" y="1"/>
                  </a:moveTo>
                  <a:lnTo>
                    <a:pt x="0" y="26410"/>
                  </a:lnTo>
                  <a:lnTo>
                    <a:pt x="322" y="26410"/>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6"/>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95" name="Google Shape;95;p6"/>
          <p:cNvSpPr/>
          <p:nvPr/>
        </p:nvSpPr>
        <p:spPr>
          <a:xfrm>
            <a:off x="7573050" y="27737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8985850" y="411675"/>
            <a:ext cx="108650" cy="108650"/>
          </a:xfrm>
          <a:custGeom>
            <a:avLst/>
            <a:gdLst/>
            <a:ahLst/>
            <a:cxnLst/>
            <a:rect l="l" t="t" r="r" b="b"/>
            <a:pathLst>
              <a:path w="4346" h="4346" extrusionOk="0">
                <a:moveTo>
                  <a:pt x="4008" y="356"/>
                </a:moveTo>
                <a:lnTo>
                  <a:pt x="4008" y="4027"/>
                </a:lnTo>
                <a:lnTo>
                  <a:pt x="338" y="4027"/>
                </a:lnTo>
                <a:lnTo>
                  <a:pt x="338" y="356"/>
                </a:lnTo>
                <a:close/>
                <a:moveTo>
                  <a:pt x="1" y="1"/>
                </a:moveTo>
                <a:lnTo>
                  <a:pt x="1" y="4345"/>
                </a:lnTo>
                <a:lnTo>
                  <a:pt x="4346" y="4345"/>
                </a:lnTo>
                <a:lnTo>
                  <a:pt x="43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8359450" y="555875"/>
            <a:ext cx="52475" cy="52450"/>
          </a:xfrm>
          <a:custGeom>
            <a:avLst/>
            <a:gdLst/>
            <a:ahLst/>
            <a:cxnLst/>
            <a:rect l="l" t="t" r="r" b="b"/>
            <a:pathLst>
              <a:path w="2099" h="2098" extrusionOk="0">
                <a:moveTo>
                  <a:pt x="1761" y="319"/>
                </a:moveTo>
                <a:lnTo>
                  <a:pt x="1761" y="1761"/>
                </a:lnTo>
                <a:lnTo>
                  <a:pt x="319" y="1761"/>
                </a:lnTo>
                <a:lnTo>
                  <a:pt x="319" y="319"/>
                </a:lnTo>
                <a:close/>
                <a:moveTo>
                  <a:pt x="1" y="0"/>
                </a:moveTo>
                <a:lnTo>
                  <a:pt x="1" y="2098"/>
                </a:lnTo>
                <a:lnTo>
                  <a:pt x="2098" y="2098"/>
                </a:lnTo>
                <a:lnTo>
                  <a:pt x="20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9122100" y="734250"/>
            <a:ext cx="164350" cy="164350"/>
          </a:xfrm>
          <a:custGeom>
            <a:avLst/>
            <a:gdLst/>
            <a:ahLst/>
            <a:cxnLst/>
            <a:rect l="l" t="t" r="r" b="b"/>
            <a:pathLst>
              <a:path w="6574" h="6574" extrusionOk="0">
                <a:moveTo>
                  <a:pt x="6218" y="337"/>
                </a:moveTo>
                <a:lnTo>
                  <a:pt x="6218" y="6236"/>
                </a:lnTo>
                <a:lnTo>
                  <a:pt x="319" y="6236"/>
                </a:lnTo>
                <a:lnTo>
                  <a:pt x="319" y="337"/>
                </a:lnTo>
                <a:close/>
                <a:moveTo>
                  <a:pt x="0" y="0"/>
                </a:moveTo>
                <a:lnTo>
                  <a:pt x="0" y="6573"/>
                </a:lnTo>
                <a:lnTo>
                  <a:pt x="6555" y="6573"/>
                </a:lnTo>
                <a:lnTo>
                  <a:pt x="65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8798600" y="108865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99342" y="-150600"/>
            <a:ext cx="96045" cy="95462"/>
          </a:xfrm>
          <a:custGeom>
            <a:avLst/>
            <a:gdLst/>
            <a:ahLst/>
            <a:cxnLst/>
            <a:rect l="l" t="t" r="r" b="b"/>
            <a:pathLst>
              <a:path w="3128" h="3109" extrusionOk="0">
                <a:moveTo>
                  <a:pt x="2678" y="431"/>
                </a:moveTo>
                <a:lnTo>
                  <a:pt x="2678" y="2659"/>
                </a:lnTo>
                <a:lnTo>
                  <a:pt x="450" y="2659"/>
                </a:lnTo>
                <a:lnTo>
                  <a:pt x="450" y="431"/>
                </a:lnTo>
                <a:close/>
                <a:moveTo>
                  <a:pt x="0" y="0"/>
                </a:moveTo>
                <a:lnTo>
                  <a:pt x="0" y="3109"/>
                </a:lnTo>
                <a:lnTo>
                  <a:pt x="3128" y="3109"/>
                </a:lnTo>
                <a:lnTo>
                  <a:pt x="31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702523" y="444536"/>
            <a:ext cx="95493" cy="95462"/>
          </a:xfrm>
          <a:custGeom>
            <a:avLst/>
            <a:gdLst/>
            <a:ahLst/>
            <a:cxnLst/>
            <a:rect l="l" t="t" r="r" b="b"/>
            <a:pathLst>
              <a:path w="3110" h="3109" extrusionOk="0">
                <a:moveTo>
                  <a:pt x="2678" y="450"/>
                </a:moveTo>
                <a:lnTo>
                  <a:pt x="2678" y="2678"/>
                </a:lnTo>
                <a:lnTo>
                  <a:pt x="450" y="2678"/>
                </a:lnTo>
                <a:lnTo>
                  <a:pt x="450" y="450"/>
                </a:lnTo>
                <a:close/>
                <a:moveTo>
                  <a:pt x="1" y="0"/>
                </a:moveTo>
                <a:lnTo>
                  <a:pt x="1" y="3109"/>
                </a:lnTo>
                <a:lnTo>
                  <a:pt x="3109" y="3109"/>
                </a:lnTo>
                <a:lnTo>
                  <a:pt x="31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5904975" y="143222"/>
            <a:ext cx="82259" cy="82259"/>
          </a:xfrm>
          <a:custGeom>
            <a:avLst/>
            <a:gdLst/>
            <a:ahLst/>
            <a:cxnLst/>
            <a:rect l="l" t="t" r="r" b="b"/>
            <a:pathLst>
              <a:path w="2679" h="2679" extrusionOk="0">
                <a:moveTo>
                  <a:pt x="1" y="1"/>
                </a:moveTo>
                <a:lnTo>
                  <a:pt x="1" y="2679"/>
                </a:lnTo>
                <a:lnTo>
                  <a:pt x="2679" y="2679"/>
                </a:lnTo>
                <a:lnTo>
                  <a:pt x="26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303600" y="4401725"/>
            <a:ext cx="167150" cy="167150"/>
          </a:xfrm>
          <a:custGeom>
            <a:avLst/>
            <a:gdLst/>
            <a:ahLst/>
            <a:cxnLst/>
            <a:rect l="l" t="t" r="r" b="b"/>
            <a:pathLst>
              <a:path w="6686" h="6686" extrusionOk="0">
                <a:moveTo>
                  <a:pt x="6236" y="450"/>
                </a:moveTo>
                <a:lnTo>
                  <a:pt x="6236" y="6236"/>
                </a:lnTo>
                <a:lnTo>
                  <a:pt x="450" y="6236"/>
                </a:lnTo>
                <a:lnTo>
                  <a:pt x="450" y="450"/>
                </a:lnTo>
                <a:close/>
                <a:moveTo>
                  <a:pt x="0" y="0"/>
                </a:moveTo>
                <a:lnTo>
                  <a:pt x="0" y="6686"/>
                </a:lnTo>
                <a:lnTo>
                  <a:pt x="6686" y="6686"/>
                </a:lnTo>
                <a:lnTo>
                  <a:pt x="6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564075" y="4753900"/>
            <a:ext cx="155925" cy="156375"/>
          </a:xfrm>
          <a:custGeom>
            <a:avLst/>
            <a:gdLst/>
            <a:ahLst/>
            <a:cxnLst/>
            <a:rect l="l" t="t" r="r" b="b"/>
            <a:pathLst>
              <a:path w="6237" h="6255" extrusionOk="0">
                <a:moveTo>
                  <a:pt x="0" y="0"/>
                </a:moveTo>
                <a:lnTo>
                  <a:pt x="0" y="6255"/>
                </a:lnTo>
                <a:lnTo>
                  <a:pt x="6236" y="6255"/>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71" name="Google Shape;17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2" name="Google Shape;17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list">
  <p:cSld name="CUSTOM_4">
    <p:spTree>
      <p:nvGrpSpPr>
        <p:cNvPr id="1" name="Shape 410"/>
        <p:cNvGrpSpPr/>
        <p:nvPr/>
      </p:nvGrpSpPr>
      <p:grpSpPr>
        <a:xfrm>
          <a:off x="0" y="0"/>
          <a:ext cx="0" cy="0"/>
          <a:chOff x="0" y="0"/>
          <a:chExt cx="0" cy="0"/>
        </a:xfrm>
      </p:grpSpPr>
      <p:sp>
        <p:nvSpPr>
          <p:cNvPr id="411" name="Google Shape;411;p20"/>
          <p:cNvSpPr txBox="1">
            <a:spLocks noGrp="1"/>
          </p:cNvSpPr>
          <p:nvPr>
            <p:ph type="body" idx="1"/>
          </p:nvPr>
        </p:nvSpPr>
        <p:spPr>
          <a:xfrm>
            <a:off x="59737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SzPts val="1000"/>
              <a:buFont typeface="Livvic Light"/>
              <a:buChar char="●"/>
              <a:defRPr sz="1200"/>
            </a:lvl1pPr>
            <a:lvl2pPr marL="914400" lvl="1" indent="-292100" rtl="0">
              <a:spcBef>
                <a:spcPts val="1600"/>
              </a:spcBef>
              <a:spcAft>
                <a:spcPts val="0"/>
              </a:spcAft>
              <a:buSzPts val="1000"/>
              <a:buFont typeface="Nunito Light"/>
              <a:buChar char="○"/>
              <a:defRPr/>
            </a:lvl2pPr>
            <a:lvl3pPr marL="1371600" lvl="2" indent="-292100" rtl="0">
              <a:spcBef>
                <a:spcPts val="1600"/>
              </a:spcBef>
              <a:spcAft>
                <a:spcPts val="0"/>
              </a:spcAft>
              <a:buSzPts val="1000"/>
              <a:buFont typeface="Nunito Light"/>
              <a:buChar char="■"/>
              <a:defRPr/>
            </a:lvl3pPr>
            <a:lvl4pPr marL="1828800" lvl="3" indent="-292100" rtl="0">
              <a:spcBef>
                <a:spcPts val="1600"/>
              </a:spcBef>
              <a:spcAft>
                <a:spcPts val="0"/>
              </a:spcAft>
              <a:buSzPts val="1000"/>
              <a:buFont typeface="Nunito Light"/>
              <a:buChar char="●"/>
              <a:defRPr/>
            </a:lvl4pPr>
            <a:lvl5pPr marL="2286000" lvl="4" indent="-292100" rtl="0">
              <a:spcBef>
                <a:spcPts val="1600"/>
              </a:spcBef>
              <a:spcAft>
                <a:spcPts val="0"/>
              </a:spcAft>
              <a:buSzPts val="1000"/>
              <a:buFont typeface="Nunito Light"/>
              <a:buChar char="○"/>
              <a:defRPr/>
            </a:lvl5pPr>
            <a:lvl6pPr marL="2743200" lvl="5" indent="-292100" rtl="0">
              <a:spcBef>
                <a:spcPts val="1600"/>
              </a:spcBef>
              <a:spcAft>
                <a:spcPts val="0"/>
              </a:spcAft>
              <a:buSzPts val="1000"/>
              <a:buFont typeface="Nunito Light"/>
              <a:buChar char="■"/>
              <a:defRPr/>
            </a:lvl6pPr>
            <a:lvl7pPr marL="3200400" lvl="6" indent="-292100" rtl="0">
              <a:spcBef>
                <a:spcPts val="1600"/>
              </a:spcBef>
              <a:spcAft>
                <a:spcPts val="0"/>
              </a:spcAft>
              <a:buSzPts val="1000"/>
              <a:buFont typeface="Nunito Light"/>
              <a:buChar char="●"/>
              <a:defRPr/>
            </a:lvl7pPr>
            <a:lvl8pPr marL="3657600" lvl="7" indent="-292100" rtl="0">
              <a:spcBef>
                <a:spcPts val="1600"/>
              </a:spcBef>
              <a:spcAft>
                <a:spcPts val="0"/>
              </a:spcAft>
              <a:buSzPts val="1000"/>
              <a:buFont typeface="Nunito Light"/>
              <a:buChar char="○"/>
              <a:defRPr/>
            </a:lvl8pPr>
            <a:lvl9pPr marL="4114800" lvl="8" indent="-292100" rtl="0">
              <a:spcBef>
                <a:spcPts val="1600"/>
              </a:spcBef>
              <a:spcAft>
                <a:spcPts val="1600"/>
              </a:spcAft>
              <a:buSzPts val="1000"/>
              <a:buFont typeface="Nunito Light"/>
              <a:buChar char="■"/>
              <a:defRPr/>
            </a:lvl9pPr>
          </a:lstStyle>
          <a:p>
            <a:endParaRPr/>
          </a:p>
        </p:txBody>
      </p:sp>
      <p:sp>
        <p:nvSpPr>
          <p:cNvPr id="412" name="Google Shape;412;p20"/>
          <p:cNvSpPr txBox="1">
            <a:spLocks noGrp="1"/>
          </p:cNvSpPr>
          <p:nvPr>
            <p:ph type="ctrTitle"/>
          </p:nvPr>
        </p:nvSpPr>
        <p:spPr>
          <a:xfrm>
            <a:off x="618825" y="411675"/>
            <a:ext cx="4727700" cy="577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3600"/>
              <a:buNone/>
              <a:defRPr sz="3000"/>
            </a:lvl1pPr>
            <a:lvl2pPr lvl="1" algn="ctr" rtl="0">
              <a:spcBef>
                <a:spcPts val="0"/>
              </a:spcBef>
              <a:spcAft>
                <a:spcPts val="0"/>
              </a:spcAft>
              <a:buClr>
                <a:srgbClr val="D9D9D9"/>
              </a:buClr>
              <a:buSzPts val="1800"/>
              <a:buNone/>
              <a:defRPr sz="1800">
                <a:solidFill>
                  <a:srgbClr val="D9D9D9"/>
                </a:solidFill>
              </a:defRPr>
            </a:lvl2pPr>
            <a:lvl3pPr lvl="2" algn="ctr" rtl="0">
              <a:spcBef>
                <a:spcPts val="0"/>
              </a:spcBef>
              <a:spcAft>
                <a:spcPts val="0"/>
              </a:spcAft>
              <a:buClr>
                <a:srgbClr val="D9D9D9"/>
              </a:buClr>
              <a:buSzPts val="1800"/>
              <a:buNone/>
              <a:defRPr sz="1800">
                <a:solidFill>
                  <a:srgbClr val="D9D9D9"/>
                </a:solidFill>
              </a:defRPr>
            </a:lvl3pPr>
            <a:lvl4pPr lvl="3" algn="ctr" rtl="0">
              <a:spcBef>
                <a:spcPts val="0"/>
              </a:spcBef>
              <a:spcAft>
                <a:spcPts val="0"/>
              </a:spcAft>
              <a:buClr>
                <a:srgbClr val="D9D9D9"/>
              </a:buClr>
              <a:buSzPts val="1800"/>
              <a:buNone/>
              <a:defRPr sz="1800">
                <a:solidFill>
                  <a:srgbClr val="D9D9D9"/>
                </a:solidFill>
              </a:defRPr>
            </a:lvl4pPr>
            <a:lvl5pPr lvl="4" algn="ctr" rtl="0">
              <a:spcBef>
                <a:spcPts val="0"/>
              </a:spcBef>
              <a:spcAft>
                <a:spcPts val="0"/>
              </a:spcAft>
              <a:buClr>
                <a:srgbClr val="D9D9D9"/>
              </a:buClr>
              <a:buSzPts val="1800"/>
              <a:buNone/>
              <a:defRPr sz="1800">
                <a:solidFill>
                  <a:srgbClr val="D9D9D9"/>
                </a:solidFill>
              </a:defRPr>
            </a:lvl5pPr>
            <a:lvl6pPr lvl="5" algn="ctr" rtl="0">
              <a:spcBef>
                <a:spcPts val="0"/>
              </a:spcBef>
              <a:spcAft>
                <a:spcPts val="0"/>
              </a:spcAft>
              <a:buClr>
                <a:srgbClr val="D9D9D9"/>
              </a:buClr>
              <a:buSzPts val="1800"/>
              <a:buNone/>
              <a:defRPr sz="1800">
                <a:solidFill>
                  <a:srgbClr val="D9D9D9"/>
                </a:solidFill>
              </a:defRPr>
            </a:lvl6pPr>
            <a:lvl7pPr lvl="6" algn="ctr" rtl="0">
              <a:spcBef>
                <a:spcPts val="0"/>
              </a:spcBef>
              <a:spcAft>
                <a:spcPts val="0"/>
              </a:spcAft>
              <a:buClr>
                <a:srgbClr val="D9D9D9"/>
              </a:buClr>
              <a:buSzPts val="1800"/>
              <a:buNone/>
              <a:defRPr sz="1800">
                <a:solidFill>
                  <a:srgbClr val="D9D9D9"/>
                </a:solidFill>
              </a:defRPr>
            </a:lvl7pPr>
            <a:lvl8pPr lvl="7" algn="ctr" rtl="0">
              <a:spcBef>
                <a:spcPts val="0"/>
              </a:spcBef>
              <a:spcAft>
                <a:spcPts val="0"/>
              </a:spcAft>
              <a:buClr>
                <a:srgbClr val="D9D9D9"/>
              </a:buClr>
              <a:buSzPts val="1800"/>
              <a:buNone/>
              <a:defRPr sz="1800">
                <a:solidFill>
                  <a:srgbClr val="D9D9D9"/>
                </a:solidFill>
              </a:defRPr>
            </a:lvl8pPr>
            <a:lvl9pPr lvl="8" algn="ctr" rtl="0">
              <a:spcBef>
                <a:spcPts val="0"/>
              </a:spcBef>
              <a:spcAft>
                <a:spcPts val="0"/>
              </a:spcAft>
              <a:buClr>
                <a:srgbClr val="D9D9D9"/>
              </a:buClr>
              <a:buSzPts val="1800"/>
              <a:buNone/>
              <a:defRPr sz="1800">
                <a:solidFill>
                  <a:srgbClr val="D9D9D9"/>
                </a:solidFill>
              </a:defRPr>
            </a:lvl9pPr>
          </a:lstStyle>
          <a:p>
            <a:endParaRPr/>
          </a:p>
        </p:txBody>
      </p:sp>
      <p:sp>
        <p:nvSpPr>
          <p:cNvPr id="413" name="Google Shape;413;p20"/>
          <p:cNvSpPr txBox="1">
            <a:spLocks noGrp="1"/>
          </p:cNvSpPr>
          <p:nvPr>
            <p:ph type="body" idx="2"/>
          </p:nvPr>
        </p:nvSpPr>
        <p:spPr>
          <a:xfrm>
            <a:off x="4690125" y="1063525"/>
            <a:ext cx="3908700" cy="37869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rgbClr val="EC5D37"/>
              </a:buClr>
              <a:buSzPts val="1000"/>
              <a:buFont typeface="Livvic Light"/>
              <a:buChar char="●"/>
              <a:defRPr sz="1200"/>
            </a:lvl1pPr>
            <a:lvl2pPr marL="914400" lvl="1" indent="-292100" rtl="0">
              <a:spcBef>
                <a:spcPts val="1600"/>
              </a:spcBef>
              <a:spcAft>
                <a:spcPts val="0"/>
              </a:spcAft>
              <a:buClr>
                <a:srgbClr val="FFC800"/>
              </a:buClr>
              <a:buSzPts val="1000"/>
              <a:buFont typeface="Nunito Light"/>
              <a:buChar char="○"/>
              <a:defRPr/>
            </a:lvl2pPr>
            <a:lvl3pPr marL="1371600" lvl="2" indent="-292100" rtl="0">
              <a:spcBef>
                <a:spcPts val="1600"/>
              </a:spcBef>
              <a:spcAft>
                <a:spcPts val="0"/>
              </a:spcAft>
              <a:buClr>
                <a:srgbClr val="FFC800"/>
              </a:buClr>
              <a:buSzPts val="1000"/>
              <a:buFont typeface="Nunito Light"/>
              <a:buChar char="■"/>
              <a:defRPr/>
            </a:lvl3pPr>
            <a:lvl4pPr marL="1828800" lvl="3" indent="-292100" rtl="0">
              <a:spcBef>
                <a:spcPts val="1600"/>
              </a:spcBef>
              <a:spcAft>
                <a:spcPts val="0"/>
              </a:spcAft>
              <a:buClr>
                <a:srgbClr val="FFC800"/>
              </a:buClr>
              <a:buSzPts val="1000"/>
              <a:buFont typeface="Nunito Light"/>
              <a:buChar char="●"/>
              <a:defRPr/>
            </a:lvl4pPr>
            <a:lvl5pPr marL="2286000" lvl="4" indent="-292100" rtl="0">
              <a:spcBef>
                <a:spcPts val="1600"/>
              </a:spcBef>
              <a:spcAft>
                <a:spcPts val="0"/>
              </a:spcAft>
              <a:buClr>
                <a:srgbClr val="434343"/>
              </a:buClr>
              <a:buSzPts val="1000"/>
              <a:buFont typeface="Nunito Light"/>
              <a:buChar char="○"/>
              <a:defRPr/>
            </a:lvl5pPr>
            <a:lvl6pPr marL="2743200" lvl="5" indent="-292100" rtl="0">
              <a:spcBef>
                <a:spcPts val="1600"/>
              </a:spcBef>
              <a:spcAft>
                <a:spcPts val="0"/>
              </a:spcAft>
              <a:buClr>
                <a:srgbClr val="434343"/>
              </a:buClr>
              <a:buSzPts val="1000"/>
              <a:buFont typeface="Nunito Light"/>
              <a:buChar char="■"/>
              <a:defRPr/>
            </a:lvl6pPr>
            <a:lvl7pPr marL="3200400" lvl="6" indent="-292100" rtl="0">
              <a:spcBef>
                <a:spcPts val="1600"/>
              </a:spcBef>
              <a:spcAft>
                <a:spcPts val="0"/>
              </a:spcAft>
              <a:buClr>
                <a:srgbClr val="434343"/>
              </a:buClr>
              <a:buSzPts val="1000"/>
              <a:buFont typeface="Nunito Light"/>
              <a:buChar char="●"/>
              <a:defRPr/>
            </a:lvl7pPr>
            <a:lvl8pPr marL="3657600" lvl="7" indent="-292100" rtl="0">
              <a:spcBef>
                <a:spcPts val="1600"/>
              </a:spcBef>
              <a:spcAft>
                <a:spcPts val="0"/>
              </a:spcAft>
              <a:buClr>
                <a:srgbClr val="434343"/>
              </a:buClr>
              <a:buSzPts val="1000"/>
              <a:buFont typeface="Nunito Light"/>
              <a:buChar char="○"/>
              <a:defRPr/>
            </a:lvl8pPr>
            <a:lvl9pPr marL="4114800" lvl="8" indent="-292100" rtl="0">
              <a:spcBef>
                <a:spcPts val="1600"/>
              </a:spcBef>
              <a:spcAft>
                <a:spcPts val="1600"/>
              </a:spcAft>
              <a:buClr>
                <a:srgbClr val="434343"/>
              </a:buClr>
              <a:buSzPts val="1000"/>
              <a:buFont typeface="Nunito Light"/>
              <a:buChar char="■"/>
              <a:defRPr/>
            </a:lvl9pPr>
          </a:lstStyle>
          <a:p>
            <a:endParaRPr/>
          </a:p>
        </p:txBody>
      </p:sp>
      <p:sp>
        <p:nvSpPr>
          <p:cNvPr id="414" name="Google Shape;414;p20"/>
          <p:cNvSpPr/>
          <p:nvPr/>
        </p:nvSpPr>
        <p:spPr>
          <a:xfrm>
            <a:off x="8829925" y="1123700"/>
            <a:ext cx="108650" cy="108625"/>
          </a:xfrm>
          <a:custGeom>
            <a:avLst/>
            <a:gdLst/>
            <a:ahLst/>
            <a:cxnLst/>
            <a:rect l="l" t="t" r="r" b="b"/>
            <a:pathLst>
              <a:path w="4346" h="4345" extrusionOk="0">
                <a:moveTo>
                  <a:pt x="4027" y="337"/>
                </a:moveTo>
                <a:lnTo>
                  <a:pt x="4027" y="4008"/>
                </a:lnTo>
                <a:lnTo>
                  <a:pt x="338" y="4008"/>
                </a:lnTo>
                <a:lnTo>
                  <a:pt x="338" y="337"/>
                </a:lnTo>
                <a:close/>
                <a:moveTo>
                  <a:pt x="1" y="0"/>
                </a:moveTo>
                <a:lnTo>
                  <a:pt x="1" y="4345"/>
                </a:lnTo>
                <a:lnTo>
                  <a:pt x="4346" y="4345"/>
                </a:lnTo>
                <a:lnTo>
                  <a:pt x="43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9156250" y="1340450"/>
            <a:ext cx="111450" cy="110975"/>
          </a:xfrm>
          <a:custGeom>
            <a:avLst/>
            <a:gdLst/>
            <a:ahLst/>
            <a:cxnLst/>
            <a:rect l="l" t="t" r="r" b="b"/>
            <a:pathLst>
              <a:path w="4458" h="4439" extrusionOk="0">
                <a:moveTo>
                  <a:pt x="4008" y="431"/>
                </a:moveTo>
                <a:lnTo>
                  <a:pt x="4008" y="4008"/>
                </a:lnTo>
                <a:lnTo>
                  <a:pt x="431" y="4008"/>
                </a:lnTo>
                <a:lnTo>
                  <a:pt x="431" y="431"/>
                </a:lnTo>
                <a:close/>
                <a:moveTo>
                  <a:pt x="0" y="1"/>
                </a:moveTo>
                <a:lnTo>
                  <a:pt x="0" y="4439"/>
                </a:lnTo>
                <a:lnTo>
                  <a:pt x="4457" y="4439"/>
                </a:lnTo>
                <a:lnTo>
                  <a:pt x="44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5809850" y="214400"/>
            <a:ext cx="108625" cy="108625"/>
          </a:xfrm>
          <a:custGeom>
            <a:avLst/>
            <a:gdLst/>
            <a:ahLst/>
            <a:cxnLst/>
            <a:rect l="l" t="t" r="r" b="b"/>
            <a:pathLst>
              <a:path w="4345" h="4345" extrusionOk="0">
                <a:moveTo>
                  <a:pt x="4008" y="337"/>
                </a:moveTo>
                <a:lnTo>
                  <a:pt x="4008" y="4008"/>
                </a:lnTo>
                <a:lnTo>
                  <a:pt x="337" y="4008"/>
                </a:lnTo>
                <a:lnTo>
                  <a:pt x="337" y="337"/>
                </a:lnTo>
                <a:close/>
                <a:moveTo>
                  <a:pt x="0" y="0"/>
                </a:moveTo>
                <a:lnTo>
                  <a:pt x="0" y="4345"/>
                </a:lnTo>
                <a:lnTo>
                  <a:pt x="4345" y="4345"/>
                </a:lnTo>
                <a:lnTo>
                  <a:pt x="43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7079800" y="420088"/>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7952700" y="278513"/>
            <a:ext cx="44975" cy="44500"/>
          </a:xfrm>
          <a:custGeom>
            <a:avLst/>
            <a:gdLst/>
            <a:ahLst/>
            <a:cxnLst/>
            <a:rect l="l" t="t" r="r" b="b"/>
            <a:pathLst>
              <a:path w="1799" h="1780" extrusionOk="0">
                <a:moveTo>
                  <a:pt x="1" y="1"/>
                </a:moveTo>
                <a:lnTo>
                  <a:pt x="1" y="1780"/>
                </a:lnTo>
                <a:lnTo>
                  <a:pt x="1798" y="1780"/>
                </a:lnTo>
                <a:lnTo>
                  <a:pt x="17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7372450" y="-69325"/>
            <a:ext cx="155925" cy="155925"/>
          </a:xfrm>
          <a:custGeom>
            <a:avLst/>
            <a:gdLst/>
            <a:ahLst/>
            <a:cxnLst/>
            <a:rect l="l" t="t" r="r" b="b"/>
            <a:pathLst>
              <a:path w="6237" h="6237" extrusionOk="0">
                <a:moveTo>
                  <a:pt x="0" y="0"/>
                </a:moveTo>
                <a:lnTo>
                  <a:pt x="0" y="6236"/>
                </a:lnTo>
                <a:lnTo>
                  <a:pt x="6236" y="6236"/>
                </a:lnTo>
                <a:lnTo>
                  <a:pt x="62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8464275" y="355050"/>
            <a:ext cx="155925" cy="156400"/>
          </a:xfrm>
          <a:custGeom>
            <a:avLst/>
            <a:gdLst/>
            <a:ahLst/>
            <a:cxnLst/>
            <a:rect l="l" t="t" r="r" b="b"/>
            <a:pathLst>
              <a:path w="6237" h="6256" extrusionOk="0">
                <a:moveTo>
                  <a:pt x="1" y="1"/>
                </a:moveTo>
                <a:lnTo>
                  <a:pt x="1" y="6256"/>
                </a:lnTo>
                <a:lnTo>
                  <a:pt x="6237" y="6256"/>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7264275" y="607363"/>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6298850" y="907625"/>
            <a:ext cx="155925" cy="155900"/>
          </a:xfrm>
          <a:custGeom>
            <a:avLst/>
            <a:gdLst/>
            <a:ahLst/>
            <a:cxnLst/>
            <a:rect l="l" t="t" r="r" b="b"/>
            <a:pathLst>
              <a:path w="6237" h="6236" extrusionOk="0">
                <a:moveTo>
                  <a:pt x="1" y="0"/>
                </a:moveTo>
                <a:lnTo>
                  <a:pt x="1" y="6236"/>
                </a:lnTo>
                <a:lnTo>
                  <a:pt x="6237" y="6236"/>
                </a:lnTo>
                <a:lnTo>
                  <a:pt x="62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83000" y="4540463"/>
            <a:ext cx="164825" cy="164375"/>
          </a:xfrm>
          <a:custGeom>
            <a:avLst/>
            <a:gdLst/>
            <a:ahLst/>
            <a:cxnLst/>
            <a:rect l="l" t="t" r="r" b="b"/>
            <a:pathLst>
              <a:path w="6593" h="6575" extrusionOk="0">
                <a:moveTo>
                  <a:pt x="6256" y="338"/>
                </a:moveTo>
                <a:lnTo>
                  <a:pt x="6256" y="6237"/>
                </a:lnTo>
                <a:lnTo>
                  <a:pt x="338" y="6237"/>
                </a:lnTo>
                <a:lnTo>
                  <a:pt x="338" y="338"/>
                </a:lnTo>
                <a:close/>
                <a:moveTo>
                  <a:pt x="1" y="1"/>
                </a:moveTo>
                <a:lnTo>
                  <a:pt x="1" y="6574"/>
                </a:lnTo>
                <a:lnTo>
                  <a:pt x="6593" y="6574"/>
                </a:lnTo>
                <a:lnTo>
                  <a:pt x="65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101475" y="4727738"/>
            <a:ext cx="122675" cy="122675"/>
          </a:xfrm>
          <a:custGeom>
            <a:avLst/>
            <a:gdLst/>
            <a:ahLst/>
            <a:cxnLst/>
            <a:rect l="l" t="t" r="r" b="b"/>
            <a:pathLst>
              <a:path w="4907" h="4907" extrusionOk="0">
                <a:moveTo>
                  <a:pt x="0" y="1"/>
                </a:moveTo>
                <a:lnTo>
                  <a:pt x="0" y="4907"/>
                </a:lnTo>
                <a:lnTo>
                  <a:pt x="4907" y="4907"/>
                </a:lnTo>
                <a:lnTo>
                  <a:pt x="49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4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2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marL="914400" lvl="1"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marL="1371600" lvl="2"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marL="1828800" lvl="3"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marL="2286000" lvl="4"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marL="2743200" lvl="5"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marL="3200400" lvl="6"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marL="3657600" lvl="7" indent="-3175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marL="4114800" lvl="8" indent="-3175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27"/>
        <p:cNvGrpSpPr/>
        <p:nvPr/>
      </p:nvGrpSpPr>
      <p:grpSpPr>
        <a:xfrm>
          <a:off x="0" y="0"/>
          <a:ext cx="0" cy="0"/>
          <a:chOff x="0" y="0"/>
          <a:chExt cx="0" cy="0"/>
        </a:xfrm>
      </p:grpSpPr>
      <p:sp>
        <p:nvSpPr>
          <p:cNvPr id="428" name="Google Shape;428;p2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29" name="Google Shape;429;p2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hyperlink" Target="https://developers.google.com/search/docs/fundamentals/how-search-works#indexing" TargetMode="External"/><Relationship Id="rId3" Type="http://schemas.openxmlformats.org/officeDocument/2006/relationships/hyperlink" Target="https://www.a11yproject.com/checklist/#content" TargetMode="External"/><Relationship Id="rId7" Type="http://schemas.openxmlformats.org/officeDocument/2006/relationships/hyperlink" Target="https://developers.google.com/search/docs/fundamentals/seo-starter-guide" TargetMode="External"/><Relationship Id="rId2" Type="http://schemas.openxmlformats.org/officeDocument/2006/relationships/hyperlink" Target="https://axesslab.com/what-is-a-screen-reader/" TargetMode="External"/><Relationship Id="rId1" Type="http://schemas.openxmlformats.org/officeDocument/2006/relationships/slideLayout" Target="../slideLayouts/slideLayout2.xml"/><Relationship Id="rId6" Type="http://schemas.openxmlformats.org/officeDocument/2006/relationships/hyperlink" Target="https://developer.chrome.com/docs/lighthouse/overview" TargetMode="External"/><Relationship Id="rId5" Type="http://schemas.openxmlformats.org/officeDocument/2006/relationships/hyperlink" Target="https://validator.w3.org/#validate_by_upload" TargetMode="External"/><Relationship Id="rId4" Type="http://schemas.openxmlformats.org/officeDocument/2006/relationships/hyperlink" Target="https://www.linkedin.com/advice/0/how-do-you-ensure-web-accessibility-seo-following" TargetMode="External"/><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5"/>
          <p:cNvSpPr txBox="1">
            <a:spLocks noGrp="1"/>
          </p:cNvSpPr>
          <p:nvPr>
            <p:ph type="subTitle" idx="1"/>
          </p:nvPr>
        </p:nvSpPr>
        <p:spPr>
          <a:xfrm>
            <a:off x="2924250" y="2804488"/>
            <a:ext cx="3295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dirty="0"/>
              <a:t>Suleman </a:t>
            </a:r>
            <a:r>
              <a:rPr lang="de-AT" dirty="0">
                <a:solidFill>
                  <a:srgbClr val="00CFCC"/>
                </a:solidFill>
              </a:rPr>
              <a:t>Popalzai</a:t>
            </a:r>
            <a:endParaRPr dirty="0">
              <a:solidFill>
                <a:srgbClr val="00CFCC"/>
              </a:solidFill>
            </a:endParaRPr>
          </a:p>
        </p:txBody>
      </p:sp>
      <p:sp>
        <p:nvSpPr>
          <p:cNvPr id="436" name="Google Shape;436;p25"/>
          <p:cNvSpPr txBox="1">
            <a:spLocks noGrp="1"/>
          </p:cNvSpPr>
          <p:nvPr>
            <p:ph type="ctrTitle"/>
          </p:nvPr>
        </p:nvSpPr>
        <p:spPr>
          <a:xfrm>
            <a:off x="1561650" y="751888"/>
            <a:ext cx="60207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Accessibility </a:t>
            </a:r>
            <a:r>
              <a:rPr lang="en" dirty="0">
                <a:solidFill>
                  <a:srgbClr val="00CFCC"/>
                </a:solidFill>
              </a:rPr>
              <a:t>Best</a:t>
            </a:r>
            <a:r>
              <a:rPr lang="en" dirty="0"/>
              <a:t> Practices</a:t>
            </a:r>
            <a:endParaRPr dirty="0"/>
          </a:p>
        </p:txBody>
      </p:sp>
      <p:sp>
        <p:nvSpPr>
          <p:cNvPr id="437" name="Google Shape;437;p25"/>
          <p:cNvSpPr/>
          <p:nvPr/>
        </p:nvSpPr>
        <p:spPr>
          <a:xfrm>
            <a:off x="1917281" y="4715495"/>
            <a:ext cx="121434" cy="121434"/>
          </a:xfrm>
          <a:custGeom>
            <a:avLst/>
            <a:gdLst/>
            <a:ahLst/>
            <a:cxnLst/>
            <a:rect l="l" t="t" r="r" b="b"/>
            <a:pathLst>
              <a:path w="4634" h="4634" extrusionOk="0">
                <a:moveTo>
                  <a:pt x="1" y="0"/>
                </a:moveTo>
                <a:lnTo>
                  <a:pt x="1" y="4633"/>
                </a:lnTo>
                <a:lnTo>
                  <a:pt x="4634" y="4633"/>
                </a:lnTo>
                <a:lnTo>
                  <a:pt x="46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a:off x="7047944" y="3537816"/>
            <a:ext cx="57834" cy="57834"/>
          </a:xfrm>
          <a:custGeom>
            <a:avLst/>
            <a:gdLst/>
            <a:ahLst/>
            <a:cxnLst/>
            <a:rect l="l" t="t" r="r" b="b"/>
            <a:pathLst>
              <a:path w="2207" h="2207" fill="none" extrusionOk="0">
                <a:moveTo>
                  <a:pt x="0" y="1"/>
                </a:moveTo>
                <a:lnTo>
                  <a:pt x="2206" y="1"/>
                </a:lnTo>
                <a:lnTo>
                  <a:pt x="2206" y="2207"/>
                </a:lnTo>
                <a:lnTo>
                  <a:pt x="0" y="2207"/>
                </a:lnTo>
                <a:close/>
              </a:path>
            </a:pathLst>
          </a:custGeom>
          <a:noFill/>
          <a:ln w="1375" cap="flat" cmpd="sng">
            <a:solidFill>
              <a:schemeClr val="accent1"/>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a:off x="2307882" y="3002386"/>
            <a:ext cx="104086" cy="104322"/>
          </a:xfrm>
          <a:custGeom>
            <a:avLst/>
            <a:gdLst/>
            <a:ahLst/>
            <a:cxnLst/>
            <a:rect l="l" t="t" r="r" b="b"/>
            <a:pathLst>
              <a:path w="3972" h="3981" fill="none" extrusionOk="0">
                <a:moveTo>
                  <a:pt x="1" y="1"/>
                </a:moveTo>
                <a:lnTo>
                  <a:pt x="3972" y="1"/>
                </a:lnTo>
                <a:lnTo>
                  <a:pt x="3972" y="3981"/>
                </a:lnTo>
                <a:lnTo>
                  <a:pt x="1" y="3981"/>
                </a:lnTo>
                <a:close/>
              </a:path>
            </a:pathLst>
          </a:custGeom>
          <a:noFill/>
          <a:ln w="2975" cap="flat" cmpd="sng">
            <a:solidFill>
              <a:schemeClr val="accent2"/>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5"/>
          <p:cNvSpPr/>
          <p:nvPr/>
        </p:nvSpPr>
        <p:spPr>
          <a:xfrm>
            <a:off x="6293004" y="835609"/>
            <a:ext cx="80476" cy="80476"/>
          </a:xfrm>
          <a:custGeom>
            <a:avLst/>
            <a:gdLst/>
            <a:ahLst/>
            <a:cxnLst/>
            <a:rect l="l" t="t" r="r" b="b"/>
            <a:pathLst>
              <a:path w="3071" h="3071" extrusionOk="0">
                <a:moveTo>
                  <a:pt x="1" y="1"/>
                </a:moveTo>
                <a:lnTo>
                  <a:pt x="1" y="3071"/>
                </a:lnTo>
                <a:lnTo>
                  <a:pt x="3071" y="3071"/>
                </a:lnTo>
                <a:lnTo>
                  <a:pt x="307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5"/>
          <p:cNvSpPr/>
          <p:nvPr/>
        </p:nvSpPr>
        <p:spPr>
          <a:xfrm>
            <a:off x="5969504" y="3118803"/>
            <a:ext cx="119993" cy="119966"/>
          </a:xfrm>
          <a:custGeom>
            <a:avLst/>
            <a:gdLst/>
            <a:ahLst/>
            <a:cxnLst/>
            <a:rect l="l" t="t" r="r" b="b"/>
            <a:pathLst>
              <a:path w="4579" h="4578" extrusionOk="0">
                <a:moveTo>
                  <a:pt x="1" y="0"/>
                </a:moveTo>
                <a:lnTo>
                  <a:pt x="1" y="4578"/>
                </a:lnTo>
                <a:lnTo>
                  <a:pt x="4578" y="4578"/>
                </a:lnTo>
                <a:lnTo>
                  <a:pt x="45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5"/>
          <p:cNvSpPr/>
          <p:nvPr/>
        </p:nvSpPr>
        <p:spPr>
          <a:xfrm>
            <a:off x="2924242" y="4302208"/>
            <a:ext cx="119993" cy="119993"/>
          </a:xfrm>
          <a:custGeom>
            <a:avLst/>
            <a:gdLst/>
            <a:ahLst/>
            <a:cxnLst/>
            <a:rect l="l" t="t" r="r" b="b"/>
            <a:pathLst>
              <a:path w="4579" h="4579" extrusionOk="0">
                <a:moveTo>
                  <a:pt x="0" y="1"/>
                </a:moveTo>
                <a:lnTo>
                  <a:pt x="0" y="4578"/>
                </a:lnTo>
                <a:lnTo>
                  <a:pt x="4578" y="4578"/>
                </a:lnTo>
                <a:lnTo>
                  <a:pt x="4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25"/>
          <p:cNvGrpSpPr/>
          <p:nvPr/>
        </p:nvGrpSpPr>
        <p:grpSpPr>
          <a:xfrm>
            <a:off x="6232314" y="3696331"/>
            <a:ext cx="121434" cy="1073147"/>
            <a:chOff x="6232314" y="3696331"/>
            <a:chExt cx="121434" cy="1073147"/>
          </a:xfrm>
        </p:grpSpPr>
        <p:sp>
          <p:nvSpPr>
            <p:cNvPr id="444" name="Google Shape;444;p25"/>
            <p:cNvSpPr/>
            <p:nvPr/>
          </p:nvSpPr>
          <p:spPr>
            <a:xfrm>
              <a:off x="6232314" y="4648280"/>
              <a:ext cx="121434" cy="121198"/>
            </a:xfrm>
            <a:custGeom>
              <a:avLst/>
              <a:gdLst/>
              <a:ahLst/>
              <a:cxnLst/>
              <a:rect l="l" t="t" r="r" b="b"/>
              <a:pathLst>
                <a:path w="4634" h="4625" extrusionOk="0">
                  <a:moveTo>
                    <a:pt x="0" y="1"/>
                  </a:moveTo>
                  <a:lnTo>
                    <a:pt x="0" y="4624"/>
                  </a:lnTo>
                  <a:lnTo>
                    <a:pt x="4633" y="4624"/>
                  </a:lnTo>
                  <a:lnTo>
                    <a:pt x="46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a:off x="6288681" y="3696331"/>
              <a:ext cx="8700" cy="872731"/>
            </a:xfrm>
            <a:custGeom>
              <a:avLst/>
              <a:gdLst/>
              <a:ahLst/>
              <a:cxnLst/>
              <a:rect l="l" t="t" r="r" b="b"/>
              <a:pathLst>
                <a:path w="332" h="33304" extrusionOk="0">
                  <a:moveTo>
                    <a:pt x="166" y="0"/>
                  </a:moveTo>
                  <a:lnTo>
                    <a:pt x="0" y="33304"/>
                  </a:lnTo>
                  <a:lnTo>
                    <a:pt x="331" y="33304"/>
                  </a:lnTo>
                  <a:lnTo>
                    <a:pt x="1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25"/>
          <p:cNvGrpSpPr/>
          <p:nvPr/>
        </p:nvGrpSpPr>
        <p:grpSpPr>
          <a:xfrm>
            <a:off x="6780548" y="337714"/>
            <a:ext cx="133252" cy="1952377"/>
            <a:chOff x="6780548" y="337714"/>
            <a:chExt cx="133252" cy="1952377"/>
          </a:xfrm>
        </p:grpSpPr>
        <p:sp>
          <p:nvSpPr>
            <p:cNvPr id="447" name="Google Shape;447;p25"/>
            <p:cNvSpPr/>
            <p:nvPr/>
          </p:nvSpPr>
          <p:spPr>
            <a:xfrm>
              <a:off x="6780548" y="2156839"/>
              <a:ext cx="133252" cy="133252"/>
            </a:xfrm>
            <a:custGeom>
              <a:avLst/>
              <a:gdLst/>
              <a:ahLst/>
              <a:cxnLst/>
              <a:rect l="l" t="t" r="r" b="b"/>
              <a:pathLst>
                <a:path w="5085" h="5085" fill="none" extrusionOk="0">
                  <a:moveTo>
                    <a:pt x="1" y="1"/>
                  </a:moveTo>
                  <a:lnTo>
                    <a:pt x="5084" y="1"/>
                  </a:lnTo>
                  <a:lnTo>
                    <a:pt x="5084" y="5084"/>
                  </a:lnTo>
                  <a:lnTo>
                    <a:pt x="1" y="5084"/>
                  </a:lnTo>
                  <a:close/>
                </a:path>
              </a:pathLst>
            </a:custGeom>
            <a:noFill/>
            <a:ln w="4125" cap="flat" cmpd="sng">
              <a:solidFill>
                <a:schemeClr val="accent3"/>
              </a:solidFill>
              <a:prstDash val="solid"/>
              <a:miter lim="919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5"/>
            <p:cNvSpPr/>
            <p:nvPr/>
          </p:nvSpPr>
          <p:spPr>
            <a:xfrm>
              <a:off x="6842943" y="337714"/>
              <a:ext cx="8464" cy="1695359"/>
            </a:xfrm>
            <a:custGeom>
              <a:avLst/>
              <a:gdLst/>
              <a:ahLst/>
              <a:cxnLst/>
              <a:rect l="l" t="t" r="r" b="b"/>
              <a:pathLst>
                <a:path w="323" h="64696" extrusionOk="0">
                  <a:moveTo>
                    <a:pt x="157" y="0"/>
                  </a:moveTo>
                  <a:lnTo>
                    <a:pt x="1" y="64695"/>
                  </a:lnTo>
                  <a:lnTo>
                    <a:pt x="322" y="64695"/>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 name="Google Shape;449;p25"/>
          <p:cNvGrpSpPr/>
          <p:nvPr/>
        </p:nvGrpSpPr>
        <p:grpSpPr>
          <a:xfrm>
            <a:off x="1608717" y="1280046"/>
            <a:ext cx="199237" cy="2828935"/>
            <a:chOff x="1608717" y="1280046"/>
            <a:chExt cx="199237" cy="2828935"/>
          </a:xfrm>
        </p:grpSpPr>
        <p:sp>
          <p:nvSpPr>
            <p:cNvPr id="450" name="Google Shape;450;p25"/>
            <p:cNvSpPr/>
            <p:nvPr/>
          </p:nvSpPr>
          <p:spPr>
            <a:xfrm>
              <a:off x="1608717" y="3909744"/>
              <a:ext cx="199237" cy="199237"/>
            </a:xfrm>
            <a:custGeom>
              <a:avLst/>
              <a:gdLst/>
              <a:ahLst/>
              <a:cxnLst/>
              <a:rect l="l" t="t" r="r" b="b"/>
              <a:pathLst>
                <a:path w="7603" h="7603" extrusionOk="0">
                  <a:moveTo>
                    <a:pt x="0" y="1"/>
                  </a:moveTo>
                  <a:lnTo>
                    <a:pt x="0" y="7602"/>
                  </a:lnTo>
                  <a:lnTo>
                    <a:pt x="7602" y="7602"/>
                  </a:lnTo>
                  <a:lnTo>
                    <a:pt x="76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5"/>
            <p:cNvSpPr/>
            <p:nvPr/>
          </p:nvSpPr>
          <p:spPr>
            <a:xfrm>
              <a:off x="1656175" y="3269477"/>
              <a:ext cx="104086" cy="104086"/>
            </a:xfrm>
            <a:custGeom>
              <a:avLst/>
              <a:gdLst/>
              <a:ahLst/>
              <a:cxnLst/>
              <a:rect l="l" t="t" r="r" b="b"/>
              <a:pathLst>
                <a:path w="3972" h="3972" extrusionOk="0">
                  <a:moveTo>
                    <a:pt x="0" y="1"/>
                  </a:moveTo>
                  <a:lnTo>
                    <a:pt x="0" y="3972"/>
                  </a:lnTo>
                  <a:lnTo>
                    <a:pt x="3971" y="3972"/>
                  </a:lnTo>
                  <a:lnTo>
                    <a:pt x="39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p:nvPr/>
          </p:nvSpPr>
          <p:spPr>
            <a:xfrm>
              <a:off x="1704104" y="1280046"/>
              <a:ext cx="8464" cy="1794099"/>
            </a:xfrm>
            <a:custGeom>
              <a:avLst/>
              <a:gdLst/>
              <a:ahLst/>
              <a:cxnLst/>
              <a:rect l="l" t="t" r="r" b="b"/>
              <a:pathLst>
                <a:path w="323" h="68464" extrusionOk="0">
                  <a:moveTo>
                    <a:pt x="157" y="0"/>
                  </a:moveTo>
                  <a:lnTo>
                    <a:pt x="0" y="68464"/>
                  </a:lnTo>
                  <a:lnTo>
                    <a:pt x="322" y="68464"/>
                  </a:lnTo>
                  <a:lnTo>
                    <a:pt x="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25"/>
          <p:cNvSpPr/>
          <p:nvPr/>
        </p:nvSpPr>
        <p:spPr>
          <a:xfrm>
            <a:off x="2355692" y="3696328"/>
            <a:ext cx="8464" cy="2519663"/>
          </a:xfrm>
          <a:custGeom>
            <a:avLst/>
            <a:gdLst/>
            <a:ahLst/>
            <a:cxnLst/>
            <a:rect l="l" t="t" r="r" b="b"/>
            <a:pathLst>
              <a:path w="323" h="96152" extrusionOk="0">
                <a:moveTo>
                  <a:pt x="166" y="1"/>
                </a:moveTo>
                <a:lnTo>
                  <a:pt x="1" y="96151"/>
                </a:lnTo>
                <a:lnTo>
                  <a:pt x="322" y="96151"/>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5"/>
          <p:cNvSpPr/>
          <p:nvPr/>
        </p:nvSpPr>
        <p:spPr>
          <a:xfrm>
            <a:off x="7446601" y="3454956"/>
            <a:ext cx="8464" cy="1689096"/>
          </a:xfrm>
          <a:custGeom>
            <a:avLst/>
            <a:gdLst/>
            <a:ahLst/>
            <a:cxnLst/>
            <a:rect l="l" t="t" r="r" b="b"/>
            <a:pathLst>
              <a:path w="323" h="64457" extrusionOk="0">
                <a:moveTo>
                  <a:pt x="157" y="1"/>
                </a:moveTo>
                <a:lnTo>
                  <a:pt x="0" y="64456"/>
                </a:lnTo>
                <a:lnTo>
                  <a:pt x="322" y="64456"/>
                </a:lnTo>
                <a:lnTo>
                  <a:pt x="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25"/>
          <p:cNvGrpSpPr/>
          <p:nvPr/>
        </p:nvGrpSpPr>
        <p:grpSpPr>
          <a:xfrm>
            <a:off x="8008096" y="2108910"/>
            <a:ext cx="199001" cy="2139769"/>
            <a:chOff x="8008096" y="2108910"/>
            <a:chExt cx="199001" cy="2139769"/>
          </a:xfrm>
        </p:grpSpPr>
        <p:sp>
          <p:nvSpPr>
            <p:cNvPr id="456" name="Google Shape;456;p25"/>
            <p:cNvSpPr/>
            <p:nvPr/>
          </p:nvSpPr>
          <p:spPr>
            <a:xfrm>
              <a:off x="8008096" y="4049705"/>
              <a:ext cx="199001" cy="198975"/>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8103246" y="2108910"/>
              <a:ext cx="8464" cy="1793863"/>
            </a:xfrm>
            <a:custGeom>
              <a:avLst/>
              <a:gdLst/>
              <a:ahLst/>
              <a:cxnLst/>
              <a:rect l="l" t="t" r="r" b="b"/>
              <a:pathLst>
                <a:path w="323" h="68455" extrusionOk="0">
                  <a:moveTo>
                    <a:pt x="166" y="1"/>
                  </a:moveTo>
                  <a:lnTo>
                    <a:pt x="0" y="68455"/>
                  </a:lnTo>
                  <a:lnTo>
                    <a:pt x="322" y="68455"/>
                  </a:lnTo>
                  <a:lnTo>
                    <a:pt x="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25"/>
          <p:cNvGrpSpPr/>
          <p:nvPr/>
        </p:nvGrpSpPr>
        <p:grpSpPr>
          <a:xfrm>
            <a:off x="4472500" y="3928605"/>
            <a:ext cx="199001" cy="867198"/>
            <a:chOff x="4475150" y="4052605"/>
            <a:chExt cx="199001" cy="867198"/>
          </a:xfrm>
        </p:grpSpPr>
        <p:sp>
          <p:nvSpPr>
            <p:cNvPr id="459" name="Google Shape;459;p25"/>
            <p:cNvSpPr/>
            <p:nvPr/>
          </p:nvSpPr>
          <p:spPr>
            <a:xfrm>
              <a:off x="4475150" y="4052605"/>
              <a:ext cx="199001" cy="220121"/>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5"/>
            <p:cNvSpPr/>
            <p:nvPr/>
          </p:nvSpPr>
          <p:spPr>
            <a:xfrm>
              <a:off x="4522600" y="4494201"/>
              <a:ext cx="104095" cy="115148"/>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5"/>
            <p:cNvSpPr/>
            <p:nvPr/>
          </p:nvSpPr>
          <p:spPr>
            <a:xfrm>
              <a:off x="4534403" y="4830814"/>
              <a:ext cx="80477" cy="88990"/>
            </a:xfrm>
            <a:custGeom>
              <a:avLst/>
              <a:gdLst/>
              <a:ahLst/>
              <a:cxnLst/>
              <a:rect l="l" t="t" r="r" b="b"/>
              <a:pathLst>
                <a:path w="7594" h="7593" extrusionOk="0">
                  <a:moveTo>
                    <a:pt x="1" y="0"/>
                  </a:moveTo>
                  <a:lnTo>
                    <a:pt x="1" y="7593"/>
                  </a:lnTo>
                  <a:lnTo>
                    <a:pt x="7593" y="7593"/>
                  </a:lnTo>
                  <a:lnTo>
                    <a:pt x="7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Grafik 1" descr="Ein Bild, das Logo, Grafiken, Schrift, weiß enthält.&#10;&#10;Automatisch generierte Beschreibung">
            <a:extLst>
              <a:ext uri="{FF2B5EF4-FFF2-40B4-BE49-F238E27FC236}">
                <a16:creationId xmlns:a16="http://schemas.microsoft.com/office/drawing/2014/main" id="{B1FD3595-3BAA-0169-A2E4-E55936EF43C6}"/>
              </a:ext>
            </a:extLst>
          </p:cNvPr>
          <p:cNvPicPr>
            <a:picLocks noChangeAspect="1"/>
          </p:cNvPicPr>
          <p:nvPr/>
        </p:nvPicPr>
        <p:blipFill>
          <a:blip r:embed="rId3"/>
          <a:stretch>
            <a:fillRect/>
          </a:stretch>
        </p:blipFill>
        <p:spPr>
          <a:xfrm>
            <a:off x="3574528" y="2890467"/>
            <a:ext cx="1671811" cy="1671811"/>
          </a:xfrm>
          <a:prstGeom prst="rect">
            <a:avLst/>
          </a:prstGeom>
        </p:spPr>
      </p:pic>
      <p:pic>
        <p:nvPicPr>
          <p:cNvPr id="5" name="Grafik 4" descr="Ein Bild, das Dunkelheit enthält.&#10;&#10;Automatisch generierte Beschreibung">
            <a:extLst>
              <a:ext uri="{FF2B5EF4-FFF2-40B4-BE49-F238E27FC236}">
                <a16:creationId xmlns:a16="http://schemas.microsoft.com/office/drawing/2014/main" id="{0A5B97D7-F5BC-8917-B8BC-23CB8B614DC1}"/>
              </a:ext>
            </a:extLst>
          </p:cNvPr>
          <p:cNvPicPr>
            <a:picLocks noChangeAspect="1"/>
          </p:cNvPicPr>
          <p:nvPr/>
        </p:nvPicPr>
        <p:blipFill>
          <a:blip r:embed="rId4"/>
          <a:stretch>
            <a:fillRect/>
          </a:stretch>
        </p:blipFill>
        <p:spPr>
          <a:xfrm>
            <a:off x="6913800" y="-16843"/>
            <a:ext cx="2061313" cy="6596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6"/>
          <p:cNvSpPr txBox="1">
            <a:spLocks noGrp="1"/>
          </p:cNvSpPr>
          <p:nvPr>
            <p:ph type="body" idx="1"/>
          </p:nvPr>
        </p:nvSpPr>
        <p:spPr>
          <a:xfrm>
            <a:off x="597375" y="1063525"/>
            <a:ext cx="7927800" cy="3618834"/>
          </a:xfrm>
          <a:prstGeom prst="rect">
            <a:avLst/>
          </a:prstGeom>
        </p:spPr>
        <p:txBody>
          <a:bodyPr spcFirstLastPara="1" wrap="square" lIns="91425" tIns="91425" rIns="91425" bIns="91425" anchor="t" anchorCtr="0">
            <a:noAutofit/>
          </a:bodyPr>
          <a:lstStyle/>
          <a:p>
            <a:pPr marL="0" lvl="0" indent="0" algn="l" rtl="0">
              <a:lnSpc>
                <a:spcPct val="100000"/>
              </a:lnSpc>
              <a:spcBef>
                <a:spcPts val="1600"/>
              </a:spcBef>
              <a:spcAft>
                <a:spcPts val="0"/>
              </a:spcAft>
              <a:buNone/>
            </a:pPr>
            <a:endParaRPr dirty="0"/>
          </a:p>
          <a:p>
            <a:pPr marL="0" indent="0">
              <a:buNone/>
            </a:pPr>
            <a:r>
              <a:rPr lang="de-AT" dirty="0"/>
              <a:t>SEO </a:t>
            </a:r>
            <a:r>
              <a:rPr lang="de-AT" dirty="0" err="1"/>
              <a:t>vs</a:t>
            </a:r>
            <a:r>
              <a:rPr lang="de-AT" dirty="0"/>
              <a:t> WCAG </a:t>
            </a:r>
            <a:r>
              <a:rPr lang="de-AT" dirty="0" err="1"/>
              <a:t>vs</a:t>
            </a:r>
            <a:r>
              <a:rPr lang="de-AT" dirty="0"/>
              <a:t> WAI-ARIA 	                                           </a:t>
            </a:r>
            <a:r>
              <a:rPr lang="de-DE" dirty="0" err="1"/>
              <a:t>Accessibility</a:t>
            </a:r>
            <a:r>
              <a:rPr lang="de-DE" dirty="0"/>
              <a:t> Checklisten</a:t>
            </a:r>
          </a:p>
          <a:p>
            <a:pPr marL="0" lvl="0" indent="0" algn="l" rtl="0">
              <a:spcBef>
                <a:spcPts val="0"/>
              </a:spcBef>
              <a:spcAft>
                <a:spcPts val="0"/>
              </a:spcAft>
              <a:buNone/>
            </a:pPr>
            <a:endParaRPr lang="de-AT" dirty="0"/>
          </a:p>
          <a:p>
            <a:pPr marL="0" lvl="0" indent="0" algn="l" rtl="0">
              <a:spcBef>
                <a:spcPts val="0"/>
              </a:spcBef>
              <a:spcAft>
                <a:spcPts val="0"/>
              </a:spcAft>
              <a:buNone/>
            </a:pPr>
            <a:endParaRPr lang="de-AT" dirty="0"/>
          </a:p>
          <a:p>
            <a:pPr marL="0" lvl="0" indent="0" algn="l" rtl="0">
              <a:spcBef>
                <a:spcPts val="0"/>
              </a:spcBef>
              <a:spcAft>
                <a:spcPts val="0"/>
              </a:spcAft>
              <a:buNone/>
            </a:pPr>
            <a:r>
              <a:rPr lang="de-DE" dirty="0"/>
              <a:t>Basics von </a:t>
            </a:r>
            <a:r>
              <a:rPr lang="de-DE" dirty="0" err="1"/>
              <a:t>Accessibility</a:t>
            </a:r>
            <a:r>
              <a:rPr lang="de-DE" dirty="0"/>
              <a:t> 	                                                               Tools für </a:t>
            </a:r>
            <a:r>
              <a:rPr lang="de-DE" dirty="0" err="1"/>
              <a:t>Accessibility</a:t>
            </a:r>
            <a:r>
              <a:rPr lang="de-DE" dirty="0"/>
              <a:t> Checkers</a:t>
            </a:r>
          </a:p>
          <a:p>
            <a:pPr marL="0" lvl="0" indent="0" algn="l" rtl="0">
              <a:spcBef>
                <a:spcPts val="0"/>
              </a:spcBef>
              <a:spcAft>
                <a:spcPts val="0"/>
              </a:spcAft>
              <a:buNone/>
            </a:pPr>
            <a:r>
              <a:rPr lang="de-DE" dirty="0"/>
              <a:t> in General</a:t>
            </a:r>
          </a:p>
          <a:p>
            <a:pPr marL="609600" indent="0">
              <a:buSzPts val="1200"/>
              <a:buNone/>
            </a:pPr>
            <a:r>
              <a:rPr lang="en-US" dirty="0"/>
              <a:t>	</a:t>
            </a:r>
          </a:p>
          <a:p>
            <a:pPr marL="0" indent="0">
              <a:spcBef>
                <a:spcPts val="1600"/>
              </a:spcBef>
              <a:spcAft>
                <a:spcPts val="1600"/>
              </a:spcAft>
              <a:buNone/>
            </a:pPr>
            <a:r>
              <a:rPr lang="de-DE" dirty="0"/>
              <a:t>ARIA-XXX in General 	                                                              </a:t>
            </a:r>
            <a:r>
              <a:rPr lang="de-AT" dirty="0"/>
              <a:t>Was bedeutet WCAG </a:t>
            </a:r>
            <a:r>
              <a:rPr lang="de-AT" dirty="0" err="1"/>
              <a:t>compliant</a:t>
            </a:r>
            <a:r>
              <a:rPr lang="de-AT" dirty="0"/>
              <a:t>?</a:t>
            </a:r>
          </a:p>
          <a:p>
            <a:pPr marL="0" indent="0">
              <a:spcBef>
                <a:spcPts val="1600"/>
              </a:spcBef>
              <a:spcAft>
                <a:spcPts val="1600"/>
              </a:spcAft>
              <a:buNone/>
            </a:pPr>
            <a:r>
              <a:rPr lang="de-DE" dirty="0"/>
              <a:t>Basics von SEO 	                                                             </a:t>
            </a:r>
            <a:r>
              <a:rPr lang="en-US" dirty="0"/>
              <a:t> </a:t>
            </a:r>
            <a:r>
              <a:rPr lang="de-AT" dirty="0"/>
              <a:t> Was ist ein Screenreader? </a:t>
            </a:r>
            <a:endParaRPr lang="de-DE" dirty="0"/>
          </a:p>
          <a:p>
            <a:pPr marL="0" indent="0">
              <a:spcBef>
                <a:spcPts val="1600"/>
              </a:spcBef>
              <a:spcAft>
                <a:spcPts val="1600"/>
              </a:spcAft>
              <a:buNone/>
            </a:pPr>
            <a:r>
              <a:rPr lang="de-DE" dirty="0"/>
              <a:t>Basics von </a:t>
            </a:r>
            <a:r>
              <a:rPr lang="de-DE" dirty="0" err="1"/>
              <a:t>Indexing</a:t>
            </a:r>
            <a:r>
              <a:rPr lang="de-DE" dirty="0"/>
              <a:t> und </a:t>
            </a:r>
            <a:r>
              <a:rPr lang="de-DE" dirty="0" err="1"/>
              <a:t>Crawling</a:t>
            </a:r>
            <a:r>
              <a:rPr lang="de-DE" dirty="0"/>
              <a:t>  		                     </a:t>
            </a:r>
            <a:r>
              <a:rPr lang="en-US" dirty="0"/>
              <a:t>Forms Aufbau und Forms Accessibility</a:t>
            </a:r>
          </a:p>
          <a:p>
            <a:pPr marL="0" indent="0">
              <a:spcBef>
                <a:spcPts val="1600"/>
              </a:spcBef>
              <a:spcAft>
                <a:spcPts val="1600"/>
              </a:spcAft>
              <a:buNone/>
            </a:pPr>
            <a:endParaRPr lang="de-DE" dirty="0"/>
          </a:p>
          <a:p>
            <a:pPr marL="0" indent="0">
              <a:spcBef>
                <a:spcPts val="1600"/>
              </a:spcBef>
              <a:spcAft>
                <a:spcPts val="1600"/>
              </a:spcAft>
              <a:buNone/>
            </a:pPr>
            <a:endParaRPr lang="de-DE" dirty="0"/>
          </a:p>
          <a:p>
            <a:pPr marL="0" indent="0">
              <a:spcBef>
                <a:spcPts val="1600"/>
              </a:spcBef>
              <a:spcAft>
                <a:spcPts val="1600"/>
              </a:spcAft>
              <a:buNone/>
            </a:pPr>
            <a:r>
              <a:rPr lang="de-AT" dirty="0"/>
              <a:t>	</a:t>
            </a:r>
            <a:endParaRPr lang="de-DE" dirty="0"/>
          </a:p>
          <a:p>
            <a:pPr marL="0" indent="0">
              <a:spcBef>
                <a:spcPts val="1600"/>
              </a:spcBef>
              <a:spcAft>
                <a:spcPts val="1600"/>
              </a:spcAft>
              <a:buNone/>
            </a:pPr>
            <a:endParaRPr lang="de-DE" dirty="0"/>
          </a:p>
          <a:p>
            <a:pPr marL="0" indent="0">
              <a:spcBef>
                <a:spcPts val="1600"/>
              </a:spcBef>
              <a:spcAft>
                <a:spcPts val="1600"/>
              </a:spcAft>
              <a:buNone/>
            </a:pPr>
            <a:endParaRPr lang="de-DE" dirty="0"/>
          </a:p>
          <a:p>
            <a:pPr marL="0" indent="0">
              <a:spcBef>
                <a:spcPts val="1600"/>
              </a:spcBef>
              <a:spcAft>
                <a:spcPts val="1600"/>
              </a:spcAft>
              <a:buNone/>
            </a:pPr>
            <a:endParaRPr lang="de-AT" dirty="0"/>
          </a:p>
          <a:p>
            <a:pPr marL="0" indent="0">
              <a:spcBef>
                <a:spcPts val="1600"/>
              </a:spcBef>
              <a:spcAft>
                <a:spcPts val="1600"/>
              </a:spcAft>
              <a:buNone/>
            </a:pPr>
            <a:endParaRPr lang="de-AT" dirty="0"/>
          </a:p>
          <a:p>
            <a:pPr marL="0" lvl="0" indent="0" algn="l" rtl="0">
              <a:lnSpc>
                <a:spcPct val="100000"/>
              </a:lnSpc>
              <a:spcBef>
                <a:spcPts val="1600"/>
              </a:spcBef>
              <a:spcAft>
                <a:spcPts val="1600"/>
              </a:spcAft>
              <a:buNone/>
            </a:pPr>
            <a:endParaRPr dirty="0"/>
          </a:p>
        </p:txBody>
      </p:sp>
      <p:sp>
        <p:nvSpPr>
          <p:cNvPr id="467" name="Google Shape;467;p26"/>
          <p:cNvSpPr txBox="1">
            <a:spLocks noGrp="1"/>
          </p:cNvSpPr>
          <p:nvPr>
            <p:ph type="ctrTitle"/>
          </p:nvPr>
        </p:nvSpPr>
        <p:spPr>
          <a:xfrm>
            <a:off x="1659349" y="438712"/>
            <a:ext cx="47277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CONTENTS OF THIS TEMPLATE</a:t>
            </a:r>
            <a:endParaRPr dirty="0"/>
          </a:p>
        </p:txBody>
      </p:sp>
      <p:sp>
        <p:nvSpPr>
          <p:cNvPr id="40" name="Google Shape;1708;p52" descr="Timeline background shape">
            <a:extLst>
              <a:ext uri="{FF2B5EF4-FFF2-40B4-BE49-F238E27FC236}">
                <a16:creationId xmlns:a16="http://schemas.microsoft.com/office/drawing/2014/main" id="{3D304904-8B04-843B-98CC-F4891210C13A}"/>
              </a:ext>
            </a:extLst>
          </p:cNvPr>
          <p:cNvSpPr/>
          <p:nvPr/>
        </p:nvSpPr>
        <p:spPr>
          <a:xfrm>
            <a:off x="0" y="1445237"/>
            <a:ext cx="3079531" cy="36548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08;p52" descr="Timeline background shape">
            <a:extLst>
              <a:ext uri="{FF2B5EF4-FFF2-40B4-BE49-F238E27FC236}">
                <a16:creationId xmlns:a16="http://schemas.microsoft.com/office/drawing/2014/main" id="{44B36D0F-933F-6182-5A0E-C1A5DBA86C7B}"/>
              </a:ext>
            </a:extLst>
          </p:cNvPr>
          <p:cNvSpPr/>
          <p:nvPr/>
        </p:nvSpPr>
        <p:spPr>
          <a:xfrm>
            <a:off x="0" y="2030490"/>
            <a:ext cx="2942897" cy="49323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08;p52" descr="Timeline background shape">
            <a:extLst>
              <a:ext uri="{FF2B5EF4-FFF2-40B4-BE49-F238E27FC236}">
                <a16:creationId xmlns:a16="http://schemas.microsoft.com/office/drawing/2014/main" id="{1D004753-DD50-69B7-8495-58B3E37A4638}"/>
              </a:ext>
            </a:extLst>
          </p:cNvPr>
          <p:cNvSpPr/>
          <p:nvPr/>
        </p:nvSpPr>
        <p:spPr>
          <a:xfrm>
            <a:off x="1" y="3930384"/>
            <a:ext cx="3578772" cy="38514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Textfeld 42">
            <a:extLst>
              <a:ext uri="{FF2B5EF4-FFF2-40B4-BE49-F238E27FC236}">
                <a16:creationId xmlns:a16="http://schemas.microsoft.com/office/drawing/2014/main" id="{24CEFE33-070C-7F60-505C-D57A2143652D}"/>
              </a:ext>
            </a:extLst>
          </p:cNvPr>
          <p:cNvSpPr txBox="1"/>
          <p:nvPr/>
        </p:nvSpPr>
        <p:spPr>
          <a:xfrm>
            <a:off x="5057060" y="2310140"/>
            <a:ext cx="184731" cy="523220"/>
          </a:xfrm>
          <a:prstGeom prst="rect">
            <a:avLst/>
          </a:prstGeom>
          <a:noFill/>
        </p:spPr>
        <p:txBody>
          <a:bodyPr wrap="none" rtlCol="0">
            <a:spAutoFit/>
          </a:bodyPr>
          <a:lstStyle/>
          <a:p>
            <a:endParaRPr lang="en-US" dirty="0"/>
          </a:p>
          <a:p>
            <a:endParaRPr lang="de-AT" dirty="0"/>
          </a:p>
        </p:txBody>
      </p:sp>
      <p:sp>
        <p:nvSpPr>
          <p:cNvPr id="44" name="Google Shape;1708;p52" descr="Timeline background shape">
            <a:extLst>
              <a:ext uri="{FF2B5EF4-FFF2-40B4-BE49-F238E27FC236}">
                <a16:creationId xmlns:a16="http://schemas.microsoft.com/office/drawing/2014/main" id="{A4C15438-E501-D3F6-6774-2CCD37649E76}"/>
              </a:ext>
            </a:extLst>
          </p:cNvPr>
          <p:cNvSpPr/>
          <p:nvPr/>
        </p:nvSpPr>
        <p:spPr>
          <a:xfrm rot="10800000">
            <a:off x="5149424" y="1445239"/>
            <a:ext cx="3994575" cy="36548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08;p52" descr="Timeline background shape">
            <a:extLst>
              <a:ext uri="{FF2B5EF4-FFF2-40B4-BE49-F238E27FC236}">
                <a16:creationId xmlns:a16="http://schemas.microsoft.com/office/drawing/2014/main" id="{D55EE6C1-D0EB-BDEE-1AE4-3F28FD92A97A}"/>
              </a:ext>
            </a:extLst>
          </p:cNvPr>
          <p:cNvSpPr/>
          <p:nvPr/>
        </p:nvSpPr>
        <p:spPr>
          <a:xfrm rot="10800000">
            <a:off x="4954041" y="3962021"/>
            <a:ext cx="4189958"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08;p52" descr="Timeline background shape">
            <a:extLst>
              <a:ext uri="{FF2B5EF4-FFF2-40B4-BE49-F238E27FC236}">
                <a16:creationId xmlns:a16="http://schemas.microsoft.com/office/drawing/2014/main" id="{AF804BB1-A2A4-8C79-EAD7-76EC45B441A7}"/>
              </a:ext>
            </a:extLst>
          </p:cNvPr>
          <p:cNvSpPr/>
          <p:nvPr/>
        </p:nvSpPr>
        <p:spPr>
          <a:xfrm>
            <a:off x="0" y="3373639"/>
            <a:ext cx="2507017" cy="35350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08;p52" descr="Timeline background shape">
            <a:extLst>
              <a:ext uri="{FF2B5EF4-FFF2-40B4-BE49-F238E27FC236}">
                <a16:creationId xmlns:a16="http://schemas.microsoft.com/office/drawing/2014/main" id="{7C7A51CF-E7AD-249C-113A-1D6C9910019E}"/>
              </a:ext>
            </a:extLst>
          </p:cNvPr>
          <p:cNvSpPr/>
          <p:nvPr/>
        </p:nvSpPr>
        <p:spPr>
          <a:xfrm>
            <a:off x="1" y="2771929"/>
            <a:ext cx="2548524" cy="353505"/>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08;p52" descr="Timeline background shape">
            <a:extLst>
              <a:ext uri="{FF2B5EF4-FFF2-40B4-BE49-F238E27FC236}">
                <a16:creationId xmlns:a16="http://schemas.microsoft.com/office/drawing/2014/main" id="{DFB4BD50-33B9-D229-703C-E76B6FCF9D83}"/>
              </a:ext>
            </a:extLst>
          </p:cNvPr>
          <p:cNvSpPr/>
          <p:nvPr/>
        </p:nvSpPr>
        <p:spPr>
          <a:xfrm rot="10800000">
            <a:off x="5057060" y="3373640"/>
            <a:ext cx="4086938"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08;p52" descr="Timeline background shape">
            <a:extLst>
              <a:ext uri="{FF2B5EF4-FFF2-40B4-BE49-F238E27FC236}">
                <a16:creationId xmlns:a16="http://schemas.microsoft.com/office/drawing/2014/main" id="{3FAAE73F-2E3B-8EFF-0400-CFF50D5DD4A2}"/>
              </a:ext>
            </a:extLst>
          </p:cNvPr>
          <p:cNvSpPr/>
          <p:nvPr/>
        </p:nvSpPr>
        <p:spPr>
          <a:xfrm rot="10800000">
            <a:off x="5057059" y="2771930"/>
            <a:ext cx="4086939" cy="353504"/>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08;p52" descr="Timeline background shape">
            <a:extLst>
              <a:ext uri="{FF2B5EF4-FFF2-40B4-BE49-F238E27FC236}">
                <a16:creationId xmlns:a16="http://schemas.microsoft.com/office/drawing/2014/main" id="{1934E0C9-43F4-815A-9DCD-44A0F76FD0CB}"/>
              </a:ext>
            </a:extLst>
          </p:cNvPr>
          <p:cNvSpPr/>
          <p:nvPr/>
        </p:nvSpPr>
        <p:spPr>
          <a:xfrm rot="10800000">
            <a:off x="5057060" y="2030491"/>
            <a:ext cx="4086940" cy="357072"/>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rafik 50" descr="Ein Bild, das Logo, Grafiken, Schrift, weiß enthält.&#10;&#10;Automatisch generierte Beschreibung">
            <a:extLst>
              <a:ext uri="{FF2B5EF4-FFF2-40B4-BE49-F238E27FC236}">
                <a16:creationId xmlns:a16="http://schemas.microsoft.com/office/drawing/2014/main" id="{8D6BD60D-25F6-D200-9515-3EE5D94DA876}"/>
              </a:ext>
            </a:extLst>
          </p:cNvPr>
          <p:cNvPicPr>
            <a:picLocks noChangeAspect="1"/>
          </p:cNvPicPr>
          <p:nvPr/>
        </p:nvPicPr>
        <p:blipFill>
          <a:blip r:embed="rId3"/>
          <a:stretch>
            <a:fillRect/>
          </a:stretch>
        </p:blipFill>
        <p:spPr>
          <a:xfrm>
            <a:off x="3164072" y="1735844"/>
            <a:ext cx="1671811" cy="1671811"/>
          </a:xfrm>
          <a:prstGeom prst="rect">
            <a:avLst/>
          </a:prstGeom>
        </p:spPr>
      </p:pic>
      <p:pic>
        <p:nvPicPr>
          <p:cNvPr id="56" name="Grafik 55" descr="Ein Bild, das Grafiken, Design enthält.&#10;&#10;Automatisch generierte Beschreibung">
            <a:extLst>
              <a:ext uri="{FF2B5EF4-FFF2-40B4-BE49-F238E27FC236}">
                <a16:creationId xmlns:a16="http://schemas.microsoft.com/office/drawing/2014/main" id="{1A2253D0-4465-F46D-2043-8886254525E8}"/>
              </a:ext>
            </a:extLst>
          </p:cNvPr>
          <p:cNvPicPr>
            <a:picLocks noChangeAspect="1"/>
          </p:cNvPicPr>
          <p:nvPr/>
        </p:nvPicPr>
        <p:blipFill>
          <a:blip r:embed="rId4"/>
          <a:stretch>
            <a:fillRect/>
          </a:stretch>
        </p:blipFill>
        <p:spPr>
          <a:xfrm>
            <a:off x="7594205" y="142053"/>
            <a:ext cx="1171118" cy="11711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AC5FA-72AB-DC77-76A3-7D6B4AE57DFA}"/>
            </a:ext>
          </a:extLst>
        </p:cNvPr>
        <p:cNvGrpSpPr/>
        <p:nvPr/>
      </p:nvGrpSpPr>
      <p:grpSpPr>
        <a:xfrm>
          <a:off x="0" y="0"/>
          <a:ext cx="0" cy="0"/>
          <a:chOff x="0" y="0"/>
          <a:chExt cx="0" cy="0"/>
        </a:xfrm>
      </p:grpSpPr>
      <p:sp>
        <p:nvSpPr>
          <p:cNvPr id="3" name="Textfeld 2">
            <a:extLst>
              <a:ext uri="{FF2B5EF4-FFF2-40B4-BE49-F238E27FC236}">
                <a16:creationId xmlns:a16="http://schemas.microsoft.com/office/drawing/2014/main" id="{DC890720-2330-5833-016D-1B80D77C3404}"/>
              </a:ext>
            </a:extLst>
          </p:cNvPr>
          <p:cNvSpPr txBox="1"/>
          <p:nvPr/>
        </p:nvSpPr>
        <p:spPr>
          <a:xfrm>
            <a:off x="70339" y="342704"/>
            <a:ext cx="4572000" cy="338554"/>
          </a:xfrm>
          <a:prstGeom prst="rect">
            <a:avLst/>
          </a:prstGeom>
          <a:noFill/>
        </p:spPr>
        <p:txBody>
          <a:bodyPr wrap="square">
            <a:spAutoFit/>
          </a:bodyPr>
          <a:lstStyle/>
          <a:p>
            <a:pPr marL="0" lvl="0" indent="0" algn="l" rtl="0">
              <a:spcBef>
                <a:spcPts val="0"/>
              </a:spcBef>
              <a:spcAft>
                <a:spcPts val="1600"/>
              </a:spcAft>
              <a:buClr>
                <a:schemeClr val="dk1"/>
              </a:buClr>
              <a:buSzPts val="1100"/>
              <a:buFont typeface="Arial"/>
              <a:buNone/>
            </a:pPr>
            <a:r>
              <a:rPr lang="de-AT" sz="1600" dirty="0">
                <a:solidFill>
                  <a:srgbClr val="00CFCC"/>
                </a:solidFill>
                <a:latin typeface="Amasis MT Pro Light" panose="02040304050005020304" pitchFamily="18" charset="0"/>
              </a:rPr>
              <a:t>Was ist Web </a:t>
            </a:r>
            <a:r>
              <a:rPr lang="de-AT" sz="1600" dirty="0" err="1">
                <a:solidFill>
                  <a:srgbClr val="00CFCC"/>
                </a:solidFill>
                <a:latin typeface="Amasis MT Pro Light" panose="02040304050005020304" pitchFamily="18" charset="0"/>
              </a:rPr>
              <a:t>Accessibility</a:t>
            </a:r>
            <a:endParaRPr lang="de-AT" sz="1600" dirty="0">
              <a:solidFill>
                <a:srgbClr val="00CFCC"/>
              </a:solidFill>
              <a:latin typeface="Amasis MT Pro Light" panose="02040304050005020304" pitchFamily="18" charset="0"/>
            </a:endParaRPr>
          </a:p>
        </p:txBody>
      </p:sp>
      <p:sp>
        <p:nvSpPr>
          <p:cNvPr id="4" name="Google Shape;1708;p52" descr="Timeline background shape">
            <a:extLst>
              <a:ext uri="{FF2B5EF4-FFF2-40B4-BE49-F238E27FC236}">
                <a16:creationId xmlns:a16="http://schemas.microsoft.com/office/drawing/2014/main" id="{A6042C94-D4F1-5DD5-EBBF-0F83C94E9F75}"/>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rafik 15" descr="Ein Bild, das Schwarzweiß, Schwarz, Text, Design enthält.&#10;&#10;Automatisch generierte Beschreibung">
            <a:extLst>
              <a:ext uri="{FF2B5EF4-FFF2-40B4-BE49-F238E27FC236}">
                <a16:creationId xmlns:a16="http://schemas.microsoft.com/office/drawing/2014/main" id="{54661996-8F9D-8094-3651-EAAA66CF9A59}"/>
              </a:ext>
            </a:extLst>
          </p:cNvPr>
          <p:cNvPicPr>
            <a:picLocks noChangeAspect="1"/>
          </p:cNvPicPr>
          <p:nvPr/>
        </p:nvPicPr>
        <p:blipFill>
          <a:blip r:embed="rId2">
            <a:duotone>
              <a:prstClr val="black"/>
              <a:srgbClr val="0070C0">
                <a:tint val="45000"/>
                <a:satMod val="400000"/>
              </a:srgbClr>
            </a:duotone>
            <a:extLst>
              <a:ext uri="{BEBA8EAE-BF5A-486C-A8C5-ECC9F3942E4B}">
                <a14:imgProps xmlns:a14="http://schemas.microsoft.com/office/drawing/2010/main">
                  <a14:imgLayer r:embed="rId3">
                    <a14:imgEffect>
                      <a14:brightnessContrast bright="-40000" contrast="20000"/>
                    </a14:imgEffect>
                  </a14:imgLayer>
                </a14:imgProps>
              </a:ext>
            </a:extLst>
          </a:blip>
          <a:srcRect l="17952" t="65122" r="37693"/>
          <a:stretch/>
        </p:blipFill>
        <p:spPr>
          <a:xfrm>
            <a:off x="3218896" y="419899"/>
            <a:ext cx="2517968" cy="1391958"/>
          </a:xfrm>
          <a:prstGeom prst="rect">
            <a:avLst/>
          </a:prstGeom>
        </p:spPr>
      </p:pic>
      <p:grpSp>
        <p:nvGrpSpPr>
          <p:cNvPr id="23" name="Google Shape;9829;p58">
            <a:extLst>
              <a:ext uri="{FF2B5EF4-FFF2-40B4-BE49-F238E27FC236}">
                <a16:creationId xmlns:a16="http://schemas.microsoft.com/office/drawing/2014/main" id="{3C49C897-3E75-A7F3-3037-0472806E7C9D}"/>
              </a:ext>
            </a:extLst>
          </p:cNvPr>
          <p:cNvGrpSpPr/>
          <p:nvPr/>
        </p:nvGrpSpPr>
        <p:grpSpPr>
          <a:xfrm>
            <a:off x="2620915" y="1501266"/>
            <a:ext cx="3697717" cy="2966825"/>
            <a:chOff x="1958520" y="2302574"/>
            <a:chExt cx="359213" cy="327807"/>
          </a:xfrm>
        </p:grpSpPr>
        <p:sp>
          <p:nvSpPr>
            <p:cNvPr id="24" name="Google Shape;9830;p58">
              <a:extLst>
                <a:ext uri="{FF2B5EF4-FFF2-40B4-BE49-F238E27FC236}">
                  <a16:creationId xmlns:a16="http://schemas.microsoft.com/office/drawing/2014/main" id="{F82A8AEF-A841-3172-A0B6-B9A3BDC24D76}"/>
                </a:ext>
              </a:extLst>
            </p:cNvPr>
            <p:cNvSpPr/>
            <p:nvPr/>
          </p:nvSpPr>
          <p:spPr>
            <a:xfrm>
              <a:off x="1958520" y="2302574"/>
              <a:ext cx="359213" cy="327807"/>
            </a:xfrm>
            <a:custGeom>
              <a:avLst/>
              <a:gdLst/>
              <a:ahLst/>
              <a:cxnLst/>
              <a:rect l="l" t="t" r="r" b="b"/>
              <a:pathLst>
                <a:path w="11312" h="10323" extrusionOk="0">
                  <a:moveTo>
                    <a:pt x="7168" y="8132"/>
                  </a:moveTo>
                  <a:lnTo>
                    <a:pt x="7501" y="9204"/>
                  </a:lnTo>
                  <a:lnTo>
                    <a:pt x="3799" y="9204"/>
                  </a:lnTo>
                  <a:lnTo>
                    <a:pt x="4120" y="8132"/>
                  </a:lnTo>
                  <a:close/>
                  <a:moveTo>
                    <a:pt x="8466" y="9537"/>
                  </a:moveTo>
                  <a:cubicBezTo>
                    <a:pt x="8597" y="9537"/>
                    <a:pt x="8704" y="9656"/>
                    <a:pt x="8704" y="9775"/>
                  </a:cubicBezTo>
                  <a:cubicBezTo>
                    <a:pt x="8704" y="9906"/>
                    <a:pt x="8597" y="10013"/>
                    <a:pt x="8466" y="10013"/>
                  </a:cubicBezTo>
                  <a:lnTo>
                    <a:pt x="2810" y="10013"/>
                  </a:lnTo>
                  <a:cubicBezTo>
                    <a:pt x="2679" y="10013"/>
                    <a:pt x="2572" y="9906"/>
                    <a:pt x="2572" y="9775"/>
                  </a:cubicBezTo>
                  <a:cubicBezTo>
                    <a:pt x="2572" y="9644"/>
                    <a:pt x="2679" y="9537"/>
                    <a:pt x="2810" y="9537"/>
                  </a:cubicBezTo>
                  <a:close/>
                  <a:moveTo>
                    <a:pt x="1072" y="0"/>
                  </a:moveTo>
                  <a:cubicBezTo>
                    <a:pt x="477" y="0"/>
                    <a:pt x="0" y="476"/>
                    <a:pt x="0" y="1072"/>
                  </a:cubicBezTo>
                  <a:lnTo>
                    <a:pt x="0" y="7049"/>
                  </a:lnTo>
                  <a:cubicBezTo>
                    <a:pt x="0" y="7644"/>
                    <a:pt x="477" y="8120"/>
                    <a:pt x="1072" y="8120"/>
                  </a:cubicBezTo>
                  <a:lnTo>
                    <a:pt x="3763" y="8120"/>
                  </a:lnTo>
                  <a:lnTo>
                    <a:pt x="3441" y="9192"/>
                  </a:lnTo>
                  <a:lnTo>
                    <a:pt x="2822" y="9192"/>
                  </a:lnTo>
                  <a:cubicBezTo>
                    <a:pt x="2513" y="9192"/>
                    <a:pt x="2263" y="9442"/>
                    <a:pt x="2263" y="9751"/>
                  </a:cubicBezTo>
                  <a:cubicBezTo>
                    <a:pt x="2263" y="10073"/>
                    <a:pt x="2513" y="10323"/>
                    <a:pt x="2822" y="10323"/>
                  </a:cubicBezTo>
                  <a:lnTo>
                    <a:pt x="8478" y="10323"/>
                  </a:lnTo>
                  <a:cubicBezTo>
                    <a:pt x="8799" y="10323"/>
                    <a:pt x="9049" y="10073"/>
                    <a:pt x="9049" y="9751"/>
                  </a:cubicBezTo>
                  <a:cubicBezTo>
                    <a:pt x="9049" y="9442"/>
                    <a:pt x="8799" y="9192"/>
                    <a:pt x="8478" y="9192"/>
                  </a:cubicBezTo>
                  <a:lnTo>
                    <a:pt x="7870" y="9192"/>
                  </a:lnTo>
                  <a:lnTo>
                    <a:pt x="7549" y="8120"/>
                  </a:lnTo>
                  <a:lnTo>
                    <a:pt x="10240" y="8120"/>
                  </a:lnTo>
                  <a:cubicBezTo>
                    <a:pt x="10835" y="8120"/>
                    <a:pt x="11311" y="7644"/>
                    <a:pt x="11311" y="7049"/>
                  </a:cubicBezTo>
                  <a:lnTo>
                    <a:pt x="11311" y="1072"/>
                  </a:lnTo>
                  <a:cubicBezTo>
                    <a:pt x="11299" y="488"/>
                    <a:pt x="10823" y="0"/>
                    <a:pt x="10228" y="0"/>
                  </a:cubicBezTo>
                  <a:lnTo>
                    <a:pt x="2786" y="0"/>
                  </a:lnTo>
                  <a:cubicBezTo>
                    <a:pt x="2691" y="0"/>
                    <a:pt x="2620" y="72"/>
                    <a:pt x="2620" y="155"/>
                  </a:cubicBezTo>
                  <a:cubicBezTo>
                    <a:pt x="2620" y="250"/>
                    <a:pt x="2691" y="322"/>
                    <a:pt x="2786" y="322"/>
                  </a:cubicBezTo>
                  <a:lnTo>
                    <a:pt x="10228" y="322"/>
                  </a:lnTo>
                  <a:cubicBezTo>
                    <a:pt x="10621" y="322"/>
                    <a:pt x="10966" y="655"/>
                    <a:pt x="10966" y="1072"/>
                  </a:cubicBezTo>
                  <a:lnTo>
                    <a:pt x="10966" y="7049"/>
                  </a:lnTo>
                  <a:cubicBezTo>
                    <a:pt x="10966" y="7453"/>
                    <a:pt x="10645" y="7799"/>
                    <a:pt x="10228" y="7799"/>
                  </a:cubicBezTo>
                  <a:lnTo>
                    <a:pt x="1072" y="7799"/>
                  </a:lnTo>
                  <a:cubicBezTo>
                    <a:pt x="667" y="7799"/>
                    <a:pt x="322" y="7465"/>
                    <a:pt x="322" y="7049"/>
                  </a:cubicBezTo>
                  <a:lnTo>
                    <a:pt x="322" y="1072"/>
                  </a:lnTo>
                  <a:cubicBezTo>
                    <a:pt x="322" y="667"/>
                    <a:pt x="655" y="322"/>
                    <a:pt x="1072" y="322"/>
                  </a:cubicBezTo>
                  <a:lnTo>
                    <a:pt x="2108" y="322"/>
                  </a:lnTo>
                  <a:cubicBezTo>
                    <a:pt x="2203" y="322"/>
                    <a:pt x="2275" y="250"/>
                    <a:pt x="2275" y="155"/>
                  </a:cubicBezTo>
                  <a:cubicBezTo>
                    <a:pt x="2275" y="72"/>
                    <a:pt x="2203" y="0"/>
                    <a:pt x="2108"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831;p58">
              <a:extLst>
                <a:ext uri="{FF2B5EF4-FFF2-40B4-BE49-F238E27FC236}">
                  <a16:creationId xmlns:a16="http://schemas.microsoft.com/office/drawing/2014/main" id="{92CDFA50-A770-D55C-3163-93A0F1998D70}"/>
                </a:ext>
              </a:extLst>
            </p:cNvPr>
            <p:cNvSpPr/>
            <p:nvPr/>
          </p:nvSpPr>
          <p:spPr>
            <a:xfrm>
              <a:off x="1986877" y="2331313"/>
              <a:ext cx="302117" cy="184909"/>
            </a:xfrm>
            <a:custGeom>
              <a:avLst/>
              <a:gdLst/>
              <a:ahLst/>
              <a:cxnLst/>
              <a:rect l="l" t="t" r="r" b="b"/>
              <a:pathLst>
                <a:path w="9514" h="5823" extrusionOk="0">
                  <a:moveTo>
                    <a:pt x="179" y="0"/>
                  </a:moveTo>
                  <a:cubicBezTo>
                    <a:pt x="72" y="0"/>
                    <a:pt x="0" y="71"/>
                    <a:pt x="0" y="179"/>
                  </a:cubicBezTo>
                  <a:lnTo>
                    <a:pt x="0" y="5656"/>
                  </a:lnTo>
                  <a:cubicBezTo>
                    <a:pt x="0" y="5739"/>
                    <a:pt x="72" y="5822"/>
                    <a:pt x="167" y="5822"/>
                  </a:cubicBezTo>
                  <a:lnTo>
                    <a:pt x="9347" y="5822"/>
                  </a:lnTo>
                  <a:cubicBezTo>
                    <a:pt x="9430" y="5822"/>
                    <a:pt x="9513" y="5739"/>
                    <a:pt x="9513" y="5656"/>
                  </a:cubicBezTo>
                  <a:lnTo>
                    <a:pt x="9513" y="5072"/>
                  </a:lnTo>
                  <a:cubicBezTo>
                    <a:pt x="9513" y="4989"/>
                    <a:pt x="9430" y="4905"/>
                    <a:pt x="9347" y="4905"/>
                  </a:cubicBezTo>
                  <a:cubicBezTo>
                    <a:pt x="9252" y="4905"/>
                    <a:pt x="9180" y="4989"/>
                    <a:pt x="9180" y="5072"/>
                  </a:cubicBezTo>
                  <a:lnTo>
                    <a:pt x="9180" y="5489"/>
                  </a:lnTo>
                  <a:lnTo>
                    <a:pt x="346" y="5489"/>
                  </a:lnTo>
                  <a:lnTo>
                    <a:pt x="346" y="345"/>
                  </a:lnTo>
                  <a:lnTo>
                    <a:pt x="9180" y="345"/>
                  </a:lnTo>
                  <a:lnTo>
                    <a:pt x="9180" y="4405"/>
                  </a:lnTo>
                  <a:cubicBezTo>
                    <a:pt x="9168" y="4489"/>
                    <a:pt x="9240" y="4572"/>
                    <a:pt x="9347" y="4572"/>
                  </a:cubicBezTo>
                  <a:cubicBezTo>
                    <a:pt x="9430" y="4572"/>
                    <a:pt x="9513" y="4489"/>
                    <a:pt x="9513" y="4405"/>
                  </a:cubicBezTo>
                  <a:lnTo>
                    <a:pt x="9513" y="179"/>
                  </a:lnTo>
                  <a:cubicBezTo>
                    <a:pt x="9513" y="71"/>
                    <a:pt x="9430" y="0"/>
                    <a:pt x="9335" y="0"/>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9832;p58">
              <a:extLst>
                <a:ext uri="{FF2B5EF4-FFF2-40B4-BE49-F238E27FC236}">
                  <a16:creationId xmlns:a16="http://schemas.microsoft.com/office/drawing/2014/main" id="{B6E5BE5F-D5D6-5F7B-5D7C-A611FE70B599}"/>
                </a:ext>
              </a:extLst>
            </p:cNvPr>
            <p:cNvSpPr/>
            <p:nvPr/>
          </p:nvSpPr>
          <p:spPr>
            <a:xfrm>
              <a:off x="2131521" y="2526701"/>
              <a:ext cx="11908" cy="10638"/>
            </a:xfrm>
            <a:custGeom>
              <a:avLst/>
              <a:gdLst/>
              <a:ahLst/>
              <a:cxnLst/>
              <a:rect l="l" t="t" r="r" b="b"/>
              <a:pathLst>
                <a:path w="375" h="335" extrusionOk="0">
                  <a:moveTo>
                    <a:pt x="176" y="0"/>
                  </a:moveTo>
                  <a:cubicBezTo>
                    <a:pt x="167" y="0"/>
                    <a:pt x="158" y="1"/>
                    <a:pt x="148" y="3"/>
                  </a:cubicBezTo>
                  <a:cubicBezTo>
                    <a:pt x="77" y="26"/>
                    <a:pt x="17" y="86"/>
                    <a:pt x="17" y="157"/>
                  </a:cubicBezTo>
                  <a:cubicBezTo>
                    <a:pt x="1" y="258"/>
                    <a:pt x="95" y="334"/>
                    <a:pt x="186" y="334"/>
                  </a:cubicBezTo>
                  <a:cubicBezTo>
                    <a:pt x="225" y="334"/>
                    <a:pt x="263" y="320"/>
                    <a:pt x="291" y="288"/>
                  </a:cubicBezTo>
                  <a:cubicBezTo>
                    <a:pt x="375" y="229"/>
                    <a:pt x="375" y="145"/>
                    <a:pt x="327" y="86"/>
                  </a:cubicBezTo>
                  <a:cubicBezTo>
                    <a:pt x="296" y="34"/>
                    <a:pt x="238" y="0"/>
                    <a:pt x="176" y="0"/>
                  </a:cubicBezTo>
                  <a:close/>
                </a:path>
              </a:pathLst>
            </a:custGeom>
            <a:solidFill>
              <a:srgbClr val="00CF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 name="Grafik 27" descr="Ein Bild, das Schwarzweiß, Schwarz, Text, Design enthält.&#10;&#10;Automatisch generierte Beschreibung">
            <a:extLst>
              <a:ext uri="{FF2B5EF4-FFF2-40B4-BE49-F238E27FC236}">
                <a16:creationId xmlns:a16="http://schemas.microsoft.com/office/drawing/2014/main" id="{2F41C0D8-EEC5-0216-102A-2F0E500B6708}"/>
              </a:ext>
            </a:extLst>
          </p:cNvPr>
          <p:cNvPicPr>
            <a:picLocks noChangeAspect="1"/>
          </p:cNvPicPr>
          <p:nvPr/>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rcRect r="78096" b="63148"/>
          <a:stretch/>
        </p:blipFill>
        <p:spPr>
          <a:xfrm>
            <a:off x="1585195" y="1107289"/>
            <a:ext cx="1094525" cy="1294603"/>
          </a:xfrm>
          <a:prstGeom prst="rect">
            <a:avLst/>
          </a:prstGeom>
        </p:spPr>
      </p:pic>
      <p:pic>
        <p:nvPicPr>
          <p:cNvPr id="30" name="Grafik 29" descr="Ein Bild, das Schwarzweiß, Schwarz, Text, Design enthält.&#10;&#10;Automatisch generierte Beschreibung">
            <a:extLst>
              <a:ext uri="{FF2B5EF4-FFF2-40B4-BE49-F238E27FC236}">
                <a16:creationId xmlns:a16="http://schemas.microsoft.com/office/drawing/2014/main" id="{D1CF9513-3BC7-D24B-4635-DA65666020D6}"/>
              </a:ext>
            </a:extLst>
          </p:cNvPr>
          <p:cNvPicPr>
            <a:picLocks noChangeAspect="1"/>
          </p:cNvPicPr>
          <p:nvPr/>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Lst>
          </a:blip>
          <a:srcRect l="20446" t="37471" r="61244" b="35576"/>
          <a:stretch/>
        </p:blipFill>
        <p:spPr>
          <a:xfrm>
            <a:off x="6152690" y="1424616"/>
            <a:ext cx="944035" cy="977276"/>
          </a:xfrm>
          <a:prstGeom prst="rect">
            <a:avLst/>
          </a:prstGeom>
        </p:spPr>
      </p:pic>
      <p:pic>
        <p:nvPicPr>
          <p:cNvPr id="32" name="Grafik 31" descr="Ein Bild, das Schwarzweiß, Schwarz, Text, Design enthält.&#10;&#10;Automatisch generierte Beschreibung">
            <a:extLst>
              <a:ext uri="{FF2B5EF4-FFF2-40B4-BE49-F238E27FC236}">
                <a16:creationId xmlns:a16="http://schemas.microsoft.com/office/drawing/2014/main" id="{3CA2ADCC-9F54-0ACB-8B82-FC8A80A54539}"/>
              </a:ext>
            </a:extLst>
          </p:cNvPr>
          <p:cNvPicPr>
            <a:picLocks noChangeAspect="1"/>
          </p:cNvPicPr>
          <p:nvPr/>
        </p:nvPicPr>
        <p:blipFill>
          <a:blip r:embed="rId4">
            <a:duotone>
              <a:prstClr val="black"/>
              <a:schemeClr val="tx1">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Lst>
          </a:blip>
          <a:srcRect l="61358" r="18665" b="61870"/>
          <a:stretch/>
        </p:blipFill>
        <p:spPr>
          <a:xfrm>
            <a:off x="5657445" y="326875"/>
            <a:ext cx="1050234" cy="1409273"/>
          </a:xfrm>
          <a:prstGeom prst="rect">
            <a:avLst/>
          </a:prstGeom>
        </p:spPr>
      </p:pic>
      <p:pic>
        <p:nvPicPr>
          <p:cNvPr id="34" name="Grafik 33" descr="Ein Bild, das Schwarzweiß, Schwarz, Text, Design enthält.&#10;&#10;Automatisch generierte Beschreibung">
            <a:extLst>
              <a:ext uri="{FF2B5EF4-FFF2-40B4-BE49-F238E27FC236}">
                <a16:creationId xmlns:a16="http://schemas.microsoft.com/office/drawing/2014/main" id="{50EC8FBC-6B38-D7FB-EE17-9744BCEC929E}"/>
              </a:ext>
            </a:extLst>
          </p:cNvPr>
          <p:cNvPicPr>
            <a:picLocks noChangeAspect="1"/>
          </p:cNvPicPr>
          <p:nvPr/>
        </p:nvPicPr>
        <p:blipFill>
          <a:blip r:embed="rId5">
            <a:duotone>
              <a:prstClr val="black"/>
              <a:schemeClr val="tx1">
                <a:tint val="45000"/>
                <a:satMod val="400000"/>
              </a:schemeClr>
            </a:duotone>
            <a:extLst>
              <a:ext uri="{BEBA8EAE-BF5A-486C-A8C5-ECC9F3942E4B}">
                <a14:imgProps xmlns:a14="http://schemas.microsoft.com/office/drawing/2010/main">
                  <a14:imgLayer r:embed="rId3">
                    <a14:imgEffect>
                      <a14:brightnessContrast bright="-40000"/>
                    </a14:imgEffect>
                  </a14:imgLayer>
                </a14:imgProps>
              </a:ext>
            </a:extLst>
          </a:blip>
          <a:srcRect l="77550" t="66142"/>
          <a:stretch/>
        </p:blipFill>
        <p:spPr>
          <a:xfrm>
            <a:off x="2264968" y="559843"/>
            <a:ext cx="1203521" cy="1276030"/>
          </a:xfrm>
          <a:prstGeom prst="rect">
            <a:avLst/>
          </a:prstGeom>
        </p:spPr>
      </p:pic>
      <p:sp>
        <p:nvSpPr>
          <p:cNvPr id="35" name="Textfeld 34">
            <a:extLst>
              <a:ext uri="{FF2B5EF4-FFF2-40B4-BE49-F238E27FC236}">
                <a16:creationId xmlns:a16="http://schemas.microsoft.com/office/drawing/2014/main" id="{E2B6F005-46C0-B7A9-D14D-C656FC470E7B}"/>
              </a:ext>
            </a:extLst>
          </p:cNvPr>
          <p:cNvSpPr txBox="1"/>
          <p:nvPr/>
        </p:nvSpPr>
        <p:spPr>
          <a:xfrm>
            <a:off x="3041023" y="1916241"/>
            <a:ext cx="2857500" cy="1384995"/>
          </a:xfrm>
          <a:prstGeom prst="rect">
            <a:avLst/>
          </a:prstGeom>
          <a:noFill/>
        </p:spPr>
        <p:txBody>
          <a:bodyPr wrap="square" rtlCol="0">
            <a:spAutoFit/>
          </a:bodyPr>
          <a:lstStyle/>
          <a:p>
            <a:r>
              <a:rPr lang="de-DE" dirty="0">
                <a:solidFill>
                  <a:srgbClr val="00CFCC"/>
                </a:solidFill>
              </a:rPr>
              <a:t>Barrierefreiheit im Web bedeutet, dass Websites, Werkzeuge und Technologien so gestaltet und entwickelt werden, dass Menschen mit Behinderungen sie nutzen können.</a:t>
            </a:r>
            <a:endParaRPr lang="de-AT" dirty="0">
              <a:solidFill>
                <a:srgbClr val="00CFCC"/>
              </a:solidFill>
            </a:endParaRPr>
          </a:p>
        </p:txBody>
      </p:sp>
      <p:sp>
        <p:nvSpPr>
          <p:cNvPr id="5" name="Textfeld 4">
            <a:extLst>
              <a:ext uri="{FF2B5EF4-FFF2-40B4-BE49-F238E27FC236}">
                <a16:creationId xmlns:a16="http://schemas.microsoft.com/office/drawing/2014/main" id="{85906BD3-544C-894E-A062-D0E376FE7B04}"/>
              </a:ext>
            </a:extLst>
          </p:cNvPr>
          <p:cNvSpPr txBox="1"/>
          <p:nvPr/>
        </p:nvSpPr>
        <p:spPr>
          <a:xfrm>
            <a:off x="872694" y="850372"/>
            <a:ext cx="1492134" cy="492443"/>
          </a:xfrm>
          <a:prstGeom prst="rect">
            <a:avLst/>
          </a:prstGeom>
          <a:noFill/>
        </p:spPr>
        <p:txBody>
          <a:bodyPr wrap="square">
            <a:spAutoFit/>
          </a:bodyPr>
          <a:lstStyle/>
          <a:p>
            <a:r>
              <a:rPr lang="de-DE" sz="1300" dirty="0">
                <a:solidFill>
                  <a:schemeClr val="bg2">
                    <a:lumMod val="10000"/>
                    <a:lumOff val="90000"/>
                  </a:schemeClr>
                </a:solidFill>
                <a:latin typeface="Amasis MT Pro Light" panose="02040304050005020304" pitchFamily="18" charset="0"/>
              </a:rPr>
              <a:t>Web </a:t>
            </a:r>
            <a:r>
              <a:rPr lang="de-DE" sz="1300" dirty="0" err="1">
                <a:solidFill>
                  <a:schemeClr val="bg2">
                    <a:lumMod val="10000"/>
                    <a:lumOff val="90000"/>
                  </a:schemeClr>
                </a:solidFill>
                <a:latin typeface="Amasis MT Pro Light" panose="02040304050005020304" pitchFamily="18" charset="0"/>
              </a:rPr>
              <a:t>Accessibility</a:t>
            </a:r>
            <a:br>
              <a:rPr lang="de-DE" sz="1300" dirty="0">
                <a:solidFill>
                  <a:schemeClr val="bg2">
                    <a:lumMod val="10000"/>
                    <a:lumOff val="90000"/>
                  </a:schemeClr>
                </a:solidFill>
                <a:latin typeface="Amasis MT Pro Light" panose="02040304050005020304" pitchFamily="18" charset="0"/>
              </a:rPr>
            </a:br>
            <a:r>
              <a:rPr lang="de-DE" sz="1300" dirty="0">
                <a:solidFill>
                  <a:schemeClr val="bg2">
                    <a:lumMod val="10000"/>
                    <a:lumOff val="90000"/>
                  </a:schemeClr>
                </a:solidFill>
                <a:latin typeface="Amasis MT Pro Light" panose="02040304050005020304" pitchFamily="18" charset="0"/>
              </a:rPr>
              <a:t>(Barrierefreiheit)</a:t>
            </a:r>
            <a:endParaRPr lang="de-AT" sz="1300" dirty="0">
              <a:solidFill>
                <a:schemeClr val="bg2">
                  <a:lumMod val="10000"/>
                  <a:lumOff val="90000"/>
                </a:schemeClr>
              </a:solidFill>
              <a:latin typeface="Amasis MT Pro Light" panose="02040304050005020304" pitchFamily="18" charset="0"/>
            </a:endParaRPr>
          </a:p>
        </p:txBody>
      </p:sp>
      <p:grpSp>
        <p:nvGrpSpPr>
          <p:cNvPr id="6" name="Google Shape;1767;p52">
            <a:extLst>
              <a:ext uri="{FF2B5EF4-FFF2-40B4-BE49-F238E27FC236}">
                <a16:creationId xmlns:a16="http://schemas.microsoft.com/office/drawing/2014/main" id="{DC0DC974-5D34-0D3F-99AE-2F3BEBAC4C7D}"/>
              </a:ext>
            </a:extLst>
          </p:cNvPr>
          <p:cNvGrpSpPr/>
          <p:nvPr/>
        </p:nvGrpSpPr>
        <p:grpSpPr>
          <a:xfrm>
            <a:off x="-4646" y="763373"/>
            <a:ext cx="2369474" cy="583585"/>
            <a:chOff x="2013045" y="4813233"/>
            <a:chExt cx="921986" cy="228854"/>
          </a:xfrm>
        </p:grpSpPr>
        <p:sp>
          <p:nvSpPr>
            <p:cNvPr id="7" name="Google Shape;1768;p52">
              <a:extLst>
                <a:ext uri="{FF2B5EF4-FFF2-40B4-BE49-F238E27FC236}">
                  <a16:creationId xmlns:a16="http://schemas.microsoft.com/office/drawing/2014/main" id="{CD3F5582-C2CB-428C-303E-DE84AD535DB4}"/>
                </a:ext>
              </a:extLst>
            </p:cNvPr>
            <p:cNvSpPr/>
            <p:nvPr/>
          </p:nvSpPr>
          <p:spPr>
            <a:xfrm>
              <a:off x="2013045" y="4867370"/>
              <a:ext cx="921986" cy="174718"/>
            </a:xfrm>
            <a:custGeom>
              <a:avLst/>
              <a:gdLst/>
              <a:ahLst/>
              <a:cxnLst/>
              <a:rect l="l" t="t" r="r" b="b"/>
              <a:pathLst>
                <a:path w="138801" h="26303" fill="none" extrusionOk="0">
                  <a:moveTo>
                    <a:pt x="0" y="18153"/>
                  </a:moveTo>
                  <a:lnTo>
                    <a:pt x="0" y="26303"/>
                  </a:lnTo>
                  <a:lnTo>
                    <a:pt x="138800" y="26303"/>
                  </a:lnTo>
                  <a:lnTo>
                    <a:pt x="138800" y="0"/>
                  </a:lnTo>
                  <a:lnTo>
                    <a:pt x="38405" y="0"/>
                  </a:lnTo>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69;p52">
              <a:extLst>
                <a:ext uri="{FF2B5EF4-FFF2-40B4-BE49-F238E27FC236}">
                  <a16:creationId xmlns:a16="http://schemas.microsoft.com/office/drawing/2014/main" id="{396A30B5-DC3A-D437-7209-7DC0E045D98F}"/>
                </a:ext>
              </a:extLst>
            </p:cNvPr>
            <p:cNvSpPr/>
            <p:nvPr/>
          </p:nvSpPr>
          <p:spPr>
            <a:xfrm>
              <a:off x="2013045" y="4813233"/>
              <a:ext cx="316628" cy="174718"/>
            </a:xfrm>
            <a:custGeom>
              <a:avLst/>
              <a:gdLst/>
              <a:ahLst/>
              <a:cxnLst/>
              <a:rect l="l" t="t" r="r" b="b"/>
              <a:pathLst>
                <a:path w="47667" h="26303" fill="none" extrusionOk="0">
                  <a:moveTo>
                    <a:pt x="0" y="0"/>
                  </a:moveTo>
                  <a:lnTo>
                    <a:pt x="0" y="26303"/>
                  </a:lnTo>
                  <a:lnTo>
                    <a:pt x="47666" y="26303"/>
                  </a:lnTo>
                  <a:lnTo>
                    <a:pt x="34453" y="0"/>
                  </a:ln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Grafik 9" descr="Ein Bild, das Logo, Grafiken, Schrift, weiß enthält.&#10;&#10;Automatisch generierte Beschreibung">
            <a:extLst>
              <a:ext uri="{FF2B5EF4-FFF2-40B4-BE49-F238E27FC236}">
                <a16:creationId xmlns:a16="http://schemas.microsoft.com/office/drawing/2014/main" id="{5E4601F2-7576-EAD9-8AFF-8C280A2DDEDE}"/>
              </a:ext>
            </a:extLst>
          </p:cNvPr>
          <p:cNvPicPr>
            <a:picLocks noChangeAspect="1"/>
          </p:cNvPicPr>
          <p:nvPr/>
        </p:nvPicPr>
        <p:blipFill>
          <a:blip r:embed="rId6"/>
          <a:stretch>
            <a:fillRect/>
          </a:stretch>
        </p:blipFill>
        <p:spPr>
          <a:xfrm>
            <a:off x="7589527" y="-154648"/>
            <a:ext cx="1363557" cy="1363557"/>
          </a:xfrm>
          <a:prstGeom prst="rect">
            <a:avLst/>
          </a:prstGeom>
        </p:spPr>
      </p:pic>
    </p:spTree>
    <p:extLst>
      <p:ext uri="{BB962C8B-B14F-4D97-AF65-F5344CB8AC3E}">
        <p14:creationId xmlns:p14="http://schemas.microsoft.com/office/powerpoint/2010/main" val="2098172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F152A939-1EB2-12C6-6D28-20A7EF1FDEB6}"/>
              </a:ext>
            </a:extLst>
          </p:cNvPr>
          <p:cNvSpPr/>
          <p:nvPr/>
        </p:nvSpPr>
        <p:spPr>
          <a:xfrm>
            <a:off x="0" y="13756"/>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B0828BA3-1DDE-0E41-7398-D0E8D66507E7}"/>
              </a:ext>
            </a:extLst>
          </p:cNvPr>
          <p:cNvSpPr txBox="1"/>
          <p:nvPr/>
        </p:nvSpPr>
        <p:spPr>
          <a:xfrm>
            <a:off x="65649" y="139888"/>
            <a:ext cx="5500217" cy="307777"/>
          </a:xfrm>
          <a:prstGeom prst="rect">
            <a:avLst/>
          </a:prstGeom>
          <a:noFill/>
        </p:spPr>
        <p:txBody>
          <a:bodyPr wrap="square">
            <a:spAutoFit/>
          </a:bodyPr>
          <a:lstStyle/>
          <a:p>
            <a:r>
              <a:rPr lang="en-AT" altLang="en-AT" dirty="0">
                <a:solidFill>
                  <a:srgbClr val="00CFCC"/>
                </a:solidFill>
                <a:latin typeface="Amasis MT Pro Light" panose="02040304050005020304" pitchFamily="18" charset="0"/>
              </a:rPr>
              <a:t>SEO vs WCAG vs</a:t>
            </a:r>
            <a:r>
              <a:rPr lang="de-AT" altLang="en-AT" dirty="0">
                <a:solidFill>
                  <a:srgbClr val="00CFCC"/>
                </a:solidFill>
                <a:latin typeface="Amasis MT Pro Light" panose="02040304050005020304" pitchFamily="18" charset="0"/>
              </a:rPr>
              <a:t> </a:t>
            </a:r>
            <a:r>
              <a:rPr lang="en-AT" altLang="en-AT" dirty="0">
                <a:solidFill>
                  <a:srgbClr val="00CFCC"/>
                </a:solidFill>
                <a:latin typeface="Amasis MT Pro Light" panose="02040304050005020304" pitchFamily="18" charset="0"/>
              </a:rPr>
              <a:t>WAI-ARIA</a:t>
            </a:r>
            <a:endParaRPr lang="de-AT" dirty="0">
              <a:solidFill>
                <a:srgbClr val="00CFCC"/>
              </a:solidFill>
              <a:latin typeface="Amasis MT Pro Light" panose="02040304050005020304" pitchFamily="18" charset="0"/>
            </a:endParaRPr>
          </a:p>
        </p:txBody>
      </p:sp>
      <p:graphicFrame>
        <p:nvGraphicFramePr>
          <p:cNvPr id="8" name="Tabelle 7">
            <a:extLst>
              <a:ext uri="{FF2B5EF4-FFF2-40B4-BE49-F238E27FC236}">
                <a16:creationId xmlns:a16="http://schemas.microsoft.com/office/drawing/2014/main" id="{23B83765-E421-5686-E60F-E302A124C0BE}"/>
              </a:ext>
            </a:extLst>
          </p:cNvPr>
          <p:cNvGraphicFramePr>
            <a:graphicFrameLocks noGrp="1"/>
          </p:cNvGraphicFramePr>
          <p:nvPr>
            <p:extLst>
              <p:ext uri="{D42A27DB-BD31-4B8C-83A1-F6EECF244321}">
                <p14:modId xmlns:p14="http://schemas.microsoft.com/office/powerpoint/2010/main" val="1204369789"/>
              </p:ext>
            </p:extLst>
          </p:nvPr>
        </p:nvGraphicFramePr>
        <p:xfrm>
          <a:off x="289034" y="1060007"/>
          <a:ext cx="8565932" cy="3392534"/>
        </p:xfrm>
        <a:graphic>
          <a:graphicData uri="http://schemas.openxmlformats.org/drawingml/2006/table">
            <a:tbl>
              <a:tblPr firstRow="1" bandRow="1">
                <a:tableStyleId>{0D81B237-B720-4363-9903-D0F37AB810E4}</a:tableStyleId>
              </a:tblPr>
              <a:tblGrid>
                <a:gridCol w="1959586">
                  <a:extLst>
                    <a:ext uri="{9D8B030D-6E8A-4147-A177-3AD203B41FA5}">
                      <a16:colId xmlns:a16="http://schemas.microsoft.com/office/drawing/2014/main" val="2663641952"/>
                    </a:ext>
                  </a:extLst>
                </a:gridCol>
                <a:gridCol w="2200517">
                  <a:extLst>
                    <a:ext uri="{9D8B030D-6E8A-4147-A177-3AD203B41FA5}">
                      <a16:colId xmlns:a16="http://schemas.microsoft.com/office/drawing/2014/main" val="1380041323"/>
                    </a:ext>
                  </a:extLst>
                </a:gridCol>
                <a:gridCol w="2203714">
                  <a:extLst>
                    <a:ext uri="{9D8B030D-6E8A-4147-A177-3AD203B41FA5}">
                      <a16:colId xmlns:a16="http://schemas.microsoft.com/office/drawing/2014/main" val="1781151255"/>
                    </a:ext>
                  </a:extLst>
                </a:gridCol>
                <a:gridCol w="2202115">
                  <a:extLst>
                    <a:ext uri="{9D8B030D-6E8A-4147-A177-3AD203B41FA5}">
                      <a16:colId xmlns:a16="http://schemas.microsoft.com/office/drawing/2014/main" val="2001134753"/>
                    </a:ext>
                  </a:extLst>
                </a:gridCol>
              </a:tblGrid>
              <a:tr h="175787">
                <a:tc>
                  <a:txBody>
                    <a:bodyPr/>
                    <a:lstStyle/>
                    <a:p>
                      <a:r>
                        <a:rPr lang="de-AT" sz="1200" dirty="0"/>
                        <a:t>INFO</a:t>
                      </a:r>
                    </a:p>
                  </a:txBody>
                  <a:tcPr>
                    <a:solidFill>
                      <a:srgbClr val="00CFCC"/>
                    </a:solidFill>
                  </a:tcPr>
                </a:tc>
                <a:tc>
                  <a:txBody>
                    <a:bodyPr/>
                    <a:lstStyle/>
                    <a:p>
                      <a:r>
                        <a:rPr lang="de-AT" sz="1200" dirty="0"/>
                        <a:t>SEO</a:t>
                      </a:r>
                    </a:p>
                  </a:txBody>
                  <a:tcPr>
                    <a:solidFill>
                      <a:srgbClr val="00CFCC"/>
                    </a:solidFill>
                  </a:tcPr>
                </a:tc>
                <a:tc>
                  <a:txBody>
                    <a:bodyPr/>
                    <a:lstStyle/>
                    <a:p>
                      <a:r>
                        <a:rPr lang="de-AT" sz="1200" dirty="0"/>
                        <a:t>WCAG</a:t>
                      </a:r>
                    </a:p>
                  </a:txBody>
                  <a:tcPr>
                    <a:solidFill>
                      <a:srgbClr val="00CFCC"/>
                    </a:solidFill>
                  </a:tcPr>
                </a:tc>
                <a:tc>
                  <a:txBody>
                    <a:bodyPr/>
                    <a:lstStyle/>
                    <a:p>
                      <a:r>
                        <a:rPr lang="de-AT" sz="1200" dirty="0"/>
                        <a:t>ARIA</a:t>
                      </a:r>
                    </a:p>
                  </a:txBody>
                  <a:tcPr>
                    <a:solidFill>
                      <a:srgbClr val="00CFCC"/>
                    </a:solidFill>
                  </a:tcPr>
                </a:tc>
                <a:extLst>
                  <a:ext uri="{0D108BD9-81ED-4DB2-BD59-A6C34878D82A}">
                    <a16:rowId xmlns:a16="http://schemas.microsoft.com/office/drawing/2014/main" val="2564173301"/>
                  </a:ext>
                </a:extLst>
              </a:tr>
              <a:tr h="1160196">
                <a:tc>
                  <a:txBody>
                    <a:bodyPr/>
                    <a:lstStyle/>
                    <a:p>
                      <a:r>
                        <a:rPr lang="de-AT" sz="1200" dirty="0">
                          <a:latin typeface="Amasis MT Pro Light" panose="02040304050005020304" pitchFamily="18" charset="0"/>
                        </a:rPr>
                        <a:t>Wofür ist</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SEO (Search Engine </a:t>
                      </a:r>
                      <a:r>
                        <a:rPr lang="de-DE" sz="1200" dirty="0" err="1">
                          <a:solidFill>
                            <a:schemeClr val="bg2">
                              <a:lumMod val="10000"/>
                              <a:lumOff val="90000"/>
                            </a:schemeClr>
                          </a:solidFill>
                          <a:latin typeface="Amasis MT Pro Light" panose="02040304050005020304" pitchFamily="18" charset="0"/>
                        </a:rPr>
                        <a:t>Optimization</a:t>
                      </a:r>
                      <a:r>
                        <a:rPr lang="de-DE" sz="1200" dirty="0">
                          <a:solidFill>
                            <a:schemeClr val="bg2">
                              <a:lumMod val="10000"/>
                              <a:lumOff val="90000"/>
                            </a:schemeClr>
                          </a:solidFill>
                          <a:latin typeface="Amasis MT Pro Light" panose="02040304050005020304" pitchFamily="18" charset="0"/>
                        </a:rPr>
                        <a:t>) sorgt dafür, dass Webseiten von Suchmaschinen gefunden, korrekt indiziert (</a:t>
                      </a:r>
                      <a:r>
                        <a:rPr lang="de-DE" sz="1200" dirty="0" err="1">
                          <a:solidFill>
                            <a:schemeClr val="bg2">
                              <a:lumMod val="10000"/>
                              <a:lumOff val="90000"/>
                            </a:schemeClr>
                          </a:solidFill>
                          <a:latin typeface="Amasis MT Pro Light" panose="02040304050005020304" pitchFamily="18" charset="0"/>
                        </a:rPr>
                        <a:t>Indexing</a:t>
                      </a:r>
                      <a:r>
                        <a:rPr lang="de-DE" sz="1200" dirty="0">
                          <a:solidFill>
                            <a:schemeClr val="bg2">
                              <a:lumMod val="10000"/>
                              <a:lumOff val="90000"/>
                            </a:schemeClr>
                          </a:solidFill>
                          <a:latin typeface="Amasis MT Pro Light" panose="02040304050005020304" pitchFamily="18" charset="0"/>
                        </a:rPr>
                        <a:t>) und optimal bewertet werden, um ihre Sichtbarkeit und Reichweite zu verbessern.</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Sorgt dafür, dass die Website für alle, auch für Menschen mit Behinderungen, leicht nutzbar ist</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Fügt HTML-Attribute hinzu, damit Hilfstechnologien dynamische Inhalte verstehen können.</a:t>
                      </a:r>
                      <a:endParaRPr lang="de-AT" sz="1200" dirty="0">
                        <a:solidFill>
                          <a:schemeClr val="bg2">
                            <a:lumMod val="10000"/>
                            <a:lumOff val="90000"/>
                          </a:schemeClr>
                        </a:solidFill>
                        <a:latin typeface="Amasis MT Pro Light" panose="02040304050005020304" pitchFamily="18" charset="0"/>
                      </a:endParaRPr>
                    </a:p>
                  </a:txBody>
                  <a:tcPr/>
                </a:tc>
                <a:extLst>
                  <a:ext uri="{0D108BD9-81ED-4DB2-BD59-A6C34878D82A}">
                    <a16:rowId xmlns:a16="http://schemas.microsoft.com/office/drawing/2014/main" val="1188830301"/>
                  </a:ext>
                </a:extLst>
              </a:tr>
              <a:tr h="832520">
                <a:tc>
                  <a:txBody>
                    <a:bodyPr/>
                    <a:lstStyle/>
                    <a:p>
                      <a:r>
                        <a:rPr lang="de-AT" sz="1200" dirty="0">
                          <a:latin typeface="Amasis MT Pro Light" panose="02040304050005020304" pitchFamily="18" charset="0"/>
                        </a:rPr>
                        <a:t>Problem </a:t>
                      </a:r>
                      <a:r>
                        <a:rPr lang="de-AT" sz="1200" dirty="0" err="1">
                          <a:latin typeface="Amasis MT Pro Light" panose="02040304050005020304" pitchFamily="18" charset="0"/>
                        </a:rPr>
                        <a:t>Zulösen</a:t>
                      </a:r>
                      <a:endParaRPr lang="de-AT" sz="1200" dirty="0">
                        <a:latin typeface="Amasis MT Pro Light" panose="02040304050005020304" pitchFamily="18" charset="0"/>
                      </a:endParaRP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rPr>
                        <a:t>mehr Besucher auf natürliche Weise anzuziehen</a:t>
                      </a:r>
                      <a:endParaRPr lang="de-AT" sz="1200" dirty="0">
                        <a:solidFill>
                          <a:schemeClr val="bg2">
                            <a:lumMod val="10000"/>
                            <a:lumOff val="90000"/>
                          </a:schemeClr>
                        </a:solidFill>
                        <a:latin typeface="Amasis MT Pro Light" panose="020403040500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Zugänglichkeit auf der gesamten Website zu gewährleisten</a:t>
                      </a:r>
                    </a:p>
                    <a:p>
                      <a:endParaRPr lang="de-AT" sz="12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Barrierefreiheit bei dynamischen Webanwendungen erhöhen, besonders für Screenreader.</a:t>
                      </a:r>
                    </a:p>
                    <a:p>
                      <a:endParaRPr lang="de-AT" sz="1200" dirty="0"/>
                    </a:p>
                  </a:txBody>
                  <a:tcPr/>
                </a:tc>
                <a:extLst>
                  <a:ext uri="{0D108BD9-81ED-4DB2-BD59-A6C34878D82A}">
                    <a16:rowId xmlns:a16="http://schemas.microsoft.com/office/drawing/2014/main" val="1130025789"/>
                  </a:ext>
                </a:extLst>
              </a:tr>
              <a:tr h="914094">
                <a:tc>
                  <a:txBody>
                    <a:bodyPr/>
                    <a:lstStyle/>
                    <a:p>
                      <a:r>
                        <a:rPr lang="de-AT" sz="1200" dirty="0">
                          <a:latin typeface="Amasis MT Pro Light" panose="02040304050005020304" pitchFamily="18" charset="0"/>
                        </a:rPr>
                        <a:t>Für wen</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b="0" i="0" u="none" strike="noStrike" cap="none" dirty="0">
                          <a:solidFill>
                            <a:schemeClr val="bg2">
                              <a:lumMod val="10000"/>
                              <a:lumOff val="90000"/>
                            </a:schemeClr>
                          </a:solidFill>
                          <a:latin typeface="Amasis MT Pro Light" panose="02040304050005020304" pitchFamily="18" charset="0"/>
                          <a:cs typeface="Arial"/>
                          <a:sym typeface="Arial"/>
                        </a:rPr>
                        <a:t>Alle Unternehmen, die Interesse an mehr Traffic haben.</a:t>
                      </a:r>
                    </a:p>
                    <a:p>
                      <a:endParaRPr lang="de-AT" sz="12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DE" sz="1200" dirty="0">
                          <a:solidFill>
                            <a:schemeClr val="bg2">
                              <a:lumMod val="10000"/>
                              <a:lumOff val="90000"/>
                            </a:schemeClr>
                          </a:solidFill>
                          <a:latin typeface="Amasis MT Pro Light" panose="02040304050005020304" pitchFamily="18" charset="0"/>
                          <a:ea typeface="Albert Sans Medium"/>
                          <a:cs typeface="Albert Sans Medium"/>
                          <a:sym typeface="Albert Sans Medium"/>
                        </a:rPr>
                        <a:t>Für alle die Einschränkungen haben</a:t>
                      </a:r>
                    </a:p>
                    <a:p>
                      <a:endParaRPr lang="de-AT" sz="1200" dirty="0"/>
                    </a:p>
                  </a:txBody>
                  <a:tcPr/>
                </a:tc>
                <a:tc>
                  <a:txBody>
                    <a:bodyPr/>
                    <a:lstStyle/>
                    <a:p>
                      <a:r>
                        <a:rPr lang="de-DE" sz="1200" dirty="0">
                          <a:solidFill>
                            <a:schemeClr val="bg2">
                              <a:lumMod val="10000"/>
                              <a:lumOff val="90000"/>
                            </a:schemeClr>
                          </a:solidFill>
                          <a:latin typeface="Amasis MT Pro Light" panose="02040304050005020304" pitchFamily="18" charset="0"/>
                        </a:rPr>
                        <a:t>Entwickler, die interaktive Inhalte für Screenreader und </a:t>
                      </a:r>
                      <a:r>
                        <a:rPr lang="de-DE" sz="1200" dirty="0" err="1">
                          <a:solidFill>
                            <a:schemeClr val="bg2">
                              <a:lumMod val="10000"/>
                              <a:lumOff val="90000"/>
                            </a:schemeClr>
                          </a:solidFill>
                          <a:latin typeface="Amasis MT Pro Light" panose="02040304050005020304" pitchFamily="18" charset="0"/>
                        </a:rPr>
                        <a:t>assistive</a:t>
                      </a:r>
                      <a:r>
                        <a:rPr lang="de-DE" sz="1200" dirty="0">
                          <a:solidFill>
                            <a:schemeClr val="bg2">
                              <a:lumMod val="10000"/>
                              <a:lumOff val="90000"/>
                            </a:schemeClr>
                          </a:solidFill>
                          <a:latin typeface="Amasis MT Pro Light" panose="02040304050005020304" pitchFamily="18" charset="0"/>
                        </a:rPr>
                        <a:t> Technologien barrierefrei gestalten möchten</a:t>
                      </a:r>
                      <a:endParaRPr lang="de-AT" sz="1200" dirty="0">
                        <a:solidFill>
                          <a:schemeClr val="bg2">
                            <a:lumMod val="10000"/>
                            <a:lumOff val="90000"/>
                          </a:schemeClr>
                        </a:solidFill>
                        <a:latin typeface="Amasis MT Pro Light" panose="02040304050005020304" pitchFamily="18" charset="0"/>
                      </a:endParaRPr>
                    </a:p>
                  </a:txBody>
                  <a:tcPr/>
                </a:tc>
                <a:extLst>
                  <a:ext uri="{0D108BD9-81ED-4DB2-BD59-A6C34878D82A}">
                    <a16:rowId xmlns:a16="http://schemas.microsoft.com/office/drawing/2014/main" val="330414254"/>
                  </a:ext>
                </a:extLst>
              </a:tr>
            </a:tbl>
          </a:graphicData>
        </a:graphic>
      </p:graphicFrame>
      <p:pic>
        <p:nvPicPr>
          <p:cNvPr id="3" name="Grafik 2" descr="Ein Bild, das Logo, Grafiken, Schrift, weiß enthält.&#10;&#10;Automatisch generierte Beschreibung">
            <a:extLst>
              <a:ext uri="{FF2B5EF4-FFF2-40B4-BE49-F238E27FC236}">
                <a16:creationId xmlns:a16="http://schemas.microsoft.com/office/drawing/2014/main" id="{3C780492-68F8-A5DF-3780-ED741A1A91D4}"/>
              </a:ext>
            </a:extLst>
          </p:cNvPr>
          <p:cNvPicPr>
            <a:picLocks noChangeAspect="1"/>
          </p:cNvPicPr>
          <p:nvPr/>
        </p:nvPicPr>
        <p:blipFill>
          <a:blip r:embed="rId2"/>
          <a:stretch>
            <a:fillRect/>
          </a:stretch>
        </p:blipFill>
        <p:spPr>
          <a:xfrm>
            <a:off x="7568653" y="-105920"/>
            <a:ext cx="1286313" cy="1286313"/>
          </a:xfrm>
          <a:prstGeom prst="rect">
            <a:avLst/>
          </a:prstGeom>
        </p:spPr>
      </p:pic>
    </p:spTree>
    <p:extLst>
      <p:ext uri="{BB962C8B-B14F-4D97-AF65-F5344CB8AC3E}">
        <p14:creationId xmlns:p14="http://schemas.microsoft.com/office/powerpoint/2010/main" val="203510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017616D7-F86C-2CE6-3359-EB72FC50136E}"/>
              </a:ext>
            </a:extLst>
          </p:cNvPr>
          <p:cNvSpPr/>
          <p:nvPr/>
        </p:nvSpPr>
        <p:spPr>
          <a:xfrm>
            <a:off x="-1" y="250241"/>
            <a:ext cx="311785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00FCCFD2-F3E0-9680-974C-BEF01091C407}"/>
              </a:ext>
            </a:extLst>
          </p:cNvPr>
          <p:cNvSpPr txBox="1"/>
          <p:nvPr/>
        </p:nvSpPr>
        <p:spPr>
          <a:xfrm>
            <a:off x="-3174" y="358092"/>
            <a:ext cx="4575174" cy="307777"/>
          </a:xfrm>
          <a:prstGeom prst="rect">
            <a:avLst/>
          </a:prstGeom>
          <a:noFill/>
        </p:spPr>
        <p:txBody>
          <a:bodyPr wrap="square">
            <a:spAutoFit/>
          </a:bodyPr>
          <a:lstStyle/>
          <a:p>
            <a:r>
              <a:rPr lang="en-US" sz="1400" dirty="0">
                <a:solidFill>
                  <a:schemeClr val="accent5">
                    <a:lumMod val="60000"/>
                    <a:lumOff val="40000"/>
                  </a:schemeClr>
                </a:solidFill>
                <a:latin typeface="Amasis MT Pro Light" panose="02040304050005020304" pitchFamily="18" charset="0"/>
              </a:rPr>
              <a:t>Forms Aufbau und Forms Accessibility</a:t>
            </a:r>
            <a:endParaRPr lang="de-AT" dirty="0">
              <a:solidFill>
                <a:schemeClr val="accent5">
                  <a:lumMod val="60000"/>
                  <a:lumOff val="40000"/>
                </a:schemeClr>
              </a:solidFill>
            </a:endParaRPr>
          </a:p>
        </p:txBody>
      </p:sp>
      <p:sp>
        <p:nvSpPr>
          <p:cNvPr id="6" name="Textfeld 5">
            <a:extLst>
              <a:ext uri="{FF2B5EF4-FFF2-40B4-BE49-F238E27FC236}">
                <a16:creationId xmlns:a16="http://schemas.microsoft.com/office/drawing/2014/main" id="{4D4BCB2E-56A6-5C31-93CC-90556160D066}"/>
              </a:ext>
            </a:extLst>
          </p:cNvPr>
          <p:cNvSpPr txBox="1"/>
          <p:nvPr/>
        </p:nvSpPr>
        <p:spPr>
          <a:xfrm>
            <a:off x="66676" y="2341641"/>
            <a:ext cx="3051174" cy="1600438"/>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Es ist </a:t>
            </a:r>
            <a:r>
              <a:rPr lang="de-DE" sz="1400" dirty="0" err="1">
                <a:solidFill>
                  <a:schemeClr val="accent5">
                    <a:lumMod val="40000"/>
                    <a:lumOff val="60000"/>
                  </a:schemeClr>
                </a:solidFill>
                <a:latin typeface="Amasis MT Pro Light" panose="02040304050005020304" pitchFamily="18" charset="0"/>
              </a:rPr>
              <a:t>wichtig,weil</a:t>
            </a:r>
            <a:r>
              <a:rPr lang="de-DE" sz="1400" dirty="0">
                <a:solidFill>
                  <a:schemeClr val="accent5">
                    <a:lumMod val="40000"/>
                    <a:lumOff val="60000"/>
                  </a:schemeClr>
                </a:solidFill>
                <a:latin typeface="Amasis MT Pro Light" panose="02040304050005020304" pitchFamily="18" charset="0"/>
              </a:rPr>
              <a:t> Formularfelder korrekt zu gruppieren (</a:t>
            </a:r>
            <a:r>
              <a:rPr lang="de-DE" sz="1400" dirty="0" err="1">
                <a:solidFill>
                  <a:schemeClr val="accent5">
                    <a:lumMod val="40000"/>
                    <a:lumOff val="60000"/>
                  </a:schemeClr>
                </a:solidFill>
                <a:latin typeface="Amasis MT Pro Light" panose="02040304050005020304" pitchFamily="18" charset="0"/>
              </a:rPr>
              <a:t>fieldset</a:t>
            </a:r>
            <a:r>
              <a:rPr lang="de-DE" sz="1400" dirty="0">
                <a:solidFill>
                  <a:schemeClr val="accent5">
                    <a:lumMod val="40000"/>
                    <a:lumOff val="60000"/>
                  </a:schemeClr>
                </a:solidFill>
                <a:latin typeface="Amasis MT Pro Light" panose="02040304050005020304" pitchFamily="18" charset="0"/>
              </a:rPr>
              <a:t>) und mit Labels zu versehen, damit </a:t>
            </a:r>
            <a:r>
              <a:rPr lang="de-DE" sz="1400" dirty="0" err="1">
                <a:solidFill>
                  <a:schemeClr val="accent5">
                    <a:lumMod val="40000"/>
                    <a:lumOff val="60000"/>
                  </a:schemeClr>
                </a:solidFill>
                <a:latin typeface="Amasis MT Pro Light" panose="02040304050005020304" pitchFamily="18" charset="0"/>
              </a:rPr>
              <a:t>assistive</a:t>
            </a:r>
            <a:r>
              <a:rPr lang="de-DE" sz="1400" dirty="0">
                <a:solidFill>
                  <a:schemeClr val="accent5">
                    <a:lumMod val="40000"/>
                    <a:lumOff val="60000"/>
                  </a:schemeClr>
                </a:solidFill>
                <a:latin typeface="Amasis MT Pro Light" panose="02040304050005020304" pitchFamily="18" charset="0"/>
              </a:rPr>
              <a:t> Technologien diese verstehen können. Der </a:t>
            </a:r>
            <a:r>
              <a:rPr lang="de-DE" sz="1400" dirty="0" err="1">
                <a:solidFill>
                  <a:schemeClr val="accent5">
                    <a:lumMod val="40000"/>
                    <a:lumOff val="60000"/>
                  </a:schemeClr>
                </a:solidFill>
                <a:latin typeface="Amasis MT Pro Light" panose="02040304050005020304" pitchFamily="18" charset="0"/>
              </a:rPr>
              <a:t>tabindex</a:t>
            </a:r>
            <a:r>
              <a:rPr lang="de-DE" sz="1400" dirty="0">
                <a:solidFill>
                  <a:schemeClr val="accent5">
                    <a:lumMod val="40000"/>
                    <a:lumOff val="60000"/>
                  </a:schemeClr>
                </a:solidFill>
                <a:latin typeface="Amasis MT Pro Light" panose="02040304050005020304" pitchFamily="18" charset="0"/>
              </a:rPr>
              <a:t> steuert</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die Reihenfolge der Tabulatornavigation.</a:t>
            </a:r>
          </a:p>
        </p:txBody>
      </p:sp>
      <p:sp>
        <p:nvSpPr>
          <p:cNvPr id="8" name="Textfeld 7">
            <a:extLst>
              <a:ext uri="{FF2B5EF4-FFF2-40B4-BE49-F238E27FC236}">
                <a16:creationId xmlns:a16="http://schemas.microsoft.com/office/drawing/2014/main" id="{0FB5C4C2-4D4B-6D4C-111C-B276F5D380A3}"/>
              </a:ext>
            </a:extLst>
          </p:cNvPr>
          <p:cNvSpPr txBox="1"/>
          <p:nvPr/>
        </p:nvSpPr>
        <p:spPr>
          <a:xfrm>
            <a:off x="3206750" y="2341641"/>
            <a:ext cx="3165475"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GET sendet Daten in der URL, während POST die sicherere Methode für</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vertrauliche Informationen ist, da die Daten im Body der Anfrage gesendet werden.</a:t>
            </a:r>
          </a:p>
        </p:txBody>
      </p:sp>
      <p:sp>
        <p:nvSpPr>
          <p:cNvPr id="10" name="Textfeld 9">
            <a:extLst>
              <a:ext uri="{FF2B5EF4-FFF2-40B4-BE49-F238E27FC236}">
                <a16:creationId xmlns:a16="http://schemas.microsoft.com/office/drawing/2014/main" id="{0F8CCA82-5040-1F4E-6175-48E3616BEF41}"/>
              </a:ext>
            </a:extLst>
          </p:cNvPr>
          <p:cNvSpPr txBox="1"/>
          <p:nvPr/>
        </p:nvSpPr>
        <p:spPr>
          <a:xfrm>
            <a:off x="6477001" y="2341641"/>
            <a:ext cx="2774950" cy="954107"/>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ARIA-Rollen können verwendet werden, um die Zugänglichkeit</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von Formularen für Menschen mit Behinderungen zu verbessern.</a:t>
            </a:r>
          </a:p>
        </p:txBody>
      </p:sp>
      <p:sp>
        <p:nvSpPr>
          <p:cNvPr id="12" name="Textfeld 11">
            <a:extLst>
              <a:ext uri="{FF2B5EF4-FFF2-40B4-BE49-F238E27FC236}">
                <a16:creationId xmlns:a16="http://schemas.microsoft.com/office/drawing/2014/main" id="{41F1534E-386A-F54A-E4ED-0162B0149AC8}"/>
              </a:ext>
            </a:extLst>
          </p:cNvPr>
          <p:cNvSpPr txBox="1"/>
          <p:nvPr/>
        </p:nvSpPr>
        <p:spPr>
          <a:xfrm>
            <a:off x="279401" y="1554262"/>
            <a:ext cx="4584700" cy="338554"/>
          </a:xfrm>
          <a:prstGeom prst="rect">
            <a:avLst/>
          </a:prstGeom>
          <a:noFill/>
        </p:spPr>
        <p:txBody>
          <a:bodyPr wrap="square">
            <a:spAutoFit/>
          </a:bodyPr>
          <a:lstStyle/>
          <a:p>
            <a:pPr marL="0" lvl="0" indent="0" algn="l" rtl="0">
              <a:spcBef>
                <a:spcPts val="0"/>
              </a:spcBef>
              <a:spcAft>
                <a:spcPts val="0"/>
              </a:spcAft>
              <a:buNone/>
            </a:pPr>
            <a:r>
              <a:rPr lang="de-AT" sz="1600" dirty="0">
                <a:solidFill>
                  <a:schemeClr val="accent5">
                    <a:lumMod val="40000"/>
                    <a:lumOff val="60000"/>
                  </a:schemeClr>
                </a:solidFill>
                <a:latin typeface="Amasis MT Pro Light" panose="02040304050005020304" pitchFamily="18" charset="0"/>
              </a:rPr>
              <a:t>Formularstruktur</a:t>
            </a:r>
            <a:r>
              <a:rPr lang="de-AT" sz="1400" dirty="0"/>
              <a:t>:</a:t>
            </a:r>
          </a:p>
        </p:txBody>
      </p:sp>
      <p:sp>
        <p:nvSpPr>
          <p:cNvPr id="14" name="Textfeld 13">
            <a:extLst>
              <a:ext uri="{FF2B5EF4-FFF2-40B4-BE49-F238E27FC236}">
                <a16:creationId xmlns:a16="http://schemas.microsoft.com/office/drawing/2014/main" id="{F1062621-AD5A-810E-5E53-2FA6420F8228}"/>
              </a:ext>
            </a:extLst>
          </p:cNvPr>
          <p:cNvSpPr txBox="1"/>
          <p:nvPr/>
        </p:nvSpPr>
        <p:spPr>
          <a:xfrm>
            <a:off x="3683003" y="1578857"/>
            <a:ext cx="4584700" cy="338554"/>
          </a:xfrm>
          <a:prstGeom prst="rect">
            <a:avLst/>
          </a:prstGeom>
          <a:noFill/>
        </p:spPr>
        <p:txBody>
          <a:bodyPr wrap="square">
            <a:spAutoFit/>
          </a:bodyPr>
          <a:lstStyle/>
          <a:p>
            <a:pPr marL="0" lvl="0" indent="0" algn="l" rtl="0">
              <a:spcBef>
                <a:spcPts val="0"/>
              </a:spcBef>
              <a:spcAft>
                <a:spcPts val="0"/>
              </a:spcAft>
              <a:buNone/>
            </a:pPr>
            <a:r>
              <a:rPr lang="de-AT" sz="1600" dirty="0">
                <a:solidFill>
                  <a:schemeClr val="accent5">
                    <a:lumMod val="40000"/>
                    <a:lumOff val="60000"/>
                  </a:schemeClr>
                </a:solidFill>
                <a:latin typeface="Amasis MT Pro Light" panose="02040304050005020304" pitchFamily="18" charset="0"/>
              </a:rPr>
              <a:t>GET </a:t>
            </a:r>
            <a:r>
              <a:rPr lang="de-AT" sz="1600" dirty="0" err="1">
                <a:solidFill>
                  <a:schemeClr val="accent5">
                    <a:lumMod val="40000"/>
                    <a:lumOff val="60000"/>
                  </a:schemeClr>
                </a:solidFill>
                <a:latin typeface="Amasis MT Pro Light" panose="02040304050005020304" pitchFamily="18" charset="0"/>
              </a:rPr>
              <a:t>vs</a:t>
            </a:r>
            <a:r>
              <a:rPr lang="de-AT" sz="1600" dirty="0">
                <a:solidFill>
                  <a:schemeClr val="accent5">
                    <a:lumMod val="40000"/>
                    <a:lumOff val="60000"/>
                  </a:schemeClr>
                </a:solidFill>
                <a:latin typeface="Amasis MT Pro Light" panose="02040304050005020304" pitchFamily="18" charset="0"/>
              </a:rPr>
              <a:t> POST:</a:t>
            </a:r>
          </a:p>
        </p:txBody>
      </p:sp>
      <p:sp>
        <p:nvSpPr>
          <p:cNvPr id="16" name="Textfeld 15">
            <a:extLst>
              <a:ext uri="{FF2B5EF4-FFF2-40B4-BE49-F238E27FC236}">
                <a16:creationId xmlns:a16="http://schemas.microsoft.com/office/drawing/2014/main" id="{32CC1737-01B4-9D4F-A136-FD0F795D8D75}"/>
              </a:ext>
            </a:extLst>
          </p:cNvPr>
          <p:cNvSpPr txBox="1"/>
          <p:nvPr/>
        </p:nvSpPr>
        <p:spPr>
          <a:xfrm>
            <a:off x="6305553" y="1578857"/>
            <a:ext cx="4584700" cy="338554"/>
          </a:xfrm>
          <a:prstGeom prst="rect">
            <a:avLst/>
          </a:prstGeom>
          <a:noFill/>
        </p:spPr>
        <p:txBody>
          <a:bodyPr wrap="square">
            <a:spAutoFit/>
          </a:bodyPr>
          <a:lstStyle/>
          <a:p>
            <a:pPr marL="0" lvl="0" indent="0" algn="l" rtl="0">
              <a:spcBef>
                <a:spcPts val="0"/>
              </a:spcBef>
              <a:spcAft>
                <a:spcPts val="0"/>
              </a:spcAft>
              <a:buNone/>
            </a:pPr>
            <a:r>
              <a:rPr lang="de-DE" sz="1600" dirty="0">
                <a:solidFill>
                  <a:schemeClr val="accent5">
                    <a:lumMod val="40000"/>
                    <a:lumOff val="60000"/>
                  </a:schemeClr>
                </a:solidFill>
                <a:latin typeface="Amasis MT Pro Light" panose="02040304050005020304" pitchFamily="18" charset="0"/>
              </a:rPr>
              <a:t>Einsatz von ARIA in Forms:</a:t>
            </a:r>
          </a:p>
        </p:txBody>
      </p:sp>
      <p:sp>
        <p:nvSpPr>
          <p:cNvPr id="17" name="Google Shape;1708;p52" descr="Timeline background shape">
            <a:extLst>
              <a:ext uri="{FF2B5EF4-FFF2-40B4-BE49-F238E27FC236}">
                <a16:creationId xmlns:a16="http://schemas.microsoft.com/office/drawing/2014/main" id="{4E5169CB-51B6-E103-67D4-750A9579C011}"/>
              </a:ext>
            </a:extLst>
          </p:cNvPr>
          <p:cNvSpPr/>
          <p:nvPr/>
        </p:nvSpPr>
        <p:spPr>
          <a:xfrm>
            <a:off x="6140450" y="1446409"/>
            <a:ext cx="3003553"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8;p52" descr="Timeline background shape">
            <a:extLst>
              <a:ext uri="{FF2B5EF4-FFF2-40B4-BE49-F238E27FC236}">
                <a16:creationId xmlns:a16="http://schemas.microsoft.com/office/drawing/2014/main" id="{722DDF83-98C0-019A-E65A-9128BA94A401}"/>
              </a:ext>
            </a:extLst>
          </p:cNvPr>
          <p:cNvSpPr/>
          <p:nvPr/>
        </p:nvSpPr>
        <p:spPr>
          <a:xfrm>
            <a:off x="1" y="1446409"/>
            <a:ext cx="29019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8;p52" descr="Timeline background shape">
            <a:extLst>
              <a:ext uri="{FF2B5EF4-FFF2-40B4-BE49-F238E27FC236}">
                <a16:creationId xmlns:a16="http://schemas.microsoft.com/office/drawing/2014/main" id="{DD9F30B6-6A51-AB25-2FBB-F961EE5A65CE}"/>
              </a:ext>
            </a:extLst>
          </p:cNvPr>
          <p:cNvSpPr/>
          <p:nvPr/>
        </p:nvSpPr>
        <p:spPr>
          <a:xfrm>
            <a:off x="3206750" y="1446407"/>
            <a:ext cx="267970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rafik 19" descr="Ein Bild, das Logo, Grafiken, Schrift, weiß enthält.&#10;&#10;Automatisch generierte Beschreibung">
            <a:extLst>
              <a:ext uri="{FF2B5EF4-FFF2-40B4-BE49-F238E27FC236}">
                <a16:creationId xmlns:a16="http://schemas.microsoft.com/office/drawing/2014/main" id="{A2B72864-F221-80F5-6DFE-0870A46B468D}"/>
              </a:ext>
            </a:extLst>
          </p:cNvPr>
          <p:cNvPicPr>
            <a:picLocks noChangeAspect="1"/>
          </p:cNvPicPr>
          <p:nvPr/>
        </p:nvPicPr>
        <p:blipFill>
          <a:blip r:embed="rId2"/>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365779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791A2CF7-9675-DF4E-40FF-CED561F96F3F}"/>
              </a:ext>
            </a:extLst>
          </p:cNvPr>
          <p:cNvPicPr>
            <a:picLocks noChangeAspect="1"/>
          </p:cNvPicPr>
          <p:nvPr/>
        </p:nvPicPr>
        <p:blipFill>
          <a:blip r:embed="rId2"/>
          <a:stretch>
            <a:fillRect/>
          </a:stretch>
        </p:blipFill>
        <p:spPr>
          <a:xfrm>
            <a:off x="195531" y="1282319"/>
            <a:ext cx="8781676" cy="3139395"/>
          </a:xfrm>
          <a:prstGeom prst="rect">
            <a:avLst/>
          </a:prstGeom>
        </p:spPr>
      </p:pic>
      <p:sp>
        <p:nvSpPr>
          <p:cNvPr id="4" name="Textfeld 3">
            <a:extLst>
              <a:ext uri="{FF2B5EF4-FFF2-40B4-BE49-F238E27FC236}">
                <a16:creationId xmlns:a16="http://schemas.microsoft.com/office/drawing/2014/main" id="{078B69AC-0974-353C-9802-35DA656AEE9B}"/>
              </a:ext>
            </a:extLst>
          </p:cNvPr>
          <p:cNvSpPr txBox="1"/>
          <p:nvPr/>
        </p:nvSpPr>
        <p:spPr>
          <a:xfrm>
            <a:off x="0" y="358092"/>
            <a:ext cx="4572000" cy="307777"/>
          </a:xfrm>
          <a:prstGeom prst="rect">
            <a:avLst/>
          </a:prstGeom>
          <a:noFill/>
        </p:spPr>
        <p:txBody>
          <a:bodyPr wrap="square">
            <a:spAutoFit/>
          </a:bodyPr>
          <a:lstStyle/>
          <a:p>
            <a:r>
              <a:rPr lang="en-US" sz="1400" dirty="0">
                <a:solidFill>
                  <a:schemeClr val="accent5">
                    <a:lumMod val="75000"/>
                  </a:schemeClr>
                </a:solidFill>
                <a:latin typeface="Amasis MT Pro Light" panose="02040304050005020304" pitchFamily="18" charset="0"/>
              </a:rPr>
              <a:t>Forms Aufbau und Forms Accessibility:</a:t>
            </a:r>
            <a:endParaRPr lang="de-AT" dirty="0">
              <a:solidFill>
                <a:schemeClr val="accent5">
                  <a:lumMod val="75000"/>
                </a:schemeClr>
              </a:solidFill>
              <a:latin typeface="Amasis MT Pro Light" panose="02040304050005020304" pitchFamily="18" charset="0"/>
            </a:endParaRPr>
          </a:p>
        </p:txBody>
      </p:sp>
      <p:sp>
        <p:nvSpPr>
          <p:cNvPr id="5" name="Google Shape;1708;p52" descr="Timeline background shape">
            <a:extLst>
              <a:ext uri="{FF2B5EF4-FFF2-40B4-BE49-F238E27FC236}">
                <a16:creationId xmlns:a16="http://schemas.microsoft.com/office/drawing/2014/main" id="{E5892E79-A26A-E577-8AF2-F6B8F8029495}"/>
              </a:ext>
            </a:extLst>
          </p:cNvPr>
          <p:cNvSpPr/>
          <p:nvPr/>
        </p:nvSpPr>
        <p:spPr>
          <a:xfrm>
            <a:off x="-1" y="250241"/>
            <a:ext cx="3552497"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Grafik 5" descr="Ein Bild, das Logo, Grafiken, Schrift, weiß enthält.&#10;&#10;Automatisch generierte Beschreibung">
            <a:extLst>
              <a:ext uri="{FF2B5EF4-FFF2-40B4-BE49-F238E27FC236}">
                <a16:creationId xmlns:a16="http://schemas.microsoft.com/office/drawing/2014/main" id="{EBCB2925-15D6-5457-66B0-6F02B23EA5AD}"/>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7" name="Google Shape;13768;p64">
            <a:extLst>
              <a:ext uri="{FF2B5EF4-FFF2-40B4-BE49-F238E27FC236}">
                <a16:creationId xmlns:a16="http://schemas.microsoft.com/office/drawing/2014/main" id="{7391E1BF-8B92-C7B3-037E-CE5585C87FC3}"/>
              </a:ext>
            </a:extLst>
          </p:cNvPr>
          <p:cNvGrpSpPr/>
          <p:nvPr/>
        </p:nvGrpSpPr>
        <p:grpSpPr>
          <a:xfrm>
            <a:off x="2599" y="881573"/>
            <a:ext cx="499533" cy="305136"/>
            <a:chOff x="7009649" y="1541981"/>
            <a:chExt cx="524940" cy="320655"/>
          </a:xfrm>
        </p:grpSpPr>
        <p:sp>
          <p:nvSpPr>
            <p:cNvPr id="8" name="Google Shape;13769;p64">
              <a:extLst>
                <a:ext uri="{FF2B5EF4-FFF2-40B4-BE49-F238E27FC236}">
                  <a16:creationId xmlns:a16="http://schemas.microsoft.com/office/drawing/2014/main" id="{7B4F83D7-34FB-0C76-469A-84A39F8784B1}"/>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9C6F3E6B-17DE-EB4A-5DF4-F5625793BA4C}"/>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3771;p64">
              <a:extLst>
                <a:ext uri="{FF2B5EF4-FFF2-40B4-BE49-F238E27FC236}">
                  <a16:creationId xmlns:a16="http://schemas.microsoft.com/office/drawing/2014/main" id="{0DA262BA-84BC-0971-EFAF-976ADB987592}"/>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B77F4F15-7A13-F4D0-7392-C1FFC766A3E9}"/>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F67317F1-FB4E-6F5C-C6DD-9284F1A3FF82}"/>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6C2694A3-8CFB-C2BC-0AFA-05DFB9E2EC4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FA78E92F-7E3D-CF3F-56F2-74C3DB5433C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8E04DB0D-4DEF-3247-AB83-C03B424849AB}"/>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33915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A2E6AAC2-DC4F-BF40-C2F6-4C508A0E772F}"/>
              </a:ext>
            </a:extLst>
          </p:cNvPr>
          <p:cNvSpPr/>
          <p:nvPr/>
        </p:nvSpPr>
        <p:spPr>
          <a:xfrm>
            <a:off x="0" y="332307"/>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739;p32">
            <a:extLst>
              <a:ext uri="{FF2B5EF4-FFF2-40B4-BE49-F238E27FC236}">
                <a16:creationId xmlns:a16="http://schemas.microsoft.com/office/drawing/2014/main" id="{842441D9-A84C-D03D-6FDD-B189430DEB96}"/>
              </a:ext>
            </a:extLst>
          </p:cNvPr>
          <p:cNvSpPr txBox="1">
            <a:spLocks/>
          </p:cNvSpPr>
          <p:nvPr/>
        </p:nvSpPr>
        <p:spPr>
          <a:xfrm>
            <a:off x="119850" y="120910"/>
            <a:ext cx="6084824" cy="94627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e-AT" sz="1600" dirty="0">
                <a:solidFill>
                  <a:schemeClr val="accent5">
                    <a:lumMod val="40000"/>
                    <a:lumOff val="60000"/>
                  </a:schemeClr>
                </a:solidFill>
                <a:latin typeface="Amasis MT Pro Light" panose="02040304050005020304" pitchFamily="18" charset="0"/>
              </a:rPr>
              <a:t>ARIA-XXX in General</a:t>
            </a:r>
          </a:p>
        </p:txBody>
      </p:sp>
      <p:sp>
        <p:nvSpPr>
          <p:cNvPr id="6" name="Textfeld 5">
            <a:extLst>
              <a:ext uri="{FF2B5EF4-FFF2-40B4-BE49-F238E27FC236}">
                <a16:creationId xmlns:a16="http://schemas.microsoft.com/office/drawing/2014/main" id="{4617B743-4F22-8DC7-39D3-7C04F33A9A14}"/>
              </a:ext>
            </a:extLst>
          </p:cNvPr>
          <p:cNvSpPr txBox="1"/>
          <p:nvPr/>
        </p:nvSpPr>
        <p:spPr>
          <a:xfrm>
            <a:off x="119850" y="1402199"/>
            <a:ext cx="4572000"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ARIA hilft insbesondere bei dynamischen und interaktiven Inhalten, wie Pop-ups oder Modalen, diese für </a:t>
            </a:r>
            <a:r>
              <a:rPr lang="de-DE" sz="1400" dirty="0" err="1">
                <a:solidFill>
                  <a:schemeClr val="accent5">
                    <a:lumMod val="20000"/>
                    <a:lumOff val="80000"/>
                  </a:schemeClr>
                </a:solidFill>
                <a:latin typeface="Amasis MT Pro Light" panose="02040304050005020304" pitchFamily="18" charset="0"/>
              </a:rPr>
              <a:t>assistive</a:t>
            </a:r>
            <a:r>
              <a:rPr lang="de-DE" sz="1400" dirty="0">
                <a:solidFill>
                  <a:schemeClr val="accent5">
                    <a:lumMod val="20000"/>
                    <a:lumOff val="80000"/>
                  </a:schemeClr>
                </a:solidFill>
                <a:latin typeface="Amasis MT Pro Light" panose="02040304050005020304" pitchFamily="18" charset="0"/>
              </a:rPr>
              <a:t> Technologien verständlich zu machen. Dies ist notwendig, da dynamische Inhalte ohne ARIA für Screenreader oft nicht zugänglich sind.</a:t>
            </a:r>
          </a:p>
        </p:txBody>
      </p:sp>
      <p:pic>
        <p:nvPicPr>
          <p:cNvPr id="7" name="Grafik 6">
            <a:extLst>
              <a:ext uri="{FF2B5EF4-FFF2-40B4-BE49-F238E27FC236}">
                <a16:creationId xmlns:a16="http://schemas.microsoft.com/office/drawing/2014/main" id="{DDDDAFD2-45A7-42B2-A61A-E6570A645DD0}"/>
              </a:ext>
            </a:extLst>
          </p:cNvPr>
          <p:cNvPicPr>
            <a:picLocks noChangeAspect="1"/>
          </p:cNvPicPr>
          <p:nvPr/>
        </p:nvPicPr>
        <p:blipFill>
          <a:blip r:embed="rId2"/>
          <a:stretch>
            <a:fillRect/>
          </a:stretch>
        </p:blipFill>
        <p:spPr>
          <a:xfrm>
            <a:off x="720000" y="3081661"/>
            <a:ext cx="6327186" cy="1464253"/>
          </a:xfrm>
          <a:prstGeom prst="rect">
            <a:avLst/>
          </a:prstGeom>
        </p:spPr>
      </p:pic>
      <p:pic>
        <p:nvPicPr>
          <p:cNvPr id="5" name="Grafik 4" descr="Ein Bild, das Text, Screenshot, Schrift, Zahl enthält.&#10;&#10;Automatisch generierte Beschreibung">
            <a:extLst>
              <a:ext uri="{FF2B5EF4-FFF2-40B4-BE49-F238E27FC236}">
                <a16:creationId xmlns:a16="http://schemas.microsoft.com/office/drawing/2014/main" id="{D939AB89-FD6B-8C5F-F9D6-B2A58B4F6F0E}"/>
              </a:ext>
            </a:extLst>
          </p:cNvPr>
          <p:cNvPicPr>
            <a:picLocks noChangeAspect="1"/>
          </p:cNvPicPr>
          <p:nvPr/>
        </p:nvPicPr>
        <p:blipFill>
          <a:blip r:embed="rId3"/>
          <a:srcRect l="14712" t="40796" b="43738"/>
          <a:stretch/>
        </p:blipFill>
        <p:spPr>
          <a:xfrm>
            <a:off x="945931" y="3799491"/>
            <a:ext cx="3221420" cy="257528"/>
          </a:xfrm>
          <a:prstGeom prst="rect">
            <a:avLst/>
          </a:prstGeom>
        </p:spPr>
      </p:pic>
      <p:pic>
        <p:nvPicPr>
          <p:cNvPr id="8" name="Grafik 7" descr="Ein Bild, das Logo, Grafiken, Schrift, weiß enthält.&#10;&#10;Automatisch generierte Beschreibung">
            <a:extLst>
              <a:ext uri="{FF2B5EF4-FFF2-40B4-BE49-F238E27FC236}">
                <a16:creationId xmlns:a16="http://schemas.microsoft.com/office/drawing/2014/main" id="{542CDB26-C284-44D0-CCA5-0DE60C05A8FF}"/>
              </a:ext>
            </a:extLst>
          </p:cNvPr>
          <p:cNvPicPr>
            <a:picLocks noChangeAspect="1"/>
          </p:cNvPicPr>
          <p:nvPr/>
        </p:nvPicPr>
        <p:blipFill>
          <a:blip r:embed="rId4"/>
          <a:stretch>
            <a:fillRect/>
          </a:stretch>
        </p:blipFill>
        <p:spPr>
          <a:xfrm>
            <a:off x="6999472" y="231280"/>
            <a:ext cx="1671811" cy="1671811"/>
          </a:xfrm>
          <a:prstGeom prst="rect">
            <a:avLst/>
          </a:prstGeom>
        </p:spPr>
      </p:pic>
      <p:grpSp>
        <p:nvGrpSpPr>
          <p:cNvPr id="9" name="Google Shape;13768;p64">
            <a:extLst>
              <a:ext uri="{FF2B5EF4-FFF2-40B4-BE49-F238E27FC236}">
                <a16:creationId xmlns:a16="http://schemas.microsoft.com/office/drawing/2014/main" id="{7BCEE679-7D0D-8EBB-5560-EED5D0228E51}"/>
              </a:ext>
            </a:extLst>
          </p:cNvPr>
          <p:cNvGrpSpPr/>
          <p:nvPr/>
        </p:nvGrpSpPr>
        <p:grpSpPr>
          <a:xfrm>
            <a:off x="220467" y="2906763"/>
            <a:ext cx="499533" cy="305136"/>
            <a:chOff x="7009649" y="1541981"/>
            <a:chExt cx="524940" cy="320655"/>
          </a:xfrm>
        </p:grpSpPr>
        <p:sp>
          <p:nvSpPr>
            <p:cNvPr id="10" name="Google Shape;13769;p64">
              <a:extLst>
                <a:ext uri="{FF2B5EF4-FFF2-40B4-BE49-F238E27FC236}">
                  <a16:creationId xmlns:a16="http://schemas.microsoft.com/office/drawing/2014/main" id="{A134D7A8-7F56-BB89-458B-DC4FDB87C691}"/>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0;p64">
              <a:extLst>
                <a:ext uri="{FF2B5EF4-FFF2-40B4-BE49-F238E27FC236}">
                  <a16:creationId xmlns:a16="http://schemas.microsoft.com/office/drawing/2014/main" id="{934EDEEA-49CB-772C-0EB2-28962CEC663A}"/>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1;p64">
              <a:extLst>
                <a:ext uri="{FF2B5EF4-FFF2-40B4-BE49-F238E27FC236}">
                  <a16:creationId xmlns:a16="http://schemas.microsoft.com/office/drawing/2014/main" id="{F338638D-D04F-0F29-CCD9-7D0E7FA96B10}"/>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2;p64">
              <a:extLst>
                <a:ext uri="{FF2B5EF4-FFF2-40B4-BE49-F238E27FC236}">
                  <a16:creationId xmlns:a16="http://schemas.microsoft.com/office/drawing/2014/main" id="{D900AA71-95F9-1D2A-1359-32854FEA9F9C}"/>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3;p64">
              <a:extLst>
                <a:ext uri="{FF2B5EF4-FFF2-40B4-BE49-F238E27FC236}">
                  <a16:creationId xmlns:a16="http://schemas.microsoft.com/office/drawing/2014/main" id="{47C2E206-FE92-6DA5-D18C-EDF68C5897EE}"/>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4;p64">
              <a:extLst>
                <a:ext uri="{FF2B5EF4-FFF2-40B4-BE49-F238E27FC236}">
                  <a16:creationId xmlns:a16="http://schemas.microsoft.com/office/drawing/2014/main" id="{D7AD8774-9DFB-3B10-97FC-697F9448DA04}"/>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5;p64">
              <a:extLst>
                <a:ext uri="{FF2B5EF4-FFF2-40B4-BE49-F238E27FC236}">
                  <a16:creationId xmlns:a16="http://schemas.microsoft.com/office/drawing/2014/main" id="{24DDD07E-2AC5-84C2-836D-A2AA145090C9}"/>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76;p64">
              <a:extLst>
                <a:ext uri="{FF2B5EF4-FFF2-40B4-BE49-F238E27FC236}">
                  <a16:creationId xmlns:a16="http://schemas.microsoft.com/office/drawing/2014/main" id="{B28149D6-FC78-6868-F712-71820CBE5A92}"/>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783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9313370C-E299-46C2-6D8F-F1D684C4C887}"/>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feld 5">
            <a:extLst>
              <a:ext uri="{FF2B5EF4-FFF2-40B4-BE49-F238E27FC236}">
                <a16:creationId xmlns:a16="http://schemas.microsoft.com/office/drawing/2014/main" id="{84CF7794-2733-96FC-F013-C689C7A77B1F}"/>
              </a:ext>
            </a:extLst>
          </p:cNvPr>
          <p:cNvSpPr txBox="1"/>
          <p:nvPr/>
        </p:nvSpPr>
        <p:spPr>
          <a:xfrm>
            <a:off x="175238" y="342704"/>
            <a:ext cx="4572000" cy="338554"/>
          </a:xfrm>
          <a:prstGeom prst="rect">
            <a:avLst/>
          </a:prstGeom>
          <a:noFill/>
        </p:spPr>
        <p:txBody>
          <a:bodyPr wrap="square">
            <a:spAutoFit/>
          </a:bodyPr>
          <a:lstStyle/>
          <a:p>
            <a:r>
              <a:rPr lang="en" sz="1600" dirty="0">
                <a:solidFill>
                  <a:schemeClr val="accent5">
                    <a:lumMod val="40000"/>
                    <a:lumOff val="60000"/>
                  </a:schemeClr>
                </a:solidFill>
                <a:latin typeface="Amasis MT Pro Light" panose="02040304050005020304" pitchFamily="18" charset="0"/>
              </a:rPr>
              <a:t>Was ist ein Screenreader?</a:t>
            </a:r>
            <a:endParaRPr lang="de-AT" sz="1600" dirty="0">
              <a:solidFill>
                <a:schemeClr val="accent5">
                  <a:lumMod val="40000"/>
                  <a:lumOff val="60000"/>
                </a:schemeClr>
              </a:solidFill>
              <a:latin typeface="Amasis MT Pro Light" panose="02040304050005020304" pitchFamily="18" charset="0"/>
            </a:endParaRPr>
          </a:p>
        </p:txBody>
      </p:sp>
      <p:sp>
        <p:nvSpPr>
          <p:cNvPr id="10" name="Textfeld 9">
            <a:extLst>
              <a:ext uri="{FF2B5EF4-FFF2-40B4-BE49-F238E27FC236}">
                <a16:creationId xmlns:a16="http://schemas.microsoft.com/office/drawing/2014/main" id="{F833C3D0-C582-BA26-F538-2AB67216F543}"/>
              </a:ext>
            </a:extLst>
          </p:cNvPr>
          <p:cNvSpPr txBox="1"/>
          <p:nvPr/>
        </p:nvSpPr>
        <p:spPr>
          <a:xfrm>
            <a:off x="542658" y="1298673"/>
            <a:ext cx="4572000" cy="1815882"/>
          </a:xfrm>
          <a:prstGeom prst="rect">
            <a:avLst/>
          </a:prstGeom>
          <a:noFill/>
        </p:spPr>
        <p:txBody>
          <a:bodyPr wrap="square">
            <a:spAutoFit/>
          </a:bodyPr>
          <a:lstStyle/>
          <a:p>
            <a:r>
              <a:rPr lang="de-DE" sz="1400" dirty="0">
                <a:solidFill>
                  <a:schemeClr val="accent5">
                    <a:lumMod val="20000"/>
                    <a:lumOff val="80000"/>
                  </a:schemeClr>
                </a:solidFill>
                <a:latin typeface="Amasis MT Pro Light" panose="02040304050005020304" pitchFamily="18" charset="0"/>
                <a:sym typeface="Albert Sans Medium"/>
              </a:rPr>
              <a:t>Ein Screenreader ist eine </a:t>
            </a:r>
            <a:r>
              <a:rPr lang="de-DE" sz="1400" b="1" dirty="0">
                <a:solidFill>
                  <a:schemeClr val="accent5">
                    <a:lumMod val="20000"/>
                    <a:lumOff val="80000"/>
                  </a:schemeClr>
                </a:solidFill>
                <a:latin typeface="Amasis MT Pro Light" panose="02040304050005020304" pitchFamily="18" charset="0"/>
                <a:sym typeface="Albert Sans Medium"/>
              </a:rPr>
              <a:t>unterstützende Technologie</a:t>
            </a:r>
            <a:r>
              <a:rPr lang="de-DE" sz="1400" dirty="0">
                <a:solidFill>
                  <a:schemeClr val="accent5">
                    <a:lumMod val="20000"/>
                    <a:lumOff val="80000"/>
                  </a:schemeClr>
                </a:solidFill>
                <a:latin typeface="Amasis MT Pro Light" panose="02040304050005020304" pitchFamily="18" charset="0"/>
                <a:sym typeface="Albert Sans Medium"/>
              </a:rPr>
              <a:t>, die vor allem von Menschen mit </a:t>
            </a:r>
            <a:r>
              <a:rPr lang="de-DE" sz="1400" b="1" dirty="0">
                <a:solidFill>
                  <a:schemeClr val="accent5">
                    <a:lumMod val="20000"/>
                    <a:lumOff val="80000"/>
                  </a:schemeClr>
                </a:solidFill>
                <a:latin typeface="Amasis MT Pro Light" panose="02040304050005020304" pitchFamily="18" charset="0"/>
                <a:sym typeface="Albert Sans Medium"/>
              </a:rPr>
              <a:t>Sehbehinderungen</a:t>
            </a:r>
            <a:r>
              <a:rPr lang="de-DE" sz="1400" dirty="0">
                <a:solidFill>
                  <a:schemeClr val="accent5">
                    <a:lumMod val="20000"/>
                    <a:lumOff val="80000"/>
                  </a:schemeClr>
                </a:solidFill>
                <a:latin typeface="Amasis MT Pro Light" panose="02040304050005020304" pitchFamily="18" charset="0"/>
                <a:sym typeface="Albert Sans Medium"/>
              </a:rPr>
              <a:t> verwendet wird. </a:t>
            </a:r>
          </a:p>
          <a:p>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dirty="0">
                <a:solidFill>
                  <a:schemeClr val="accent5">
                    <a:lumMod val="20000"/>
                    <a:lumOff val="80000"/>
                  </a:schemeClr>
                </a:solidFill>
                <a:latin typeface="Amasis MT Pro Light" panose="02040304050005020304" pitchFamily="18" charset="0"/>
                <a:sym typeface="Albert Sans Medium"/>
              </a:rPr>
              <a:t>   Er wandelt </a:t>
            </a:r>
            <a:r>
              <a:rPr lang="de-DE" sz="1400" b="1" dirty="0">
                <a:solidFill>
                  <a:schemeClr val="accent5">
                    <a:lumMod val="20000"/>
                    <a:lumOff val="80000"/>
                  </a:schemeClr>
                </a:solidFill>
                <a:latin typeface="Amasis MT Pro Light" panose="02040304050005020304" pitchFamily="18" charset="0"/>
                <a:sym typeface="Albert Sans Medium"/>
              </a:rPr>
              <a:t>Texte</a:t>
            </a:r>
            <a:r>
              <a:rPr lang="de-DE" sz="1400" dirty="0">
                <a:solidFill>
                  <a:schemeClr val="accent5">
                    <a:lumMod val="20000"/>
                    <a:lumOff val="80000"/>
                  </a:schemeClr>
                </a:solidFill>
                <a:latin typeface="Amasis MT Pro Light" panose="02040304050005020304" pitchFamily="18" charset="0"/>
                <a:sym typeface="Albert Sans Medium"/>
              </a:rPr>
              <a:t>, </a:t>
            </a:r>
            <a:r>
              <a:rPr lang="de-DE" sz="1400" b="1" dirty="0">
                <a:solidFill>
                  <a:schemeClr val="accent5">
                    <a:lumMod val="20000"/>
                    <a:lumOff val="80000"/>
                  </a:schemeClr>
                </a:solidFill>
                <a:latin typeface="Amasis MT Pro Light" panose="02040304050005020304" pitchFamily="18" charset="0"/>
                <a:sym typeface="Albert Sans Medium"/>
              </a:rPr>
              <a:t>Schaltflächen</a:t>
            </a:r>
            <a:r>
              <a:rPr lang="de-DE" sz="1400" dirty="0">
                <a:solidFill>
                  <a:schemeClr val="accent5">
                    <a:lumMod val="20000"/>
                    <a:lumOff val="80000"/>
                  </a:schemeClr>
                </a:solidFill>
                <a:latin typeface="Amasis MT Pro Light" panose="02040304050005020304" pitchFamily="18" charset="0"/>
                <a:sym typeface="Albert Sans Medium"/>
              </a:rPr>
              <a:t>, </a:t>
            </a:r>
            <a:r>
              <a:rPr lang="de-DE" sz="1400" b="1" dirty="0">
                <a:solidFill>
                  <a:schemeClr val="accent5">
                    <a:lumMod val="20000"/>
                    <a:lumOff val="80000"/>
                  </a:schemeClr>
                </a:solidFill>
                <a:latin typeface="Amasis MT Pro Light" panose="02040304050005020304" pitchFamily="18" charset="0"/>
                <a:sym typeface="Albert Sans Medium"/>
              </a:rPr>
              <a:t>Bilder</a:t>
            </a:r>
            <a:r>
              <a:rPr lang="de-DE" sz="1400" dirty="0">
                <a:solidFill>
                  <a:schemeClr val="accent5">
                    <a:lumMod val="20000"/>
                    <a:lumOff val="80000"/>
                  </a:schemeClr>
                </a:solidFill>
                <a:latin typeface="Amasis MT Pro Light" panose="02040304050005020304" pitchFamily="18" charset="0"/>
                <a:sym typeface="Albert Sans Medium"/>
              </a:rPr>
              <a:t> und andere Bildschirmelemente in </a:t>
            </a:r>
            <a:r>
              <a:rPr lang="de-DE" sz="1400" b="1" dirty="0">
                <a:solidFill>
                  <a:schemeClr val="accent5">
                    <a:lumMod val="20000"/>
                    <a:lumOff val="80000"/>
                  </a:schemeClr>
                </a:solidFill>
                <a:latin typeface="Amasis MT Pro Light" panose="02040304050005020304" pitchFamily="18" charset="0"/>
                <a:sym typeface="Albert Sans Medium"/>
              </a:rPr>
              <a:t>Sprache</a:t>
            </a:r>
            <a:r>
              <a:rPr lang="de-DE" sz="1400" dirty="0">
                <a:solidFill>
                  <a:schemeClr val="accent5">
                    <a:lumMod val="20000"/>
                    <a:lumOff val="80000"/>
                  </a:schemeClr>
                </a:solidFill>
                <a:latin typeface="Amasis MT Pro Light" panose="02040304050005020304" pitchFamily="18" charset="0"/>
                <a:sym typeface="Albert Sans Medium"/>
              </a:rPr>
              <a:t> oder </a:t>
            </a:r>
            <a:r>
              <a:rPr lang="de-DE" sz="1400" b="1" dirty="0">
                <a:solidFill>
                  <a:schemeClr val="accent5">
                    <a:lumMod val="20000"/>
                    <a:lumOff val="80000"/>
                  </a:schemeClr>
                </a:solidFill>
                <a:latin typeface="Amasis MT Pro Light" panose="02040304050005020304" pitchFamily="18" charset="0"/>
                <a:sym typeface="Albert Sans Medium"/>
              </a:rPr>
              <a:t>Blindenschrift</a:t>
            </a:r>
            <a:r>
              <a:rPr lang="de-DE" sz="1400" dirty="0">
                <a:solidFill>
                  <a:schemeClr val="accent5">
                    <a:lumMod val="20000"/>
                    <a:lumOff val="80000"/>
                  </a:schemeClr>
                </a:solidFill>
                <a:latin typeface="Amasis MT Pro Light" panose="02040304050005020304" pitchFamily="18" charset="0"/>
                <a:sym typeface="Albert Sans Medium"/>
              </a:rPr>
              <a:t> um.</a:t>
            </a:r>
          </a:p>
          <a:p>
            <a:endParaRPr lang="de-DE" sz="1400" dirty="0">
              <a:solidFill>
                <a:schemeClr val="accent5">
                  <a:lumMod val="20000"/>
                  <a:lumOff val="80000"/>
                </a:schemeClr>
              </a:solidFill>
              <a:latin typeface="Amasis MT Pro Light" panose="02040304050005020304" pitchFamily="18" charset="0"/>
              <a:sym typeface="Albert Sans Medium"/>
            </a:endParaRP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Screenreader-Freundliches Bsp.:</a:t>
            </a:r>
          </a:p>
        </p:txBody>
      </p:sp>
      <p:pic>
        <p:nvPicPr>
          <p:cNvPr id="3" name="Grafik 2">
            <a:extLst>
              <a:ext uri="{FF2B5EF4-FFF2-40B4-BE49-F238E27FC236}">
                <a16:creationId xmlns:a16="http://schemas.microsoft.com/office/drawing/2014/main" id="{952571C1-91A4-5AE4-6773-A15D020D4AD5}"/>
              </a:ext>
            </a:extLst>
          </p:cNvPr>
          <p:cNvPicPr>
            <a:picLocks noChangeAspect="1"/>
          </p:cNvPicPr>
          <p:nvPr/>
        </p:nvPicPr>
        <p:blipFill>
          <a:blip r:embed="rId2"/>
          <a:srcRect t="20907" b="12452"/>
          <a:stretch/>
        </p:blipFill>
        <p:spPr>
          <a:xfrm>
            <a:off x="718597" y="3523892"/>
            <a:ext cx="8176706" cy="231228"/>
          </a:xfrm>
          <a:prstGeom prst="rect">
            <a:avLst/>
          </a:prstGeom>
        </p:spPr>
      </p:pic>
      <p:pic>
        <p:nvPicPr>
          <p:cNvPr id="4" name="Grafik 3" descr="Ein Bild, das Logo, Grafiken, Schrift, weiß enthält.&#10;&#10;Automatisch generierte Beschreibung">
            <a:extLst>
              <a:ext uri="{FF2B5EF4-FFF2-40B4-BE49-F238E27FC236}">
                <a16:creationId xmlns:a16="http://schemas.microsoft.com/office/drawing/2014/main" id="{44E16A2A-DA6A-F09A-8187-17AE0F8C47C4}"/>
              </a:ext>
            </a:extLst>
          </p:cNvPr>
          <p:cNvPicPr>
            <a:picLocks noChangeAspect="1"/>
          </p:cNvPicPr>
          <p:nvPr/>
        </p:nvPicPr>
        <p:blipFill>
          <a:blip r:embed="rId3"/>
          <a:stretch>
            <a:fillRect/>
          </a:stretch>
        </p:blipFill>
        <p:spPr>
          <a:xfrm>
            <a:off x="7296951" y="-29053"/>
            <a:ext cx="1671811" cy="1671811"/>
          </a:xfrm>
          <a:prstGeom prst="rect">
            <a:avLst/>
          </a:prstGeom>
        </p:spPr>
      </p:pic>
      <p:grpSp>
        <p:nvGrpSpPr>
          <p:cNvPr id="5" name="Google Shape;13768;p64">
            <a:extLst>
              <a:ext uri="{FF2B5EF4-FFF2-40B4-BE49-F238E27FC236}">
                <a16:creationId xmlns:a16="http://schemas.microsoft.com/office/drawing/2014/main" id="{92A4F3B3-2668-97E8-6C12-A6970F7E61D4}"/>
              </a:ext>
            </a:extLst>
          </p:cNvPr>
          <p:cNvGrpSpPr/>
          <p:nvPr/>
        </p:nvGrpSpPr>
        <p:grpSpPr>
          <a:xfrm>
            <a:off x="219064" y="3225425"/>
            <a:ext cx="499533" cy="305136"/>
            <a:chOff x="7009649" y="1541981"/>
            <a:chExt cx="524940" cy="320655"/>
          </a:xfrm>
        </p:grpSpPr>
        <p:sp>
          <p:nvSpPr>
            <p:cNvPr id="7" name="Google Shape;13769;p64">
              <a:extLst>
                <a:ext uri="{FF2B5EF4-FFF2-40B4-BE49-F238E27FC236}">
                  <a16:creationId xmlns:a16="http://schemas.microsoft.com/office/drawing/2014/main" id="{8935966E-D28B-405A-5BE7-472671FF57FF}"/>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770;p64">
              <a:extLst>
                <a:ext uri="{FF2B5EF4-FFF2-40B4-BE49-F238E27FC236}">
                  <a16:creationId xmlns:a16="http://schemas.microsoft.com/office/drawing/2014/main" id="{FAB697D8-4518-6916-F245-230794DDC2F5}"/>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1;p64">
              <a:extLst>
                <a:ext uri="{FF2B5EF4-FFF2-40B4-BE49-F238E27FC236}">
                  <a16:creationId xmlns:a16="http://schemas.microsoft.com/office/drawing/2014/main" id="{91EE67A7-C3C5-E6AB-C6C4-9BE29F683C92}"/>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8A9BFB7B-04E8-4A36-7DEB-EDA6E674A961}"/>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C9C14A56-17F6-29E1-A4FB-4A1B6BB060CA}"/>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3E6F95BA-B215-9BCA-2859-403A83DF41CD}"/>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781A1CC1-CBBA-5182-C860-FE0772D9713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1DDBC203-8A93-FB84-4F6A-889FDDE07945}"/>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928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1AA7D0BD-063A-E22D-01BE-FCEE3C782CC5}"/>
              </a:ext>
            </a:extLst>
          </p:cNvPr>
          <p:cNvSpPr/>
          <p:nvPr/>
        </p:nvSpPr>
        <p:spPr>
          <a:xfrm>
            <a:off x="-1" y="250241"/>
            <a:ext cx="2937641"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FF7921B4-C0B6-FD8F-6282-27B5623FAEF7}"/>
              </a:ext>
            </a:extLst>
          </p:cNvPr>
          <p:cNvSpPr txBox="1"/>
          <p:nvPr/>
        </p:nvSpPr>
        <p:spPr>
          <a:xfrm>
            <a:off x="0" y="358092"/>
            <a:ext cx="4572000" cy="307777"/>
          </a:xfrm>
          <a:prstGeom prst="rect">
            <a:avLst/>
          </a:prstGeom>
          <a:noFill/>
        </p:spPr>
        <p:txBody>
          <a:bodyPr wrap="square">
            <a:spAutoFit/>
          </a:bodyPr>
          <a:lstStyle/>
          <a:p>
            <a:r>
              <a:rPr lang="en" dirty="0">
                <a:solidFill>
                  <a:schemeClr val="accent5">
                    <a:lumMod val="40000"/>
                    <a:lumOff val="60000"/>
                  </a:schemeClr>
                </a:solidFill>
                <a:latin typeface="Amasis MT Pro Light" panose="02040304050005020304" pitchFamily="18" charset="0"/>
              </a:rPr>
              <a:t>Was bedeutet WCAG compliant?</a:t>
            </a:r>
            <a:endParaRPr lang="de-AT" dirty="0">
              <a:solidFill>
                <a:schemeClr val="accent5">
                  <a:lumMod val="40000"/>
                  <a:lumOff val="60000"/>
                </a:schemeClr>
              </a:solidFill>
              <a:latin typeface="Amasis MT Pro Light" panose="02040304050005020304" pitchFamily="18" charset="0"/>
            </a:endParaRPr>
          </a:p>
        </p:txBody>
      </p:sp>
      <p:sp>
        <p:nvSpPr>
          <p:cNvPr id="8" name="Textfeld 7">
            <a:extLst>
              <a:ext uri="{FF2B5EF4-FFF2-40B4-BE49-F238E27FC236}">
                <a16:creationId xmlns:a16="http://schemas.microsoft.com/office/drawing/2014/main" id="{6E0A116D-DBB3-3B86-1F62-59B69F651DC4}"/>
              </a:ext>
            </a:extLst>
          </p:cNvPr>
          <p:cNvSpPr txBox="1"/>
          <p:nvPr/>
        </p:nvSpPr>
        <p:spPr>
          <a:xfrm>
            <a:off x="173088" y="1402199"/>
            <a:ext cx="5884812" cy="1169551"/>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WCAG-</a:t>
            </a:r>
            <a:r>
              <a:rPr lang="de-DE" sz="1400" dirty="0" err="1">
                <a:solidFill>
                  <a:schemeClr val="accent5">
                    <a:lumMod val="20000"/>
                    <a:lumOff val="80000"/>
                  </a:schemeClr>
                </a:solidFill>
                <a:latin typeface="Amasis MT Pro Light" panose="02040304050005020304" pitchFamily="18" charset="0"/>
              </a:rPr>
              <a:t>compliant</a:t>
            </a:r>
            <a:r>
              <a:rPr lang="de-DE" sz="1400" dirty="0">
                <a:solidFill>
                  <a:schemeClr val="accent5">
                    <a:lumMod val="20000"/>
                    <a:lumOff val="80000"/>
                  </a:schemeClr>
                </a:solidFill>
                <a:latin typeface="Amasis MT Pro Light" panose="02040304050005020304" pitchFamily="18" charset="0"/>
              </a:rPr>
              <a:t> bedeutet, dass eine Website die Richtlinien zur Barrierefreiheit erfüllt. Diese gewährleisten, dass die Inhalte von möglichst vielen Menschen genutzt werden können,</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unabhängig von Behinderungen.</a:t>
            </a:r>
          </a:p>
          <a:p>
            <a:pPr marL="0" lvl="0" indent="0" algn="l" rtl="0">
              <a:spcBef>
                <a:spcPts val="0"/>
              </a:spcBef>
              <a:spcAft>
                <a:spcPts val="0"/>
              </a:spcAft>
              <a:buNone/>
            </a:pPr>
            <a:r>
              <a:rPr lang="de-DE" sz="1400" dirty="0">
                <a:solidFill>
                  <a:schemeClr val="accent5">
                    <a:lumMod val="20000"/>
                    <a:lumOff val="80000"/>
                  </a:schemeClr>
                </a:solidFill>
                <a:latin typeface="Amasis MT Pro Light" panose="02040304050005020304" pitchFamily="18" charset="0"/>
              </a:rPr>
              <a:t>Tastaturzugänglichkeit</a:t>
            </a:r>
            <a:endParaRPr lang="de-AT" dirty="0">
              <a:solidFill>
                <a:schemeClr val="accent5">
                  <a:lumMod val="20000"/>
                  <a:lumOff val="80000"/>
                </a:schemeClr>
              </a:solidFill>
              <a:latin typeface="Amasis MT Pro Light" panose="02040304050005020304" pitchFamily="18" charset="0"/>
            </a:endParaRPr>
          </a:p>
        </p:txBody>
      </p:sp>
      <p:pic>
        <p:nvPicPr>
          <p:cNvPr id="3" name="Grafik 2">
            <a:extLst>
              <a:ext uri="{FF2B5EF4-FFF2-40B4-BE49-F238E27FC236}">
                <a16:creationId xmlns:a16="http://schemas.microsoft.com/office/drawing/2014/main" id="{332D3008-C713-0845-6A5E-3DEBC99DDC9D}"/>
              </a:ext>
            </a:extLst>
          </p:cNvPr>
          <p:cNvPicPr>
            <a:picLocks noChangeAspect="1"/>
          </p:cNvPicPr>
          <p:nvPr/>
        </p:nvPicPr>
        <p:blipFill>
          <a:blip r:embed="rId2"/>
          <a:srcRect t="19929"/>
          <a:stretch/>
        </p:blipFill>
        <p:spPr>
          <a:xfrm>
            <a:off x="813983" y="3200434"/>
            <a:ext cx="7697522" cy="354645"/>
          </a:xfrm>
          <a:prstGeom prst="rect">
            <a:avLst/>
          </a:prstGeom>
        </p:spPr>
      </p:pic>
      <p:pic>
        <p:nvPicPr>
          <p:cNvPr id="5" name="Grafik 4" descr="Ein Bild, das Logo, Grafiken, Schrift, weiß enthält.&#10;&#10;Automatisch generierte Beschreibung">
            <a:extLst>
              <a:ext uri="{FF2B5EF4-FFF2-40B4-BE49-F238E27FC236}">
                <a16:creationId xmlns:a16="http://schemas.microsoft.com/office/drawing/2014/main" id="{7618CE72-E4E0-3DD1-917B-75C55BBB25EA}"/>
              </a:ext>
            </a:extLst>
          </p:cNvPr>
          <p:cNvPicPr>
            <a:picLocks noChangeAspect="1"/>
          </p:cNvPicPr>
          <p:nvPr/>
        </p:nvPicPr>
        <p:blipFill>
          <a:blip r:embed="rId3"/>
          <a:stretch>
            <a:fillRect/>
          </a:stretch>
        </p:blipFill>
        <p:spPr>
          <a:xfrm>
            <a:off x="6961372" y="44450"/>
            <a:ext cx="1671811" cy="1671811"/>
          </a:xfrm>
          <a:prstGeom prst="rect">
            <a:avLst/>
          </a:prstGeom>
        </p:spPr>
      </p:pic>
      <p:grpSp>
        <p:nvGrpSpPr>
          <p:cNvPr id="6" name="Google Shape;13768;p64">
            <a:extLst>
              <a:ext uri="{FF2B5EF4-FFF2-40B4-BE49-F238E27FC236}">
                <a16:creationId xmlns:a16="http://schemas.microsoft.com/office/drawing/2014/main" id="{C40447D6-BD2E-5E47-B92D-05C0C935DB4A}"/>
              </a:ext>
            </a:extLst>
          </p:cNvPr>
          <p:cNvGrpSpPr/>
          <p:nvPr/>
        </p:nvGrpSpPr>
        <p:grpSpPr>
          <a:xfrm>
            <a:off x="173088" y="3047659"/>
            <a:ext cx="499533" cy="305136"/>
            <a:chOff x="7009649" y="1541981"/>
            <a:chExt cx="524940" cy="320655"/>
          </a:xfrm>
        </p:grpSpPr>
        <p:sp>
          <p:nvSpPr>
            <p:cNvPr id="7" name="Google Shape;13769;p64">
              <a:extLst>
                <a:ext uri="{FF2B5EF4-FFF2-40B4-BE49-F238E27FC236}">
                  <a16:creationId xmlns:a16="http://schemas.microsoft.com/office/drawing/2014/main" id="{05AD3CF6-2E7F-D2B0-03E9-693C186D8629}"/>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2A4B33D6-C5D7-73A1-0F28-F9F22B5A36FC}"/>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1;p64">
              <a:extLst>
                <a:ext uri="{FF2B5EF4-FFF2-40B4-BE49-F238E27FC236}">
                  <a16:creationId xmlns:a16="http://schemas.microsoft.com/office/drawing/2014/main" id="{CFD243BB-7290-0931-AE49-417EBBE2D0AF}"/>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8A0BE15B-BA99-CE00-9817-C644EC60C0ED}"/>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9A41A72F-AF51-0D5E-27C1-CCF7C70240EE}"/>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5326334F-4774-3A18-E4CD-FD9F936F8B5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20572F81-58EA-A28A-39CD-DC4BCC4E27B7}"/>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7A31A40B-9F36-8C0E-A9E4-788D2F465295}"/>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8355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8AD5BF1B-7C07-C330-2099-72BC322AF624}"/>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50B4C885-8181-5090-B465-0861AC87F2B9}"/>
              </a:ext>
            </a:extLst>
          </p:cNvPr>
          <p:cNvSpPr txBox="1"/>
          <p:nvPr/>
        </p:nvSpPr>
        <p:spPr>
          <a:xfrm>
            <a:off x="219342" y="342704"/>
            <a:ext cx="4572000" cy="338554"/>
          </a:xfrm>
          <a:prstGeom prst="rect">
            <a:avLst/>
          </a:prstGeom>
          <a:noFill/>
        </p:spPr>
        <p:txBody>
          <a:bodyPr wrap="square">
            <a:spAutoFit/>
          </a:bodyPr>
          <a:lstStyle/>
          <a:p>
            <a:r>
              <a:rPr lang="en" sz="1600" dirty="0">
                <a:solidFill>
                  <a:schemeClr val="accent5">
                    <a:lumMod val="40000"/>
                    <a:lumOff val="60000"/>
                  </a:schemeClr>
                </a:solidFill>
                <a:latin typeface="Amasis MT Pro Light" panose="02040304050005020304" pitchFamily="18" charset="0"/>
              </a:rPr>
              <a:t>Accessibility Checklisten</a:t>
            </a:r>
            <a:endParaRPr lang="de-AT" sz="1600" dirty="0">
              <a:solidFill>
                <a:schemeClr val="accent5">
                  <a:lumMod val="40000"/>
                  <a:lumOff val="60000"/>
                </a:schemeClr>
              </a:solidFill>
              <a:latin typeface="Amasis MT Pro Light" panose="02040304050005020304" pitchFamily="18" charset="0"/>
            </a:endParaRPr>
          </a:p>
        </p:txBody>
      </p:sp>
      <p:sp>
        <p:nvSpPr>
          <p:cNvPr id="5" name="Rectangle 2">
            <a:extLst>
              <a:ext uri="{FF2B5EF4-FFF2-40B4-BE49-F238E27FC236}">
                <a16:creationId xmlns:a16="http://schemas.microsoft.com/office/drawing/2014/main" id="{ECF0B109-F615-13B2-1CDB-4E391AC6F403}"/>
              </a:ext>
            </a:extLst>
          </p:cNvPr>
          <p:cNvSpPr>
            <a:spLocks noChangeArrowheads="1"/>
          </p:cNvSpPr>
          <p:nvPr/>
        </p:nvSpPr>
        <p:spPr bwMode="auto">
          <a:xfrm>
            <a:off x="371742" y="1020203"/>
            <a:ext cx="60384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Fokus Sichtbarkeit</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Sichtbare Fokus-Indikatoren für interaktive Elemente.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Semantic</a:t>
            </a:r>
            <a:r>
              <a:rPr kumimoji="0" lang="de-DE" altLang="de-DE" sz="1200" b="1" i="0" u="none" strike="noStrike" cap="none" normalizeH="0" baseline="0" dirty="0">
                <a:ln>
                  <a:noFill/>
                </a:ln>
                <a:solidFill>
                  <a:schemeClr val="accent5"/>
                </a:solidFill>
                <a:effectLst/>
                <a:latin typeface="Amasis MT Pro Light" panose="02040304050005020304" pitchFamily="18" charset="0"/>
              </a:rPr>
              <a:t> HTML</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Verwendung von aussagekräftigen HTML-Tags.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Beschreibungen von Medien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Alternativtexte für Bilder (z. B. alt-Attribute).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Keyboard </a:t>
            </a: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Accessibility</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Bedienung der Website ohne Maus.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Farbkontrast</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Ausreichender Kontrast zwischen Text und Hintergrund.</a:t>
            </a: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Logische Reihenfolge von </a:t>
            </a:r>
            <a:r>
              <a:rPr kumimoji="0" lang="de-DE" altLang="de-DE" sz="1200" b="1" i="0" u="none" strike="noStrike" cap="none" normalizeH="0" baseline="0" dirty="0" err="1">
                <a:ln>
                  <a:noFill/>
                </a:ln>
                <a:solidFill>
                  <a:schemeClr val="accent5"/>
                </a:solidFill>
                <a:effectLst/>
                <a:latin typeface="Amasis MT Pro Light" panose="02040304050005020304" pitchFamily="18" charset="0"/>
              </a:rPr>
              <a:t>Headings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Überschriften hierarchisch und sinnvoll anordnen.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Error Messages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Klare und hilfreiche Fehlermeldungen.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Adaptives Design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Inhalte passen sich an verschiedene Geräte und Bildschirmgrößen 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Skip Links</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Links, um direkt zu wichtigen Inhalten zu springen.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Sprache definieren</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Hauptsprache der Seite festlegen (z. B. &lt;</a:t>
            </a:r>
            <a:r>
              <a:rPr kumimoji="0" lang="de-DE" altLang="de-DE" sz="1200" b="0" i="0" u="none" strike="noStrike" cap="none" normalizeH="0" baseline="0" dirty="0" err="1">
                <a:ln>
                  <a:noFill/>
                </a:ln>
                <a:solidFill>
                  <a:schemeClr val="accent5">
                    <a:lumMod val="20000"/>
                    <a:lumOff val="80000"/>
                  </a:schemeClr>
                </a:solidFill>
                <a:effectLst/>
                <a:latin typeface="Amasis MT Pro Light" panose="02040304050005020304" pitchFamily="18" charset="0"/>
              </a:rPr>
              <a:t>html</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 lang="de"&gt;).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e-DE" altLang="de-DE" sz="1200" b="1" i="0" u="none" strike="noStrike" cap="none" normalizeH="0" baseline="0" dirty="0">
                <a:ln>
                  <a:noFill/>
                </a:ln>
                <a:solidFill>
                  <a:schemeClr val="accent5"/>
                </a:solidFill>
                <a:effectLst/>
                <a:latin typeface="Amasis MT Pro Light" panose="02040304050005020304" pitchFamily="18" charset="0"/>
              </a:rPr>
              <a:t>Viele Tests</a:t>
            </a:r>
            <a:r>
              <a:rPr kumimoji="0" lang="de-DE" altLang="de-DE" sz="1200" b="0" i="0" u="none" strike="noStrike" cap="none" normalizeH="0" baseline="0" dirty="0">
                <a:ln>
                  <a:noFill/>
                </a:ln>
                <a:solidFill>
                  <a:schemeClr val="accent5"/>
                </a:solidFill>
                <a:effectLst/>
                <a:latin typeface="Amasis MT Pro Light" panose="02040304050005020304" pitchFamily="18" charset="0"/>
              </a:rPr>
              <a:t>: </a:t>
            </a:r>
            <a:r>
              <a:rPr kumimoji="0" lang="de-DE" altLang="de-DE" sz="1200" b="0" i="0" u="none" strike="noStrike" cap="none" normalizeH="0" baseline="0" dirty="0">
                <a:ln>
                  <a:noFill/>
                </a:ln>
                <a:solidFill>
                  <a:schemeClr val="accent5">
                    <a:lumMod val="20000"/>
                    <a:lumOff val="80000"/>
                  </a:schemeClr>
                </a:solidFill>
                <a:effectLst/>
                <a:latin typeface="Amasis MT Pro Light" panose="02040304050005020304" pitchFamily="18" charset="0"/>
              </a:rPr>
              <a:t>Regelmäßiges Testen mit echten Nutzern und Tools.</a:t>
            </a:r>
            <a:r>
              <a:rPr kumimoji="0" lang="de-DE" altLang="de-DE" sz="1100" b="0" i="0" u="none" strike="noStrike" cap="none" normalizeH="0" baseline="0" dirty="0">
                <a:ln>
                  <a:noFill/>
                </a:ln>
                <a:solidFill>
                  <a:schemeClr val="accent5">
                    <a:lumMod val="20000"/>
                    <a:lumOff val="80000"/>
                  </a:schemeClr>
                </a:solidFill>
                <a:effectLst/>
                <a:latin typeface="Arial" panose="020B0604020202020204" pitchFamily="34" charset="0"/>
              </a:rPr>
              <a:t> </a:t>
            </a:r>
          </a:p>
        </p:txBody>
      </p:sp>
      <p:pic>
        <p:nvPicPr>
          <p:cNvPr id="7" name="Grafik 6" descr="Ein Bild, das Logo, Grafiken, Schrift, weiß enthält.&#10;&#10;Automatisch generierte Beschreibung">
            <a:extLst>
              <a:ext uri="{FF2B5EF4-FFF2-40B4-BE49-F238E27FC236}">
                <a16:creationId xmlns:a16="http://schemas.microsoft.com/office/drawing/2014/main" id="{FF03C9EC-7027-030A-96B3-E6E6580E41C8}"/>
              </a:ext>
            </a:extLst>
          </p:cNvPr>
          <p:cNvPicPr>
            <a:picLocks noChangeAspect="1"/>
          </p:cNvPicPr>
          <p:nvPr/>
        </p:nvPicPr>
        <p:blipFill>
          <a:blip r:embed="rId2"/>
          <a:stretch>
            <a:fillRect/>
          </a:stretch>
        </p:blipFill>
        <p:spPr>
          <a:xfrm>
            <a:off x="6993122" y="72144"/>
            <a:ext cx="1671811" cy="1671811"/>
          </a:xfrm>
          <a:prstGeom prst="rect">
            <a:avLst/>
          </a:prstGeom>
        </p:spPr>
      </p:pic>
    </p:spTree>
    <p:extLst>
      <p:ext uri="{BB962C8B-B14F-4D97-AF65-F5344CB8AC3E}">
        <p14:creationId xmlns:p14="http://schemas.microsoft.com/office/powerpoint/2010/main" val="38230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FC5D2869-94B1-FA03-015D-40344081E863}"/>
              </a:ext>
            </a:extLst>
          </p:cNvPr>
          <p:cNvSpPr/>
          <p:nvPr/>
        </p:nvSpPr>
        <p:spPr>
          <a:xfrm>
            <a:off x="0" y="250241"/>
            <a:ext cx="303348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A86A2360-56F2-E021-7EA3-57F175841F9B}"/>
              </a:ext>
            </a:extLst>
          </p:cNvPr>
          <p:cNvSpPr txBox="1"/>
          <p:nvPr/>
        </p:nvSpPr>
        <p:spPr>
          <a:xfrm>
            <a:off x="0" y="358092"/>
            <a:ext cx="4572000" cy="338554"/>
          </a:xfrm>
          <a:prstGeom prst="rect">
            <a:avLst/>
          </a:prstGeom>
          <a:noFill/>
        </p:spPr>
        <p:txBody>
          <a:bodyPr wrap="square">
            <a:spAutoFit/>
          </a:bodyPr>
          <a:lstStyle/>
          <a:p>
            <a:r>
              <a:rPr lang="de-DE" sz="1600" dirty="0">
                <a:solidFill>
                  <a:schemeClr val="accent5">
                    <a:lumMod val="40000"/>
                    <a:lumOff val="60000"/>
                  </a:schemeClr>
                </a:solidFill>
                <a:latin typeface="Amasis MT Pro Light" panose="02040304050005020304" pitchFamily="18" charset="0"/>
              </a:rPr>
              <a:t>Tools für </a:t>
            </a:r>
            <a:r>
              <a:rPr lang="de-DE" sz="1600" dirty="0" err="1">
                <a:solidFill>
                  <a:schemeClr val="accent5">
                    <a:lumMod val="40000"/>
                    <a:lumOff val="60000"/>
                  </a:schemeClr>
                </a:solidFill>
                <a:latin typeface="Amasis MT Pro Light" panose="02040304050005020304" pitchFamily="18" charset="0"/>
              </a:rPr>
              <a:t>Accessibility</a:t>
            </a:r>
            <a:r>
              <a:rPr lang="de-DE" sz="1600" dirty="0">
                <a:solidFill>
                  <a:schemeClr val="accent5">
                    <a:lumMod val="40000"/>
                    <a:lumOff val="60000"/>
                  </a:schemeClr>
                </a:solidFill>
                <a:latin typeface="Amasis MT Pro Light" panose="02040304050005020304" pitchFamily="18" charset="0"/>
              </a:rPr>
              <a:t> Checkers</a:t>
            </a:r>
            <a:endParaRPr lang="de-AT" sz="1600" dirty="0">
              <a:solidFill>
                <a:schemeClr val="accent5">
                  <a:lumMod val="40000"/>
                  <a:lumOff val="60000"/>
                </a:schemeClr>
              </a:solidFill>
              <a:latin typeface="Amasis MT Pro Light" panose="02040304050005020304" pitchFamily="18" charset="0"/>
            </a:endParaRPr>
          </a:p>
        </p:txBody>
      </p:sp>
      <p:sp>
        <p:nvSpPr>
          <p:cNvPr id="5" name="Textfeld 4">
            <a:extLst>
              <a:ext uri="{FF2B5EF4-FFF2-40B4-BE49-F238E27FC236}">
                <a16:creationId xmlns:a16="http://schemas.microsoft.com/office/drawing/2014/main" id="{C0858239-6175-82B3-0502-EFBE59FA87D2}"/>
              </a:ext>
            </a:extLst>
          </p:cNvPr>
          <p:cNvSpPr txBox="1"/>
          <p:nvPr/>
        </p:nvSpPr>
        <p:spPr>
          <a:xfrm>
            <a:off x="307240" y="1216018"/>
            <a:ext cx="6282246" cy="1415772"/>
          </a:xfrm>
          <a:prstGeom prst="rect">
            <a:avLst/>
          </a:prstGeom>
          <a:noFill/>
        </p:spPr>
        <p:txBody>
          <a:bodyPr wrap="square">
            <a:spAutoFit/>
          </a:bodyPr>
          <a:lstStyle/>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mehrere zahlreiche Tools zur Überprüfung von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Accessibility</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t>
            </a:r>
          </a:p>
          <a:p>
            <a:pPr marR="0" algn="l" rtl="0">
              <a:spcBef>
                <a:spcPts val="0"/>
              </a:spcBef>
              <a:spcAft>
                <a:spcPts val="0"/>
              </a:spcAft>
            </a:pP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viele Webseiten mit Checklisten</a:t>
            </a: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Es gibt Webseiten, wo man sein Code zur Überprüfung hochladen kann</a:t>
            </a:r>
            <a:endParaRPr lang="ru-RU" sz="1600" dirty="0">
              <a:solidFill>
                <a:schemeClr val="accent5">
                  <a:lumMod val="20000"/>
                  <a:lumOff val="80000"/>
                </a:schemeClr>
              </a:solidFill>
              <a:effectLst/>
            </a:endParaRPr>
          </a:p>
          <a:p>
            <a:pPr marR="0" algn="l" rtl="0">
              <a:spcBef>
                <a:spcPts val="0"/>
              </a:spcBef>
              <a:spcAft>
                <a:spcPts val="0"/>
              </a:spcAft>
            </a:pP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Direkt im Chrome Browser gibt es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Lighthouse</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Repot</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Tool, mit Hilfe davon kann man SEO, </a:t>
            </a:r>
            <a:r>
              <a:rPr lang="de-AT" sz="1400" b="0" i="0" dirty="0" err="1">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Accessibility</a:t>
            </a:r>
            <a:r>
              <a:rPr lang="de-AT" sz="1400" b="0" i="0" dirty="0">
                <a:solidFill>
                  <a:schemeClr val="accent5">
                    <a:lumMod val="20000"/>
                    <a:lumOff val="80000"/>
                  </a:schemeClr>
                </a:solidFill>
                <a:effectLst/>
                <a:latin typeface="Amasis MT Pro Light" panose="02040304050005020304" pitchFamily="18" charset="0"/>
                <a:ea typeface="Arial" panose="020B0604020202020204" pitchFamily="34" charset="0"/>
                <a:cs typeface="Arial" panose="020B0604020202020204" pitchFamily="34" charset="0"/>
              </a:rPr>
              <a:t> und andere wichtige Sachen checken</a:t>
            </a:r>
            <a:endParaRPr lang="ru-RU" sz="1600" dirty="0">
              <a:solidFill>
                <a:schemeClr val="accent5">
                  <a:lumMod val="20000"/>
                  <a:lumOff val="80000"/>
                </a:schemeClr>
              </a:solidFill>
              <a:effectLst/>
            </a:endParaRPr>
          </a:p>
        </p:txBody>
      </p:sp>
      <p:pic>
        <p:nvPicPr>
          <p:cNvPr id="7" name="Рисунок 2">
            <a:extLst>
              <a:ext uri="{FF2B5EF4-FFF2-40B4-BE49-F238E27FC236}">
                <a16:creationId xmlns:a16="http://schemas.microsoft.com/office/drawing/2014/main" id="{369EFC39-CC48-8BE9-E476-78B803B01B20}"/>
              </a:ext>
            </a:extLst>
          </p:cNvPr>
          <p:cNvPicPr>
            <a:picLocks noChangeAspect="1"/>
          </p:cNvPicPr>
          <p:nvPr/>
        </p:nvPicPr>
        <p:blipFill>
          <a:blip r:embed="rId2"/>
          <a:stretch>
            <a:fillRect/>
          </a:stretch>
        </p:blipFill>
        <p:spPr>
          <a:xfrm>
            <a:off x="4209282" y="2886695"/>
            <a:ext cx="4531020" cy="1933938"/>
          </a:xfrm>
          <a:prstGeom prst="rect">
            <a:avLst/>
          </a:prstGeom>
        </p:spPr>
      </p:pic>
      <p:pic>
        <p:nvPicPr>
          <p:cNvPr id="8" name="Grafik 7" descr="Ein Bild, das Text, Screenshot, Software, Kreis enthält.&#10;&#10;Automatisch generierte Beschreibung">
            <a:extLst>
              <a:ext uri="{FF2B5EF4-FFF2-40B4-BE49-F238E27FC236}">
                <a16:creationId xmlns:a16="http://schemas.microsoft.com/office/drawing/2014/main" id="{E116B371-7103-6654-18D0-4BD5852DAF64}"/>
              </a:ext>
            </a:extLst>
          </p:cNvPr>
          <p:cNvPicPr>
            <a:picLocks noChangeAspect="1"/>
          </p:cNvPicPr>
          <p:nvPr/>
        </p:nvPicPr>
        <p:blipFill>
          <a:blip r:embed="rId3"/>
          <a:stretch>
            <a:fillRect/>
          </a:stretch>
        </p:blipFill>
        <p:spPr>
          <a:xfrm>
            <a:off x="4654685" y="3028172"/>
            <a:ext cx="3176884" cy="1978341"/>
          </a:xfrm>
          <a:prstGeom prst="rect">
            <a:avLst/>
          </a:prstGeom>
        </p:spPr>
      </p:pic>
      <p:pic>
        <p:nvPicPr>
          <p:cNvPr id="9" name="Рисунок 2">
            <a:extLst>
              <a:ext uri="{FF2B5EF4-FFF2-40B4-BE49-F238E27FC236}">
                <a16:creationId xmlns:a16="http://schemas.microsoft.com/office/drawing/2014/main" id="{89D16009-0106-AF22-CDE3-3F30582E57D1}"/>
              </a:ext>
            </a:extLst>
          </p:cNvPr>
          <p:cNvPicPr>
            <a:picLocks noChangeAspect="1"/>
          </p:cNvPicPr>
          <p:nvPr/>
        </p:nvPicPr>
        <p:blipFill>
          <a:blip r:embed="rId4"/>
          <a:stretch>
            <a:fillRect/>
          </a:stretch>
        </p:blipFill>
        <p:spPr>
          <a:xfrm>
            <a:off x="307240" y="2817670"/>
            <a:ext cx="3400075" cy="2188843"/>
          </a:xfrm>
          <a:prstGeom prst="rect">
            <a:avLst/>
          </a:prstGeom>
        </p:spPr>
      </p:pic>
      <p:pic>
        <p:nvPicPr>
          <p:cNvPr id="10" name="Grafik 9" descr="Ein Bild, das Logo, Grafiken, Schrift, weiß enthält.&#10;&#10;Automatisch generierte Beschreibung">
            <a:extLst>
              <a:ext uri="{FF2B5EF4-FFF2-40B4-BE49-F238E27FC236}">
                <a16:creationId xmlns:a16="http://schemas.microsoft.com/office/drawing/2014/main" id="{AEFADF07-3CBB-DC27-9640-E17B96C3A0C9}"/>
              </a:ext>
            </a:extLst>
          </p:cNvPr>
          <p:cNvPicPr>
            <a:picLocks noChangeAspect="1"/>
          </p:cNvPicPr>
          <p:nvPr/>
        </p:nvPicPr>
        <p:blipFill>
          <a:blip r:embed="rId5"/>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284372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6F6BBE3F-C526-BCB4-30ED-AEC40F5AD196}"/>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feld 5">
            <a:extLst>
              <a:ext uri="{FF2B5EF4-FFF2-40B4-BE49-F238E27FC236}">
                <a16:creationId xmlns:a16="http://schemas.microsoft.com/office/drawing/2014/main" id="{BC42F570-1AC1-5D43-2A64-9FE35633086C}"/>
              </a:ext>
            </a:extLst>
          </p:cNvPr>
          <p:cNvSpPr txBox="1"/>
          <p:nvPr/>
        </p:nvSpPr>
        <p:spPr>
          <a:xfrm>
            <a:off x="329013" y="358092"/>
            <a:ext cx="4572000" cy="338554"/>
          </a:xfrm>
          <a:prstGeom prst="rect">
            <a:avLst/>
          </a:prstGeom>
          <a:noFill/>
        </p:spPr>
        <p:txBody>
          <a:bodyPr wrap="square">
            <a:spAutoFit/>
          </a:bodyPr>
          <a:lstStyle/>
          <a:p>
            <a:r>
              <a:rPr lang="de-AT" sz="1600" dirty="0">
                <a:solidFill>
                  <a:schemeClr val="accent5">
                    <a:lumMod val="40000"/>
                    <a:lumOff val="60000"/>
                  </a:schemeClr>
                </a:solidFill>
                <a:latin typeface="Amasis MT Pro Light" panose="02040304050005020304" pitchFamily="18" charset="0"/>
              </a:rPr>
              <a:t>Basics von SEO:</a:t>
            </a:r>
          </a:p>
        </p:txBody>
      </p:sp>
      <p:pic>
        <p:nvPicPr>
          <p:cNvPr id="14" name="Grafik 13" descr="Ein Bild, das Screenshot, Text, Schrift enthält.&#10;&#10;Automatisch generierte Beschreibung">
            <a:extLst>
              <a:ext uri="{FF2B5EF4-FFF2-40B4-BE49-F238E27FC236}">
                <a16:creationId xmlns:a16="http://schemas.microsoft.com/office/drawing/2014/main" id="{16D92408-E7FE-A432-46A4-D0AF6BB62423}"/>
              </a:ext>
            </a:extLst>
          </p:cNvPr>
          <p:cNvPicPr>
            <a:picLocks noChangeAspect="1"/>
          </p:cNvPicPr>
          <p:nvPr/>
        </p:nvPicPr>
        <p:blipFill>
          <a:blip r:embed="rId2"/>
          <a:srcRect t="6632" r="9590" b="19316"/>
          <a:stretch/>
        </p:blipFill>
        <p:spPr>
          <a:xfrm>
            <a:off x="1198963" y="3614219"/>
            <a:ext cx="5966684" cy="825500"/>
          </a:xfrm>
          <a:prstGeom prst="rect">
            <a:avLst/>
          </a:prstGeom>
        </p:spPr>
      </p:pic>
      <p:sp>
        <p:nvSpPr>
          <p:cNvPr id="16" name="Textfeld 15">
            <a:extLst>
              <a:ext uri="{FF2B5EF4-FFF2-40B4-BE49-F238E27FC236}">
                <a16:creationId xmlns:a16="http://schemas.microsoft.com/office/drawing/2014/main" id="{4181E40B-604D-4ECD-B3E4-55A20F4060AA}"/>
              </a:ext>
            </a:extLst>
          </p:cNvPr>
          <p:cNvSpPr txBox="1"/>
          <p:nvPr/>
        </p:nvSpPr>
        <p:spPr>
          <a:xfrm>
            <a:off x="133990" y="1325494"/>
            <a:ext cx="6736709" cy="1815882"/>
          </a:xfrm>
          <a:prstGeom prst="rect">
            <a:avLst/>
          </a:prstGeom>
          <a:noFill/>
        </p:spPr>
        <p:txBody>
          <a:bodyPr wrap="square">
            <a:spAutoFit/>
          </a:bodyPr>
          <a:lstStyle/>
          <a:p>
            <a:r>
              <a:rPr lang="de-DE" b="1" dirty="0">
                <a:solidFill>
                  <a:schemeClr val="accent5">
                    <a:lumMod val="20000"/>
                    <a:lumOff val="80000"/>
                  </a:schemeClr>
                </a:solidFill>
              </a:rPr>
              <a:t>SEO</a:t>
            </a:r>
            <a:r>
              <a:rPr lang="de-DE" dirty="0">
                <a:solidFill>
                  <a:schemeClr val="accent5">
                    <a:lumMod val="20000"/>
                    <a:lumOff val="80000"/>
                  </a:schemeClr>
                </a:solidFill>
              </a:rPr>
              <a:t> (Search Engine </a:t>
            </a:r>
            <a:r>
              <a:rPr lang="de-DE" dirty="0" err="1">
                <a:solidFill>
                  <a:schemeClr val="accent5">
                    <a:lumMod val="20000"/>
                    <a:lumOff val="80000"/>
                  </a:schemeClr>
                </a:solidFill>
              </a:rPr>
              <a:t>Optimisation</a:t>
            </a:r>
            <a:r>
              <a:rPr lang="de-DE" dirty="0">
                <a:solidFill>
                  <a:schemeClr val="accent5">
                    <a:lumMod val="20000"/>
                    <a:lumOff val="80000"/>
                  </a:schemeClr>
                </a:solidFill>
              </a:rPr>
              <a:t>) sorgt dafür, dass Suchmaschinen Ihre Inhalte verstehen und Benutzer Ihre Website leichter finden können. Es hilft auch, zu entscheiden, ob Benutzer Ihre Website über Suchergebnisse besuchen möchten.</a:t>
            </a:r>
          </a:p>
          <a:p>
            <a:endParaRPr lang="de-DE" dirty="0">
              <a:solidFill>
                <a:schemeClr val="accent5">
                  <a:lumMod val="20000"/>
                  <a:lumOff val="80000"/>
                </a:schemeClr>
              </a:solidFill>
            </a:endParaRPr>
          </a:p>
          <a:p>
            <a:r>
              <a:rPr lang="de-DE" b="1" dirty="0">
                <a:solidFill>
                  <a:schemeClr val="accent5">
                    <a:lumMod val="20000"/>
                    <a:lumOff val="80000"/>
                  </a:schemeClr>
                </a:solidFill>
              </a:rPr>
              <a:t>Google Search Essentials</a:t>
            </a:r>
            <a:r>
              <a:rPr lang="de-DE" dirty="0">
                <a:solidFill>
                  <a:schemeClr val="accent5">
                    <a:lumMod val="20000"/>
                    <a:lumOff val="80000"/>
                  </a:schemeClr>
                </a:solidFill>
              </a:rPr>
              <a:t>: Richtlinien, die sicherstellen, dass Inhalte in der Google-Suche gut angezeigt und bewertet werden.</a:t>
            </a:r>
          </a:p>
          <a:p>
            <a:r>
              <a:rPr lang="de-DE" b="1" dirty="0">
                <a:solidFill>
                  <a:schemeClr val="accent5">
                    <a:lumMod val="20000"/>
                    <a:lumOff val="80000"/>
                  </a:schemeClr>
                </a:solidFill>
              </a:rPr>
              <a:t>Vorteile von SEO</a:t>
            </a:r>
            <a:r>
              <a:rPr lang="de-DE" dirty="0">
                <a:solidFill>
                  <a:schemeClr val="accent5">
                    <a:lumMod val="20000"/>
                    <a:lumOff val="80000"/>
                  </a:schemeClr>
                </a:solidFill>
              </a:rPr>
              <a:t>: Höhere Chancen, in den Google-Suchergebnissen zu erscheinen und die Sichtbarkeit Ihrer Website zu verbessern.</a:t>
            </a:r>
          </a:p>
        </p:txBody>
      </p:sp>
      <p:pic>
        <p:nvPicPr>
          <p:cNvPr id="17" name="Grafik 16" descr="Ein Bild, das Logo, Grafiken, Schrift, weiß enthält.&#10;&#10;Automatisch generierte Beschreibung">
            <a:extLst>
              <a:ext uri="{FF2B5EF4-FFF2-40B4-BE49-F238E27FC236}">
                <a16:creationId xmlns:a16="http://schemas.microsoft.com/office/drawing/2014/main" id="{37102F88-C2AD-B5D1-4256-2546FAD3869A}"/>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18" name="Google Shape;13768;p64">
            <a:extLst>
              <a:ext uri="{FF2B5EF4-FFF2-40B4-BE49-F238E27FC236}">
                <a16:creationId xmlns:a16="http://schemas.microsoft.com/office/drawing/2014/main" id="{B80E92F1-3DD4-3E74-9B90-E7DDF2097A86}"/>
              </a:ext>
            </a:extLst>
          </p:cNvPr>
          <p:cNvGrpSpPr/>
          <p:nvPr/>
        </p:nvGrpSpPr>
        <p:grpSpPr>
          <a:xfrm>
            <a:off x="699430" y="3465088"/>
            <a:ext cx="499533" cy="305136"/>
            <a:chOff x="7009649" y="1541981"/>
            <a:chExt cx="524940" cy="320655"/>
          </a:xfrm>
        </p:grpSpPr>
        <p:sp>
          <p:nvSpPr>
            <p:cNvPr id="19" name="Google Shape;13769;p64">
              <a:extLst>
                <a:ext uri="{FF2B5EF4-FFF2-40B4-BE49-F238E27FC236}">
                  <a16:creationId xmlns:a16="http://schemas.microsoft.com/office/drawing/2014/main" id="{86FEA185-9B19-1781-35F9-BAB96CB18AE5}"/>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770;p64">
              <a:extLst>
                <a:ext uri="{FF2B5EF4-FFF2-40B4-BE49-F238E27FC236}">
                  <a16:creationId xmlns:a16="http://schemas.microsoft.com/office/drawing/2014/main" id="{1992A400-A087-1AF4-5CC1-53C335EFB585}"/>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771;p64">
              <a:extLst>
                <a:ext uri="{FF2B5EF4-FFF2-40B4-BE49-F238E27FC236}">
                  <a16:creationId xmlns:a16="http://schemas.microsoft.com/office/drawing/2014/main" id="{E150D90C-AF6F-A16B-5057-8C834358E9B3}"/>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772;p64">
              <a:extLst>
                <a:ext uri="{FF2B5EF4-FFF2-40B4-BE49-F238E27FC236}">
                  <a16:creationId xmlns:a16="http://schemas.microsoft.com/office/drawing/2014/main" id="{2D46F8F8-77C0-2A17-530E-E0F84B78FDC2}"/>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773;p64">
              <a:extLst>
                <a:ext uri="{FF2B5EF4-FFF2-40B4-BE49-F238E27FC236}">
                  <a16:creationId xmlns:a16="http://schemas.microsoft.com/office/drawing/2014/main" id="{87AC0827-9221-CA34-D6E5-BA09A7925A47}"/>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74;p64">
              <a:extLst>
                <a:ext uri="{FF2B5EF4-FFF2-40B4-BE49-F238E27FC236}">
                  <a16:creationId xmlns:a16="http://schemas.microsoft.com/office/drawing/2014/main" id="{0FE91E31-E277-9E16-3D3A-0F9C762CDD1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75;p64">
              <a:extLst>
                <a:ext uri="{FF2B5EF4-FFF2-40B4-BE49-F238E27FC236}">
                  <a16:creationId xmlns:a16="http://schemas.microsoft.com/office/drawing/2014/main" id="{E37ECCBB-4F2B-312C-A952-8CF38B128801}"/>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776;p64">
              <a:extLst>
                <a:ext uri="{FF2B5EF4-FFF2-40B4-BE49-F238E27FC236}">
                  <a16:creationId xmlns:a16="http://schemas.microsoft.com/office/drawing/2014/main" id="{FB1FDA5C-CF38-89AC-0F9C-C1702F3FE7ED}"/>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63209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C7017628-E138-675E-D6D2-3DC0A7520235}"/>
              </a:ext>
            </a:extLst>
          </p:cNvPr>
          <p:cNvSpPr/>
          <p:nvPr/>
        </p:nvSpPr>
        <p:spPr>
          <a:xfrm>
            <a:off x="-1" y="250241"/>
            <a:ext cx="2801007"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2B422418-074F-3F74-EB7F-97AF59D7C496}"/>
              </a:ext>
            </a:extLst>
          </p:cNvPr>
          <p:cNvSpPr txBox="1"/>
          <p:nvPr/>
        </p:nvSpPr>
        <p:spPr>
          <a:xfrm>
            <a:off x="96344" y="1077502"/>
            <a:ext cx="5967905" cy="2303195"/>
          </a:xfrm>
          <a:prstGeom prst="rect">
            <a:avLst/>
          </a:prstGeom>
          <a:noFill/>
        </p:spPr>
        <p:txBody>
          <a:bodyPr wrap="square">
            <a:spAutoFit/>
          </a:bodyPr>
          <a:lstStyle/>
          <a:p>
            <a:pPr>
              <a:spcAft>
                <a:spcPts val="50"/>
              </a:spcAft>
            </a:pPr>
            <a:r>
              <a:rPr lang="de-DE" sz="1600" dirty="0">
                <a:solidFill>
                  <a:schemeClr val="accent5">
                    <a:lumMod val="20000"/>
                    <a:lumOff val="80000"/>
                  </a:schemeClr>
                </a:solidFill>
                <a:latin typeface="Amasis MT Pro Light" panose="02040304050005020304" pitchFamily="18" charset="0"/>
                <a:sym typeface="Albert Sans Medium"/>
              </a:rPr>
              <a:t>Die </a:t>
            </a:r>
            <a:r>
              <a:rPr lang="de-DE" sz="1600" b="1" dirty="0">
                <a:solidFill>
                  <a:schemeClr val="accent5">
                    <a:lumMod val="20000"/>
                    <a:lumOff val="80000"/>
                  </a:schemeClr>
                </a:solidFill>
                <a:latin typeface="Amasis MT Pro Light" panose="02040304050005020304" pitchFamily="18" charset="0"/>
                <a:sym typeface="Albert Sans Medium"/>
              </a:rPr>
              <a:t>Google-Suche</a:t>
            </a:r>
            <a:r>
              <a:rPr lang="de-DE" sz="1600" dirty="0">
                <a:solidFill>
                  <a:schemeClr val="accent5">
                    <a:lumMod val="20000"/>
                    <a:lumOff val="80000"/>
                  </a:schemeClr>
                </a:solidFill>
                <a:latin typeface="Amasis MT Pro Light" panose="02040304050005020304" pitchFamily="18" charset="0"/>
                <a:sym typeface="Albert Sans Medium"/>
              </a:rPr>
              <a:t> funktioniert in drei Phasen:</a:t>
            </a:r>
          </a:p>
          <a:p>
            <a:pPr>
              <a:spcAft>
                <a:spcPts val="50"/>
              </a:spcAft>
            </a:pPr>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b="1" dirty="0" err="1">
                <a:solidFill>
                  <a:schemeClr val="accent5">
                    <a:lumMod val="20000"/>
                    <a:lumOff val="80000"/>
                  </a:schemeClr>
                </a:solidFill>
                <a:latin typeface="Amasis MT Pro Light" panose="02040304050005020304" pitchFamily="18" charset="0"/>
                <a:sym typeface="Albert Sans Medium"/>
              </a:rPr>
              <a:t>Crawling</a:t>
            </a:r>
            <a:r>
              <a:rPr lang="de-DE" sz="1400" dirty="0">
                <a:solidFill>
                  <a:schemeClr val="accent5">
                    <a:lumMod val="20000"/>
                    <a:lumOff val="80000"/>
                  </a:schemeClr>
                </a:solidFill>
                <a:latin typeface="Amasis MT Pro Light" panose="02040304050005020304" pitchFamily="18" charset="0"/>
                <a:sym typeface="Albert Sans Medium"/>
              </a:rPr>
              <a:t>: Ermittlung, welche Seiten im Web vorhanden sind </a:t>
            </a:r>
            <a:r>
              <a:rPr lang="en-US" sz="1400" dirty="0">
                <a:solidFill>
                  <a:schemeClr val="accent5">
                    <a:lumMod val="20000"/>
                    <a:lumOff val="80000"/>
                  </a:schemeClr>
                </a:solidFill>
                <a:latin typeface="Amasis MT Pro Light" panose="02040304050005020304" pitchFamily="18" charset="0"/>
                <a:sym typeface="Albert Sans Medium"/>
              </a:rPr>
              <a:t>-&gt; </a:t>
            </a:r>
            <a:r>
              <a:rPr lang="de-DE" sz="1400" dirty="0">
                <a:solidFill>
                  <a:schemeClr val="accent5">
                    <a:lumMod val="20000"/>
                    <a:lumOff val="80000"/>
                  </a:schemeClr>
                </a:solidFill>
                <a:latin typeface="Amasis MT Pro Light" panose="02040304050005020304" pitchFamily="18" charset="0"/>
                <a:sym typeface="Albert Sans Medium"/>
              </a:rPr>
              <a:t>Google lädt mit automatisierten Programmen, sogenannten Crawlern, Text, Bilder und Videos von Seiten herunter, die es im Internet gefunden hat.</a:t>
            </a:r>
          </a:p>
          <a:p>
            <a:pPr marL="285750" indent="-285750">
              <a:buFont typeface="Arial" panose="020B0604020202020204" pitchFamily="34" charset="0"/>
              <a:buChar char="•"/>
            </a:pPr>
            <a:endParaRPr lang="de-DE" sz="1400" dirty="0">
              <a:solidFill>
                <a:schemeClr val="accent5">
                  <a:lumMod val="20000"/>
                  <a:lumOff val="80000"/>
                </a:schemeClr>
              </a:solidFill>
              <a:latin typeface="Amasis MT Pro Light" panose="02040304050005020304" pitchFamily="18" charset="0"/>
              <a:sym typeface="Albert Sans Medium"/>
            </a:endParaRPr>
          </a:p>
          <a:p>
            <a:r>
              <a:rPr lang="de-DE" sz="1400" b="1" dirty="0" err="1">
                <a:solidFill>
                  <a:schemeClr val="accent5">
                    <a:lumMod val="20000"/>
                    <a:lumOff val="80000"/>
                  </a:schemeClr>
                </a:solidFill>
                <a:latin typeface="Amasis MT Pro Light" panose="02040304050005020304" pitchFamily="18" charset="0"/>
                <a:sym typeface="Albert Sans Medium"/>
              </a:rPr>
              <a:t>Indexing</a:t>
            </a:r>
            <a:r>
              <a:rPr lang="de-DE" sz="1400" b="1" dirty="0">
                <a:solidFill>
                  <a:schemeClr val="accent5">
                    <a:lumMod val="20000"/>
                    <a:lumOff val="80000"/>
                  </a:schemeClr>
                </a:solidFill>
                <a:latin typeface="Amasis MT Pro Light" panose="02040304050005020304" pitchFamily="18" charset="0"/>
                <a:sym typeface="Albert Sans Medium"/>
              </a:rPr>
              <a:t>: </a:t>
            </a:r>
            <a:r>
              <a:rPr lang="de-DE" sz="1400" dirty="0">
                <a:solidFill>
                  <a:schemeClr val="accent5">
                    <a:lumMod val="20000"/>
                    <a:lumOff val="80000"/>
                  </a:schemeClr>
                </a:solidFill>
                <a:latin typeface="Amasis MT Pro Light" panose="02040304050005020304" pitchFamily="18" charset="0"/>
                <a:sym typeface="Albert Sans Medium"/>
              </a:rPr>
              <a:t>Analysieren der Text-, Bild- und Videodateien auf der Seite und Speichern der Informationen im Google-Index, einer großen Datenbank.</a:t>
            </a:r>
          </a:p>
          <a:p>
            <a:r>
              <a:rPr lang="de-DE" sz="1400" b="1" dirty="0">
                <a:solidFill>
                  <a:schemeClr val="accent5">
                    <a:lumMod val="20000"/>
                    <a:lumOff val="80000"/>
                  </a:schemeClr>
                </a:solidFill>
                <a:latin typeface="Amasis MT Pro Light" panose="02040304050005020304" pitchFamily="18" charset="0"/>
                <a:sym typeface="Albert Sans Medium"/>
              </a:rPr>
              <a:t>Bereitstellen von Suchergebnissen: </a:t>
            </a:r>
            <a:r>
              <a:rPr lang="de-DE" sz="1400" dirty="0">
                <a:solidFill>
                  <a:schemeClr val="accent5">
                    <a:lumMod val="20000"/>
                    <a:lumOff val="80000"/>
                  </a:schemeClr>
                </a:solidFill>
                <a:latin typeface="Amasis MT Pro Light" panose="02040304050005020304" pitchFamily="18" charset="0"/>
                <a:sym typeface="Albert Sans Medium"/>
              </a:rPr>
              <a:t>Wenn ein Nutzer bei Google sucht, gibt Google Informationen zurück, die für die Suchanfrage des Nutzers relevant sind.</a:t>
            </a:r>
          </a:p>
        </p:txBody>
      </p:sp>
      <p:sp>
        <p:nvSpPr>
          <p:cNvPr id="5" name="Textfeld 4">
            <a:extLst>
              <a:ext uri="{FF2B5EF4-FFF2-40B4-BE49-F238E27FC236}">
                <a16:creationId xmlns:a16="http://schemas.microsoft.com/office/drawing/2014/main" id="{51938ADA-3A5E-2DF1-CCBE-8D591442274A}"/>
              </a:ext>
            </a:extLst>
          </p:cNvPr>
          <p:cNvSpPr txBox="1"/>
          <p:nvPr/>
        </p:nvSpPr>
        <p:spPr>
          <a:xfrm>
            <a:off x="0" y="358092"/>
            <a:ext cx="2922187" cy="307777"/>
          </a:xfrm>
          <a:prstGeom prst="rect">
            <a:avLst/>
          </a:prstGeom>
          <a:noFill/>
        </p:spPr>
        <p:txBody>
          <a:bodyPr wrap="square" rtlCol="0">
            <a:spAutoFit/>
          </a:bodyPr>
          <a:lstStyle/>
          <a:p>
            <a:r>
              <a:rPr lang="de-AT" sz="1400" dirty="0">
                <a:solidFill>
                  <a:schemeClr val="accent5">
                    <a:lumMod val="40000"/>
                    <a:lumOff val="60000"/>
                  </a:schemeClr>
                </a:solidFill>
                <a:latin typeface="Amasis MT Pro Light" panose="02040304050005020304" pitchFamily="18" charset="0"/>
              </a:rPr>
              <a:t>Basics von </a:t>
            </a:r>
            <a:r>
              <a:rPr lang="de-AT" sz="1400" dirty="0" err="1">
                <a:solidFill>
                  <a:schemeClr val="accent5">
                    <a:lumMod val="40000"/>
                    <a:lumOff val="60000"/>
                  </a:schemeClr>
                </a:solidFill>
                <a:latin typeface="Amasis MT Pro Light" panose="02040304050005020304" pitchFamily="18" charset="0"/>
              </a:rPr>
              <a:t>Indexing</a:t>
            </a:r>
            <a:r>
              <a:rPr lang="de-AT" sz="1400" dirty="0">
                <a:solidFill>
                  <a:schemeClr val="accent5">
                    <a:lumMod val="40000"/>
                    <a:lumOff val="60000"/>
                  </a:schemeClr>
                </a:solidFill>
                <a:latin typeface="Amasis MT Pro Light" panose="02040304050005020304" pitchFamily="18" charset="0"/>
              </a:rPr>
              <a:t> und </a:t>
            </a:r>
            <a:r>
              <a:rPr lang="de-AT" sz="1400" dirty="0" err="1">
                <a:solidFill>
                  <a:schemeClr val="accent5">
                    <a:lumMod val="40000"/>
                    <a:lumOff val="60000"/>
                  </a:schemeClr>
                </a:solidFill>
                <a:latin typeface="Amasis MT Pro Light" panose="02040304050005020304" pitchFamily="18" charset="0"/>
              </a:rPr>
              <a:t>Crawling</a:t>
            </a:r>
            <a:r>
              <a:rPr lang="de-AT" sz="1400" dirty="0"/>
              <a:t>:</a:t>
            </a:r>
            <a:endParaRPr lang="de-AT" dirty="0"/>
          </a:p>
        </p:txBody>
      </p:sp>
      <p:pic>
        <p:nvPicPr>
          <p:cNvPr id="3" name="Grafik 2">
            <a:extLst>
              <a:ext uri="{FF2B5EF4-FFF2-40B4-BE49-F238E27FC236}">
                <a16:creationId xmlns:a16="http://schemas.microsoft.com/office/drawing/2014/main" id="{B06D6DCF-40FE-5AFB-FAC1-A277CE4BC3DF}"/>
              </a:ext>
            </a:extLst>
          </p:cNvPr>
          <p:cNvPicPr>
            <a:picLocks noChangeAspect="1"/>
          </p:cNvPicPr>
          <p:nvPr/>
        </p:nvPicPr>
        <p:blipFill>
          <a:blip r:embed="rId2"/>
          <a:stretch>
            <a:fillRect/>
          </a:stretch>
        </p:blipFill>
        <p:spPr>
          <a:xfrm>
            <a:off x="1806786" y="3528949"/>
            <a:ext cx="6449415" cy="1323772"/>
          </a:xfrm>
          <a:prstGeom prst="rect">
            <a:avLst/>
          </a:prstGeom>
        </p:spPr>
      </p:pic>
      <p:pic>
        <p:nvPicPr>
          <p:cNvPr id="6" name="Grafik 5" descr="Ein Bild, das Logo, Grafiken, Schrift, weiß enthält.&#10;&#10;Automatisch generierte Beschreibung">
            <a:extLst>
              <a:ext uri="{FF2B5EF4-FFF2-40B4-BE49-F238E27FC236}">
                <a16:creationId xmlns:a16="http://schemas.microsoft.com/office/drawing/2014/main" id="{0D257E85-4377-8776-8961-EEEF4F7DE2BC}"/>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7" name="Google Shape;13768;p64">
            <a:extLst>
              <a:ext uri="{FF2B5EF4-FFF2-40B4-BE49-F238E27FC236}">
                <a16:creationId xmlns:a16="http://schemas.microsoft.com/office/drawing/2014/main" id="{784DEA84-F365-B620-87C4-3370298B944B}"/>
              </a:ext>
            </a:extLst>
          </p:cNvPr>
          <p:cNvGrpSpPr/>
          <p:nvPr/>
        </p:nvGrpSpPr>
        <p:grpSpPr>
          <a:xfrm>
            <a:off x="1211326" y="3380697"/>
            <a:ext cx="499533" cy="305136"/>
            <a:chOff x="7009649" y="1541981"/>
            <a:chExt cx="524940" cy="320655"/>
          </a:xfrm>
        </p:grpSpPr>
        <p:sp>
          <p:nvSpPr>
            <p:cNvPr id="8" name="Google Shape;13769;p64">
              <a:extLst>
                <a:ext uri="{FF2B5EF4-FFF2-40B4-BE49-F238E27FC236}">
                  <a16:creationId xmlns:a16="http://schemas.microsoft.com/office/drawing/2014/main" id="{CD8F3A9B-F4F5-4DB6-D09C-978D9A8D47DE}"/>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770;p64">
              <a:extLst>
                <a:ext uri="{FF2B5EF4-FFF2-40B4-BE49-F238E27FC236}">
                  <a16:creationId xmlns:a16="http://schemas.microsoft.com/office/drawing/2014/main" id="{7ED5924C-C609-BCA9-67C5-B1EB013F702A}"/>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1;p64">
              <a:extLst>
                <a:ext uri="{FF2B5EF4-FFF2-40B4-BE49-F238E27FC236}">
                  <a16:creationId xmlns:a16="http://schemas.microsoft.com/office/drawing/2014/main" id="{3D66B92C-A8B5-ED5C-5D18-8B6D7D5F5A6C}"/>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2;p64">
              <a:extLst>
                <a:ext uri="{FF2B5EF4-FFF2-40B4-BE49-F238E27FC236}">
                  <a16:creationId xmlns:a16="http://schemas.microsoft.com/office/drawing/2014/main" id="{0B5D7EF3-D542-1244-AF3B-72DB406CF72D}"/>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3;p64">
              <a:extLst>
                <a:ext uri="{FF2B5EF4-FFF2-40B4-BE49-F238E27FC236}">
                  <a16:creationId xmlns:a16="http://schemas.microsoft.com/office/drawing/2014/main" id="{96828682-DCC1-2551-E422-04879898BD28}"/>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4;p64">
              <a:extLst>
                <a:ext uri="{FF2B5EF4-FFF2-40B4-BE49-F238E27FC236}">
                  <a16:creationId xmlns:a16="http://schemas.microsoft.com/office/drawing/2014/main" id="{806501F1-677B-0567-284A-96E8941ED43B}"/>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5;p64">
              <a:extLst>
                <a:ext uri="{FF2B5EF4-FFF2-40B4-BE49-F238E27FC236}">
                  <a16:creationId xmlns:a16="http://schemas.microsoft.com/office/drawing/2014/main" id="{FBCC569F-68BA-76BC-12E6-7A3413407865}"/>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6;p64">
              <a:extLst>
                <a:ext uri="{FF2B5EF4-FFF2-40B4-BE49-F238E27FC236}">
                  <a16:creationId xmlns:a16="http://schemas.microsoft.com/office/drawing/2014/main" id="{179A8EFA-D2B2-63E7-7446-249B5E25C33E}"/>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8409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104805A6-95ED-B59E-0AF0-EF71217B1310}"/>
              </a:ext>
            </a:extLst>
          </p:cNvPr>
          <p:cNvSpPr/>
          <p:nvPr/>
        </p:nvSpPr>
        <p:spPr>
          <a:xfrm>
            <a:off x="0" y="250241"/>
            <a:ext cx="2752696"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B1C8379E-97DA-AACC-6906-41BB563907FF}"/>
              </a:ext>
            </a:extLst>
          </p:cNvPr>
          <p:cNvSpPr txBox="1"/>
          <p:nvPr/>
        </p:nvSpPr>
        <p:spPr>
          <a:xfrm>
            <a:off x="0" y="358092"/>
            <a:ext cx="3294603" cy="307777"/>
          </a:xfrm>
          <a:prstGeom prst="rect">
            <a:avLst/>
          </a:prstGeom>
          <a:noFill/>
        </p:spPr>
        <p:txBody>
          <a:bodyPr wrap="square">
            <a:spAutoFit/>
          </a:bodyPr>
          <a:lstStyle/>
          <a:p>
            <a:r>
              <a:rPr lang="en-US" altLang="en-AT" sz="1400" dirty="0">
                <a:solidFill>
                  <a:srgbClr val="00CFCC"/>
                </a:solidFill>
              </a:rPr>
              <a:t>Bas</a:t>
            </a:r>
            <a:r>
              <a:rPr lang="en-US" altLang="en-AT" sz="1200" dirty="0">
                <a:solidFill>
                  <a:srgbClr val="00CFCC"/>
                </a:solidFill>
              </a:rPr>
              <a:t>ics von Accessibility in General</a:t>
            </a:r>
            <a:endParaRPr lang="de-AT" sz="1200" dirty="0">
              <a:solidFill>
                <a:srgbClr val="00CFCC"/>
              </a:solidFill>
            </a:endParaRPr>
          </a:p>
        </p:txBody>
      </p:sp>
      <p:sp>
        <p:nvSpPr>
          <p:cNvPr id="6" name="Textfeld 5">
            <a:extLst>
              <a:ext uri="{FF2B5EF4-FFF2-40B4-BE49-F238E27FC236}">
                <a16:creationId xmlns:a16="http://schemas.microsoft.com/office/drawing/2014/main" id="{16797801-8FD4-76C2-7220-94BDCD32E6E9}"/>
              </a:ext>
            </a:extLst>
          </p:cNvPr>
          <p:cNvSpPr txBox="1"/>
          <p:nvPr/>
        </p:nvSpPr>
        <p:spPr>
          <a:xfrm>
            <a:off x="52624" y="1215030"/>
            <a:ext cx="4579536" cy="1600438"/>
          </a:xfrm>
          <a:prstGeom prst="rect">
            <a:avLst/>
          </a:prstGeom>
          <a:noFill/>
        </p:spPr>
        <p:txBody>
          <a:bodyPr wrap="square">
            <a:spAutoFit/>
          </a:bodyPr>
          <a:lstStyle/>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Barrierefreiheit bedeutet, dass Websites so gestaltet werden, dass sie für alle Benutzer zugänglich sind, einschließlich Menschen mit Behinderungen. Dies umfasst Elemente wie die Bereitstellung von Textalternativen für Bilder und eine logische Überschriftenstruktur (H1 bis H6), um die Navigation zu erleichtern.</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Bsp.:</a:t>
            </a:r>
            <a:endParaRPr lang="de-AT" dirty="0">
              <a:solidFill>
                <a:schemeClr val="accent5">
                  <a:lumMod val="40000"/>
                  <a:lumOff val="60000"/>
                </a:schemeClr>
              </a:solidFill>
              <a:latin typeface="Amasis MT Pro Light" panose="02040304050005020304" pitchFamily="18" charset="0"/>
            </a:endParaRPr>
          </a:p>
        </p:txBody>
      </p:sp>
      <p:pic>
        <p:nvPicPr>
          <p:cNvPr id="3" name="Grafik 2">
            <a:extLst>
              <a:ext uri="{FF2B5EF4-FFF2-40B4-BE49-F238E27FC236}">
                <a16:creationId xmlns:a16="http://schemas.microsoft.com/office/drawing/2014/main" id="{030ABB6E-102D-9318-7693-4CDAA868D6C5}"/>
              </a:ext>
            </a:extLst>
          </p:cNvPr>
          <p:cNvPicPr>
            <a:picLocks noChangeAspect="1"/>
          </p:cNvPicPr>
          <p:nvPr/>
        </p:nvPicPr>
        <p:blipFill>
          <a:blip r:embed="rId2"/>
          <a:srcRect l="648" t="-1651" r="713" b="48922"/>
          <a:stretch/>
        </p:blipFill>
        <p:spPr>
          <a:xfrm>
            <a:off x="1011733" y="2931698"/>
            <a:ext cx="4018900" cy="650155"/>
          </a:xfrm>
          <a:prstGeom prst="rect">
            <a:avLst/>
          </a:prstGeom>
        </p:spPr>
      </p:pic>
      <p:pic>
        <p:nvPicPr>
          <p:cNvPr id="5" name="Grafik 4" descr="Ein Bild, das Text, Screenshot, Schrift, Reihe enthält.&#10;&#10;Automatisch generierte Beschreibung">
            <a:extLst>
              <a:ext uri="{FF2B5EF4-FFF2-40B4-BE49-F238E27FC236}">
                <a16:creationId xmlns:a16="http://schemas.microsoft.com/office/drawing/2014/main" id="{968BDEDA-E1EC-6D1E-BEC6-96B8FFC6291F}"/>
              </a:ext>
            </a:extLst>
          </p:cNvPr>
          <p:cNvPicPr>
            <a:picLocks noChangeAspect="1"/>
          </p:cNvPicPr>
          <p:nvPr/>
        </p:nvPicPr>
        <p:blipFill>
          <a:blip r:embed="rId3"/>
          <a:srcRect t="26471" r="12242"/>
          <a:stretch/>
        </p:blipFill>
        <p:spPr>
          <a:xfrm>
            <a:off x="1011733" y="3581853"/>
            <a:ext cx="4018900" cy="610465"/>
          </a:xfrm>
          <a:prstGeom prst="rect">
            <a:avLst/>
          </a:prstGeom>
        </p:spPr>
      </p:pic>
      <p:pic>
        <p:nvPicPr>
          <p:cNvPr id="7" name="Grafik 6" descr="Ein Bild, das Logo, Grafiken, Schrift, weiß enthält.&#10;&#10;Automatisch generierte Beschreibung">
            <a:extLst>
              <a:ext uri="{FF2B5EF4-FFF2-40B4-BE49-F238E27FC236}">
                <a16:creationId xmlns:a16="http://schemas.microsoft.com/office/drawing/2014/main" id="{20CB656F-131D-04F6-A16B-EB304F089A27}"/>
              </a:ext>
            </a:extLst>
          </p:cNvPr>
          <p:cNvPicPr>
            <a:picLocks noChangeAspect="1"/>
          </p:cNvPicPr>
          <p:nvPr/>
        </p:nvPicPr>
        <p:blipFill>
          <a:blip r:embed="rId4"/>
          <a:stretch>
            <a:fillRect/>
          </a:stretch>
        </p:blipFill>
        <p:spPr>
          <a:xfrm>
            <a:off x="7551922" y="111033"/>
            <a:ext cx="1419317" cy="1419317"/>
          </a:xfrm>
          <a:prstGeom prst="rect">
            <a:avLst/>
          </a:prstGeom>
        </p:spPr>
      </p:pic>
      <p:grpSp>
        <p:nvGrpSpPr>
          <p:cNvPr id="8" name="Google Shape;9631;p57">
            <a:extLst>
              <a:ext uri="{FF2B5EF4-FFF2-40B4-BE49-F238E27FC236}">
                <a16:creationId xmlns:a16="http://schemas.microsoft.com/office/drawing/2014/main" id="{4D53E415-B4C1-D239-AB32-AFA4203EFBB5}"/>
              </a:ext>
            </a:extLst>
          </p:cNvPr>
          <p:cNvGrpSpPr/>
          <p:nvPr/>
        </p:nvGrpSpPr>
        <p:grpSpPr>
          <a:xfrm>
            <a:off x="377284" y="2829476"/>
            <a:ext cx="499015" cy="427299"/>
            <a:chOff x="2026845" y="4406466"/>
            <a:chExt cx="327274" cy="294522"/>
          </a:xfrm>
        </p:grpSpPr>
        <p:grpSp>
          <p:nvGrpSpPr>
            <p:cNvPr id="12" name="Google Shape;9641;p57">
              <a:extLst>
                <a:ext uri="{FF2B5EF4-FFF2-40B4-BE49-F238E27FC236}">
                  <a16:creationId xmlns:a16="http://schemas.microsoft.com/office/drawing/2014/main" id="{E4A6815D-F6E8-7B2B-669B-4B09950BEBAC}"/>
                </a:ext>
              </a:extLst>
            </p:cNvPr>
            <p:cNvGrpSpPr/>
            <p:nvPr/>
          </p:nvGrpSpPr>
          <p:grpSpPr>
            <a:xfrm>
              <a:off x="2206288" y="4406466"/>
              <a:ext cx="147831" cy="294522"/>
              <a:chOff x="2448708" y="4808511"/>
              <a:chExt cx="159232" cy="317236"/>
            </a:xfrm>
          </p:grpSpPr>
          <p:sp>
            <p:nvSpPr>
              <p:cNvPr id="16" name="Google Shape;9642;p57">
                <a:extLst>
                  <a:ext uri="{FF2B5EF4-FFF2-40B4-BE49-F238E27FC236}">
                    <a16:creationId xmlns:a16="http://schemas.microsoft.com/office/drawing/2014/main" id="{B8BA92F0-A097-A08E-0725-CF75AC0E1B9D}"/>
                  </a:ext>
                </a:extLst>
              </p:cNvPr>
              <p:cNvSpPr/>
              <p:nvPr/>
            </p:nvSpPr>
            <p:spPr>
              <a:xfrm>
                <a:off x="2448708" y="487127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643;p57">
                <a:extLst>
                  <a:ext uri="{FF2B5EF4-FFF2-40B4-BE49-F238E27FC236}">
                    <a16:creationId xmlns:a16="http://schemas.microsoft.com/office/drawing/2014/main" id="{2FE6D071-2D7B-3321-2D6D-9CF8D62B82B6}"/>
                  </a:ext>
                </a:extLst>
              </p:cNvPr>
              <p:cNvSpPr/>
              <p:nvPr/>
            </p:nvSpPr>
            <p:spPr>
              <a:xfrm>
                <a:off x="2502417" y="4808511"/>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9644;p57">
              <a:extLst>
                <a:ext uri="{FF2B5EF4-FFF2-40B4-BE49-F238E27FC236}">
                  <a16:creationId xmlns:a16="http://schemas.microsoft.com/office/drawing/2014/main" id="{8B6A64C7-C616-51D4-0225-D12F3581B84C}"/>
                </a:ext>
              </a:extLst>
            </p:cNvPr>
            <p:cNvGrpSpPr/>
            <p:nvPr/>
          </p:nvGrpSpPr>
          <p:grpSpPr>
            <a:xfrm>
              <a:off x="2026845" y="4406471"/>
              <a:ext cx="118572" cy="294517"/>
              <a:chOff x="2366939" y="4808516"/>
              <a:chExt cx="127717" cy="317230"/>
            </a:xfrm>
          </p:grpSpPr>
          <p:sp>
            <p:nvSpPr>
              <p:cNvPr id="14" name="Google Shape;9645;p57">
                <a:extLst>
                  <a:ext uri="{FF2B5EF4-FFF2-40B4-BE49-F238E27FC236}">
                    <a16:creationId xmlns:a16="http://schemas.microsoft.com/office/drawing/2014/main" id="{C2597EA3-603A-9F6B-4F7A-5CF4113FE356}"/>
                  </a:ext>
                </a:extLst>
              </p:cNvPr>
              <p:cNvSpPr/>
              <p:nvPr/>
            </p:nvSpPr>
            <p:spPr>
              <a:xfrm>
                <a:off x="2366939" y="4869404"/>
                <a:ext cx="127717" cy="256342"/>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46;p57">
                <a:extLst>
                  <a:ext uri="{FF2B5EF4-FFF2-40B4-BE49-F238E27FC236}">
                    <a16:creationId xmlns:a16="http://schemas.microsoft.com/office/drawing/2014/main" id="{76C96A03-F44D-7C69-4B37-7A87BD908E1B}"/>
                  </a:ext>
                </a:extLst>
              </p:cNvPr>
              <p:cNvSpPr/>
              <p:nvPr/>
            </p:nvSpPr>
            <p:spPr>
              <a:xfrm>
                <a:off x="2404703" y="4808516"/>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21341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08;p52" descr="Timeline background shape">
            <a:extLst>
              <a:ext uri="{FF2B5EF4-FFF2-40B4-BE49-F238E27FC236}">
                <a16:creationId xmlns:a16="http://schemas.microsoft.com/office/drawing/2014/main" id="{78868785-470A-6D45-CE57-94EFFB511C3A}"/>
              </a:ext>
            </a:extLst>
          </p:cNvPr>
          <p:cNvSpPr/>
          <p:nvPr/>
        </p:nvSpPr>
        <p:spPr>
          <a:xfrm>
            <a:off x="-1" y="250241"/>
            <a:ext cx="2890345"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feld 3">
            <a:extLst>
              <a:ext uri="{FF2B5EF4-FFF2-40B4-BE49-F238E27FC236}">
                <a16:creationId xmlns:a16="http://schemas.microsoft.com/office/drawing/2014/main" id="{2CB0B57B-F65F-A6E2-E449-64BD02CE4E6E}"/>
              </a:ext>
            </a:extLst>
          </p:cNvPr>
          <p:cNvSpPr txBox="1"/>
          <p:nvPr/>
        </p:nvSpPr>
        <p:spPr>
          <a:xfrm>
            <a:off x="341158" y="358092"/>
            <a:ext cx="4572000" cy="307777"/>
          </a:xfrm>
          <a:prstGeom prst="rect">
            <a:avLst/>
          </a:prstGeom>
          <a:noFill/>
        </p:spPr>
        <p:txBody>
          <a:bodyPr wrap="square">
            <a:spAutoFit/>
          </a:bodyPr>
          <a:lstStyle/>
          <a:p>
            <a:r>
              <a:rPr lang="de-AT" sz="1400" dirty="0">
                <a:solidFill>
                  <a:schemeClr val="accent5">
                    <a:lumMod val="40000"/>
                    <a:lumOff val="60000"/>
                  </a:schemeClr>
                </a:solidFill>
              </a:rPr>
              <a:t>SEO </a:t>
            </a:r>
            <a:r>
              <a:rPr lang="de-AT" sz="1400" dirty="0" err="1">
                <a:solidFill>
                  <a:schemeClr val="accent5">
                    <a:lumMod val="40000"/>
                    <a:lumOff val="60000"/>
                  </a:schemeClr>
                </a:solidFill>
              </a:rPr>
              <a:t>vs</a:t>
            </a:r>
            <a:r>
              <a:rPr lang="de-AT" sz="1400" dirty="0">
                <a:solidFill>
                  <a:schemeClr val="accent5">
                    <a:lumMod val="40000"/>
                    <a:lumOff val="60000"/>
                  </a:schemeClr>
                </a:solidFill>
              </a:rPr>
              <a:t> WCAG </a:t>
            </a:r>
            <a:r>
              <a:rPr lang="de-AT" sz="1400" dirty="0" err="1">
                <a:solidFill>
                  <a:schemeClr val="accent5">
                    <a:lumMod val="40000"/>
                    <a:lumOff val="60000"/>
                  </a:schemeClr>
                </a:solidFill>
              </a:rPr>
              <a:t>vs</a:t>
            </a:r>
            <a:r>
              <a:rPr lang="de-AT" sz="1400" dirty="0">
                <a:solidFill>
                  <a:schemeClr val="accent5">
                    <a:lumMod val="40000"/>
                    <a:lumOff val="60000"/>
                  </a:schemeClr>
                </a:solidFill>
              </a:rPr>
              <a:t> WAI-ARIA:</a:t>
            </a:r>
            <a:endParaRPr lang="de-AT" dirty="0">
              <a:solidFill>
                <a:schemeClr val="accent5">
                  <a:lumMod val="40000"/>
                  <a:lumOff val="60000"/>
                </a:schemeClr>
              </a:solidFill>
            </a:endParaRPr>
          </a:p>
        </p:txBody>
      </p:sp>
      <p:pic>
        <p:nvPicPr>
          <p:cNvPr id="3" name="Grafik 2" descr="Ein Bild, das Text, Screenshot, Schrift, Zahl enthält.&#10;&#10;Automatisch generierte Beschreibung">
            <a:extLst>
              <a:ext uri="{FF2B5EF4-FFF2-40B4-BE49-F238E27FC236}">
                <a16:creationId xmlns:a16="http://schemas.microsoft.com/office/drawing/2014/main" id="{E440ADC7-6D80-FA22-9110-C231BB619B14}"/>
              </a:ext>
            </a:extLst>
          </p:cNvPr>
          <p:cNvPicPr>
            <a:picLocks noChangeAspect="1"/>
          </p:cNvPicPr>
          <p:nvPr/>
        </p:nvPicPr>
        <p:blipFill>
          <a:blip r:embed="rId2"/>
          <a:stretch>
            <a:fillRect/>
          </a:stretch>
        </p:blipFill>
        <p:spPr>
          <a:xfrm>
            <a:off x="1044707" y="2661834"/>
            <a:ext cx="3164902" cy="1314931"/>
          </a:xfrm>
          <a:prstGeom prst="rect">
            <a:avLst/>
          </a:prstGeom>
        </p:spPr>
      </p:pic>
      <p:sp>
        <p:nvSpPr>
          <p:cNvPr id="6" name="Textfeld 5">
            <a:extLst>
              <a:ext uri="{FF2B5EF4-FFF2-40B4-BE49-F238E27FC236}">
                <a16:creationId xmlns:a16="http://schemas.microsoft.com/office/drawing/2014/main" id="{65B33EA6-EACA-E1E7-0C59-B55BC82C2596}"/>
              </a:ext>
            </a:extLst>
          </p:cNvPr>
          <p:cNvSpPr txBox="1"/>
          <p:nvPr/>
        </p:nvSpPr>
        <p:spPr>
          <a:xfrm>
            <a:off x="184731" y="1223716"/>
            <a:ext cx="4572000" cy="1169551"/>
          </a:xfrm>
          <a:prstGeom prst="rect">
            <a:avLst/>
          </a:prstGeom>
          <a:noFill/>
        </p:spPr>
        <p:txBody>
          <a:bodyPr wrap="square">
            <a:spAutoFit/>
          </a:bodyPr>
          <a:lstStyle/>
          <a:p>
            <a:pPr marL="0" lvl="0" indent="0" algn="l" rtl="0">
              <a:spcBef>
                <a:spcPts val="0"/>
              </a:spcBef>
              <a:spcAft>
                <a:spcPts val="0"/>
              </a:spcAft>
              <a:buNone/>
            </a:pPr>
            <a:r>
              <a:rPr lang="de-DE" dirty="0">
                <a:solidFill>
                  <a:schemeClr val="accent5">
                    <a:lumMod val="40000"/>
                    <a:lumOff val="60000"/>
                  </a:schemeClr>
                </a:solidFill>
                <a:latin typeface="Amasis MT Pro Light" panose="02040304050005020304" pitchFamily="18" charset="0"/>
              </a:rPr>
              <a:t>S</a:t>
            </a:r>
            <a:r>
              <a:rPr lang="de-DE" sz="1400" dirty="0">
                <a:solidFill>
                  <a:schemeClr val="accent5">
                    <a:lumMod val="40000"/>
                    <a:lumOff val="60000"/>
                  </a:schemeClr>
                </a:solidFill>
                <a:latin typeface="Amasis MT Pro Light" panose="02040304050005020304" pitchFamily="18" charset="0"/>
              </a:rPr>
              <a:t>ind Richtlinien, die sicherstellen, dass Webinhalte für Menschen mit Behinderungen zugänglich sind, basierend auf vier Prinzipien: Wahrnehmbarkeit, Bedienbarkeit, Verständlichkeit und Robustheit.</a:t>
            </a:r>
          </a:p>
          <a:p>
            <a:pPr marL="0" lvl="0" indent="0" algn="l" rtl="0">
              <a:spcBef>
                <a:spcPts val="0"/>
              </a:spcBef>
              <a:spcAft>
                <a:spcPts val="0"/>
              </a:spcAft>
              <a:buNone/>
            </a:pPr>
            <a:r>
              <a:rPr lang="de-DE" sz="1400" dirty="0">
                <a:solidFill>
                  <a:schemeClr val="accent5">
                    <a:lumMod val="40000"/>
                    <a:lumOff val="60000"/>
                  </a:schemeClr>
                </a:solidFill>
                <a:latin typeface="Amasis MT Pro Light" panose="02040304050005020304" pitchFamily="18" charset="0"/>
              </a:rPr>
              <a:t>Bsp.:</a:t>
            </a:r>
          </a:p>
        </p:txBody>
      </p:sp>
      <p:pic>
        <p:nvPicPr>
          <p:cNvPr id="7" name="Grafik 6" descr="Ein Bild, das Logo, Grafiken, Schrift, weiß enthält.&#10;&#10;Automatisch generierte Beschreibung">
            <a:extLst>
              <a:ext uri="{FF2B5EF4-FFF2-40B4-BE49-F238E27FC236}">
                <a16:creationId xmlns:a16="http://schemas.microsoft.com/office/drawing/2014/main" id="{BDE9465D-9B68-3611-3EBC-1B58E17092E0}"/>
              </a:ext>
            </a:extLst>
          </p:cNvPr>
          <p:cNvPicPr>
            <a:picLocks noChangeAspect="1"/>
          </p:cNvPicPr>
          <p:nvPr/>
        </p:nvPicPr>
        <p:blipFill>
          <a:blip r:embed="rId3"/>
          <a:stretch>
            <a:fillRect/>
          </a:stretch>
        </p:blipFill>
        <p:spPr>
          <a:xfrm>
            <a:off x="7494773" y="0"/>
            <a:ext cx="1390650" cy="1390650"/>
          </a:xfrm>
          <a:prstGeom prst="rect">
            <a:avLst/>
          </a:prstGeom>
        </p:spPr>
      </p:pic>
      <p:grpSp>
        <p:nvGrpSpPr>
          <p:cNvPr id="8" name="Google Shape;13768;p64">
            <a:extLst>
              <a:ext uri="{FF2B5EF4-FFF2-40B4-BE49-F238E27FC236}">
                <a16:creationId xmlns:a16="http://schemas.microsoft.com/office/drawing/2014/main" id="{95E3601A-5109-27AD-97FA-DB0BD8CAB0E5}"/>
              </a:ext>
            </a:extLst>
          </p:cNvPr>
          <p:cNvGrpSpPr/>
          <p:nvPr/>
        </p:nvGrpSpPr>
        <p:grpSpPr>
          <a:xfrm>
            <a:off x="545174" y="2451581"/>
            <a:ext cx="499533" cy="305136"/>
            <a:chOff x="7009649" y="1541981"/>
            <a:chExt cx="524940" cy="320655"/>
          </a:xfrm>
        </p:grpSpPr>
        <p:sp>
          <p:nvSpPr>
            <p:cNvPr id="9" name="Google Shape;13769;p64">
              <a:extLst>
                <a:ext uri="{FF2B5EF4-FFF2-40B4-BE49-F238E27FC236}">
                  <a16:creationId xmlns:a16="http://schemas.microsoft.com/office/drawing/2014/main" id="{EC7015A3-EE66-CD10-E424-46636B8332B0}"/>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0;p64">
              <a:extLst>
                <a:ext uri="{FF2B5EF4-FFF2-40B4-BE49-F238E27FC236}">
                  <a16:creationId xmlns:a16="http://schemas.microsoft.com/office/drawing/2014/main" id="{4B841381-4C2B-AE90-5A2C-F84996E55476}"/>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1;p64">
              <a:extLst>
                <a:ext uri="{FF2B5EF4-FFF2-40B4-BE49-F238E27FC236}">
                  <a16:creationId xmlns:a16="http://schemas.microsoft.com/office/drawing/2014/main" id="{4562019D-EC06-09AF-9DE6-1F3C633CC7A1}"/>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2;p64">
              <a:extLst>
                <a:ext uri="{FF2B5EF4-FFF2-40B4-BE49-F238E27FC236}">
                  <a16:creationId xmlns:a16="http://schemas.microsoft.com/office/drawing/2014/main" id="{6386544F-A0F2-D8D0-6628-31FDBFD4E02B}"/>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3;p64">
              <a:extLst>
                <a:ext uri="{FF2B5EF4-FFF2-40B4-BE49-F238E27FC236}">
                  <a16:creationId xmlns:a16="http://schemas.microsoft.com/office/drawing/2014/main" id="{8858D58C-A667-AE2D-DD49-E82FC1D33FF0}"/>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4;p64">
              <a:extLst>
                <a:ext uri="{FF2B5EF4-FFF2-40B4-BE49-F238E27FC236}">
                  <a16:creationId xmlns:a16="http://schemas.microsoft.com/office/drawing/2014/main" id="{7720D02D-4925-8B4C-E5D0-51B17052850A}"/>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5;p64">
              <a:extLst>
                <a:ext uri="{FF2B5EF4-FFF2-40B4-BE49-F238E27FC236}">
                  <a16:creationId xmlns:a16="http://schemas.microsoft.com/office/drawing/2014/main" id="{45A7A7FA-30C9-ADAD-010C-FDB6FC858940}"/>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6;p64">
              <a:extLst>
                <a:ext uri="{FF2B5EF4-FFF2-40B4-BE49-F238E27FC236}">
                  <a16:creationId xmlns:a16="http://schemas.microsoft.com/office/drawing/2014/main" id="{F52B564F-61B6-1062-2456-4960195D8BE9}"/>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69657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Text, Schrift, Screenshot, Grafiken enthält.&#10;&#10;Automatisch generierte Beschreibung">
            <a:extLst>
              <a:ext uri="{FF2B5EF4-FFF2-40B4-BE49-F238E27FC236}">
                <a16:creationId xmlns:a16="http://schemas.microsoft.com/office/drawing/2014/main" id="{2B9ABD66-3A1C-4477-39AF-4DA347C3E3DF}"/>
              </a:ext>
            </a:extLst>
          </p:cNvPr>
          <p:cNvPicPr>
            <a:picLocks noChangeAspect="1"/>
          </p:cNvPicPr>
          <p:nvPr/>
        </p:nvPicPr>
        <p:blipFill>
          <a:blip r:embed="rId2"/>
          <a:srcRect t="9258" b="5435"/>
          <a:stretch/>
        </p:blipFill>
        <p:spPr>
          <a:xfrm>
            <a:off x="539307" y="2755900"/>
            <a:ext cx="2457182" cy="1866900"/>
          </a:xfrm>
          <a:prstGeom prst="rect">
            <a:avLst/>
          </a:prstGeom>
        </p:spPr>
      </p:pic>
      <p:sp>
        <p:nvSpPr>
          <p:cNvPr id="4" name="Textfeld 3">
            <a:extLst>
              <a:ext uri="{FF2B5EF4-FFF2-40B4-BE49-F238E27FC236}">
                <a16:creationId xmlns:a16="http://schemas.microsoft.com/office/drawing/2014/main" id="{5B297997-5534-2B28-A188-DB76C79E31D1}"/>
              </a:ext>
            </a:extLst>
          </p:cNvPr>
          <p:cNvSpPr txBox="1"/>
          <p:nvPr/>
        </p:nvSpPr>
        <p:spPr>
          <a:xfrm>
            <a:off x="341630" y="342704"/>
            <a:ext cx="1341120" cy="338554"/>
          </a:xfrm>
          <a:prstGeom prst="rect">
            <a:avLst/>
          </a:prstGeom>
          <a:noFill/>
        </p:spPr>
        <p:txBody>
          <a:bodyPr wrap="square" rtlCol="0">
            <a:spAutoFit/>
          </a:bodyPr>
          <a:lstStyle/>
          <a:p>
            <a:r>
              <a:rPr lang="de-AT" sz="1600" dirty="0">
                <a:solidFill>
                  <a:schemeClr val="accent5">
                    <a:lumMod val="40000"/>
                    <a:lumOff val="60000"/>
                  </a:schemeClr>
                </a:solidFill>
                <a:latin typeface="Amasis MT Pro Light" panose="02040304050005020304" pitchFamily="18" charset="0"/>
              </a:rPr>
              <a:t>&lt;h&gt;tag</a:t>
            </a:r>
          </a:p>
        </p:txBody>
      </p:sp>
      <p:sp>
        <p:nvSpPr>
          <p:cNvPr id="7" name="Rectangle 2">
            <a:extLst>
              <a:ext uri="{FF2B5EF4-FFF2-40B4-BE49-F238E27FC236}">
                <a16:creationId xmlns:a16="http://schemas.microsoft.com/office/drawing/2014/main" id="{7211CFC2-CDC3-9506-648E-59906A5A32E6}"/>
              </a:ext>
            </a:extLst>
          </p:cNvPr>
          <p:cNvSpPr>
            <a:spLocks noChangeArrowheads="1"/>
          </p:cNvSpPr>
          <p:nvPr/>
        </p:nvSpPr>
        <p:spPr bwMode="auto">
          <a:xfrm>
            <a:off x="421692" y="1357293"/>
            <a:ext cx="480422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b="0" i="0" u="none" strike="noStrike" cap="none" normalizeH="0" baseline="0" dirty="0">
                <a:ln>
                  <a:noFill/>
                </a:ln>
                <a:solidFill>
                  <a:schemeClr val="accent5">
                    <a:lumMod val="20000"/>
                    <a:lumOff val="80000"/>
                  </a:schemeClr>
                </a:solidFill>
                <a:effectLst/>
                <a:latin typeface="Amasis MT Pro Light" panose="02040304050005020304" pitchFamily="18" charset="0"/>
              </a:rPr>
              <a:t>Immer nur ein &lt;h1&gt;-Tag auf einer Seite verwenden, da dies die Hauptüberschrift darstellt. Danach sollten die weiteren Überschriften hierarchisch mit &lt;h2&gt;, &lt;h3&gt; usw. strukturiert werden, um die Inhalte logisch und barrierefrei aufzubauen</a:t>
            </a:r>
          </a:p>
        </p:txBody>
      </p:sp>
      <p:sp>
        <p:nvSpPr>
          <p:cNvPr id="8" name="Google Shape;1708;p52" descr="Timeline background shape">
            <a:extLst>
              <a:ext uri="{FF2B5EF4-FFF2-40B4-BE49-F238E27FC236}">
                <a16:creationId xmlns:a16="http://schemas.microsoft.com/office/drawing/2014/main" id="{6F36DEF3-D7F2-F27F-C78C-9F2D39A5F35E}"/>
              </a:ext>
            </a:extLst>
          </p:cNvPr>
          <p:cNvSpPr/>
          <p:nvPr/>
        </p:nvSpPr>
        <p:spPr>
          <a:xfrm>
            <a:off x="0" y="250241"/>
            <a:ext cx="16827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rafik 10" descr="Ein Bild, das Logo, Grafiken, Schrift, weiß enthält.&#10;&#10;Automatisch generierte Beschreibung">
            <a:extLst>
              <a:ext uri="{FF2B5EF4-FFF2-40B4-BE49-F238E27FC236}">
                <a16:creationId xmlns:a16="http://schemas.microsoft.com/office/drawing/2014/main" id="{6ACD5656-19B0-1CE3-F2A8-58EEE61B7EBF}"/>
              </a:ext>
            </a:extLst>
          </p:cNvPr>
          <p:cNvPicPr>
            <a:picLocks noChangeAspect="1"/>
          </p:cNvPicPr>
          <p:nvPr/>
        </p:nvPicPr>
        <p:blipFill>
          <a:blip r:embed="rId3"/>
          <a:stretch>
            <a:fillRect/>
          </a:stretch>
        </p:blipFill>
        <p:spPr>
          <a:xfrm>
            <a:off x="7647172" y="56711"/>
            <a:ext cx="1017947" cy="1017947"/>
          </a:xfrm>
          <a:prstGeom prst="rect">
            <a:avLst/>
          </a:prstGeom>
        </p:spPr>
      </p:pic>
      <p:grpSp>
        <p:nvGrpSpPr>
          <p:cNvPr id="21" name="Google Shape;13768;p64">
            <a:extLst>
              <a:ext uri="{FF2B5EF4-FFF2-40B4-BE49-F238E27FC236}">
                <a16:creationId xmlns:a16="http://schemas.microsoft.com/office/drawing/2014/main" id="{0F502CC1-EFBE-31AE-6464-3605F78A416B}"/>
              </a:ext>
            </a:extLst>
          </p:cNvPr>
          <p:cNvGrpSpPr/>
          <p:nvPr/>
        </p:nvGrpSpPr>
        <p:grpSpPr>
          <a:xfrm>
            <a:off x="222121" y="2419182"/>
            <a:ext cx="499533" cy="305136"/>
            <a:chOff x="7009649" y="1541981"/>
            <a:chExt cx="524940" cy="320655"/>
          </a:xfrm>
        </p:grpSpPr>
        <p:sp>
          <p:nvSpPr>
            <p:cNvPr id="22" name="Google Shape;13769;p64">
              <a:extLst>
                <a:ext uri="{FF2B5EF4-FFF2-40B4-BE49-F238E27FC236}">
                  <a16:creationId xmlns:a16="http://schemas.microsoft.com/office/drawing/2014/main" id="{8E1C3B59-D3C0-37B0-5CE6-9168A0452E49}"/>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770;p64">
              <a:extLst>
                <a:ext uri="{FF2B5EF4-FFF2-40B4-BE49-F238E27FC236}">
                  <a16:creationId xmlns:a16="http://schemas.microsoft.com/office/drawing/2014/main" id="{22D03C25-B9FF-5FAF-0FC0-A2FB54A23ABD}"/>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771;p64">
              <a:extLst>
                <a:ext uri="{FF2B5EF4-FFF2-40B4-BE49-F238E27FC236}">
                  <a16:creationId xmlns:a16="http://schemas.microsoft.com/office/drawing/2014/main" id="{C61F5103-CA4E-6905-3DFE-562E9DEFD079}"/>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72;p64">
              <a:extLst>
                <a:ext uri="{FF2B5EF4-FFF2-40B4-BE49-F238E27FC236}">
                  <a16:creationId xmlns:a16="http://schemas.microsoft.com/office/drawing/2014/main" id="{3560F58B-F9F5-23C1-EF17-671B1CD97806}"/>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773;p64">
              <a:extLst>
                <a:ext uri="{FF2B5EF4-FFF2-40B4-BE49-F238E27FC236}">
                  <a16:creationId xmlns:a16="http://schemas.microsoft.com/office/drawing/2014/main" id="{59E4DCFD-0EB2-FED4-3EF3-4D93278EF045}"/>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774;p64">
              <a:extLst>
                <a:ext uri="{FF2B5EF4-FFF2-40B4-BE49-F238E27FC236}">
                  <a16:creationId xmlns:a16="http://schemas.microsoft.com/office/drawing/2014/main" id="{18FFFAE6-EFF4-1865-2D0B-F1BA6DAC88BC}"/>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775;p64">
              <a:extLst>
                <a:ext uri="{FF2B5EF4-FFF2-40B4-BE49-F238E27FC236}">
                  <a16:creationId xmlns:a16="http://schemas.microsoft.com/office/drawing/2014/main" id="{EDAA07CB-3440-EDC1-C8AA-BDB1D72D1A9C}"/>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776;p64">
              <a:extLst>
                <a:ext uri="{FF2B5EF4-FFF2-40B4-BE49-F238E27FC236}">
                  <a16:creationId xmlns:a16="http://schemas.microsoft.com/office/drawing/2014/main" id="{6E2DE089-C626-93FB-60C8-3520C14AEF2C}"/>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65084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FD7B883-E242-B111-2193-C6FD9CACB3B7}"/>
              </a:ext>
            </a:extLst>
          </p:cNvPr>
          <p:cNvPicPr>
            <a:picLocks noChangeAspect="1"/>
          </p:cNvPicPr>
          <p:nvPr/>
        </p:nvPicPr>
        <p:blipFill>
          <a:blip r:embed="rId2"/>
          <a:stretch>
            <a:fillRect/>
          </a:stretch>
        </p:blipFill>
        <p:spPr>
          <a:xfrm>
            <a:off x="152400" y="3011368"/>
            <a:ext cx="8724900" cy="353180"/>
          </a:xfrm>
          <a:prstGeom prst="rect">
            <a:avLst/>
          </a:prstGeom>
        </p:spPr>
      </p:pic>
      <p:sp>
        <p:nvSpPr>
          <p:cNvPr id="5" name="Textfeld 4">
            <a:extLst>
              <a:ext uri="{FF2B5EF4-FFF2-40B4-BE49-F238E27FC236}">
                <a16:creationId xmlns:a16="http://schemas.microsoft.com/office/drawing/2014/main" id="{FDEE4B52-F3FD-4647-31BC-1D0CE6D962E0}"/>
              </a:ext>
            </a:extLst>
          </p:cNvPr>
          <p:cNvSpPr txBox="1"/>
          <p:nvPr/>
        </p:nvSpPr>
        <p:spPr>
          <a:xfrm>
            <a:off x="152400" y="1611508"/>
            <a:ext cx="4572000" cy="738664"/>
          </a:xfrm>
          <a:prstGeom prst="rect">
            <a:avLst/>
          </a:prstGeom>
          <a:noFill/>
        </p:spPr>
        <p:txBody>
          <a:bodyPr wrap="square">
            <a:spAutoFit/>
          </a:bodyPr>
          <a:lstStyle/>
          <a:p>
            <a:r>
              <a:rPr lang="de-AT" sz="1400" dirty="0">
                <a:solidFill>
                  <a:schemeClr val="accent5">
                    <a:lumMod val="20000"/>
                    <a:lumOff val="80000"/>
                  </a:schemeClr>
                </a:solidFill>
                <a:latin typeface="Amasis MT Pro Light" panose="02040304050005020304" pitchFamily="18" charset="0"/>
                <a:sym typeface="Albert Sans Medium"/>
              </a:rPr>
              <a:t>alt Attribut= beschreibt was im </a:t>
            </a:r>
            <a:r>
              <a:rPr lang="de-AT" sz="1400" dirty="0" err="1">
                <a:solidFill>
                  <a:schemeClr val="accent5">
                    <a:lumMod val="20000"/>
                    <a:lumOff val="80000"/>
                  </a:schemeClr>
                </a:solidFill>
                <a:latin typeface="Amasis MT Pro Light" panose="02040304050005020304" pitchFamily="18" charset="0"/>
                <a:sym typeface="Albert Sans Medium"/>
              </a:rPr>
              <a:t>img</a:t>
            </a:r>
            <a:r>
              <a:rPr lang="de-AT" sz="1400" dirty="0">
                <a:solidFill>
                  <a:schemeClr val="accent5">
                    <a:lumMod val="20000"/>
                    <a:lumOff val="80000"/>
                  </a:schemeClr>
                </a:solidFill>
                <a:latin typeface="Amasis MT Pro Light" panose="02040304050005020304" pitchFamily="18" charset="0"/>
                <a:sym typeface="Albert Sans Medium"/>
              </a:rPr>
              <a:t> gezeigt wird.</a:t>
            </a:r>
          </a:p>
          <a:p>
            <a:r>
              <a:rPr lang="de-AT" sz="1400" dirty="0">
                <a:solidFill>
                  <a:schemeClr val="accent5">
                    <a:lumMod val="20000"/>
                    <a:lumOff val="80000"/>
                  </a:schemeClr>
                </a:solidFill>
                <a:latin typeface="Amasis MT Pro Light" panose="02040304050005020304" pitchFamily="18" charset="0"/>
                <a:sym typeface="Albert Sans Medium"/>
              </a:rPr>
              <a:t>alt dient für die Screenreader, um es laut der Nutzer vorzulesen</a:t>
            </a:r>
            <a:endParaRPr lang="en-AT" sz="1400" dirty="0">
              <a:solidFill>
                <a:schemeClr val="accent5">
                  <a:lumMod val="20000"/>
                  <a:lumOff val="80000"/>
                </a:schemeClr>
              </a:solidFill>
              <a:latin typeface="Amasis MT Pro Light" panose="02040304050005020304" pitchFamily="18" charset="0"/>
              <a:sym typeface="Albert Sans Medium"/>
            </a:endParaRPr>
          </a:p>
        </p:txBody>
      </p:sp>
      <p:sp>
        <p:nvSpPr>
          <p:cNvPr id="6" name="Google Shape;1708;p52" descr="Timeline background shape">
            <a:extLst>
              <a:ext uri="{FF2B5EF4-FFF2-40B4-BE49-F238E27FC236}">
                <a16:creationId xmlns:a16="http://schemas.microsoft.com/office/drawing/2014/main" id="{C19CC63C-741D-DFFB-CAF6-ACD035594199}"/>
              </a:ext>
            </a:extLst>
          </p:cNvPr>
          <p:cNvSpPr/>
          <p:nvPr/>
        </p:nvSpPr>
        <p:spPr>
          <a:xfrm>
            <a:off x="0" y="250241"/>
            <a:ext cx="1682750"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feld 6">
            <a:extLst>
              <a:ext uri="{FF2B5EF4-FFF2-40B4-BE49-F238E27FC236}">
                <a16:creationId xmlns:a16="http://schemas.microsoft.com/office/drawing/2014/main" id="{D8240D08-841E-6094-176C-80A4C81A0741}"/>
              </a:ext>
            </a:extLst>
          </p:cNvPr>
          <p:cNvSpPr txBox="1"/>
          <p:nvPr/>
        </p:nvSpPr>
        <p:spPr>
          <a:xfrm>
            <a:off x="190500" y="358092"/>
            <a:ext cx="1663700" cy="338554"/>
          </a:xfrm>
          <a:prstGeom prst="rect">
            <a:avLst/>
          </a:prstGeom>
          <a:noFill/>
        </p:spPr>
        <p:txBody>
          <a:bodyPr wrap="square" rtlCol="0">
            <a:spAutoFit/>
          </a:bodyPr>
          <a:lstStyle/>
          <a:p>
            <a:r>
              <a:rPr lang="de-AT" sz="1600" dirty="0">
                <a:solidFill>
                  <a:schemeClr val="accent5">
                    <a:lumMod val="40000"/>
                    <a:lumOff val="60000"/>
                  </a:schemeClr>
                </a:solidFill>
                <a:latin typeface="Amasis MT Pro Light" panose="02040304050005020304" pitchFamily="18" charset="0"/>
              </a:rPr>
              <a:t>&lt;</a:t>
            </a:r>
            <a:r>
              <a:rPr lang="de-AT" sz="1600" dirty="0" err="1">
                <a:solidFill>
                  <a:schemeClr val="accent5">
                    <a:lumMod val="40000"/>
                    <a:lumOff val="60000"/>
                  </a:schemeClr>
                </a:solidFill>
                <a:latin typeface="Amasis MT Pro Light" panose="02040304050005020304" pitchFamily="18" charset="0"/>
              </a:rPr>
              <a:t>Imagt</a:t>
            </a:r>
            <a:r>
              <a:rPr lang="de-AT" sz="1600" dirty="0">
                <a:solidFill>
                  <a:schemeClr val="accent5">
                    <a:lumMod val="40000"/>
                    <a:lumOff val="60000"/>
                  </a:schemeClr>
                </a:solidFill>
                <a:latin typeface="Amasis MT Pro Light" panose="02040304050005020304" pitchFamily="18" charset="0"/>
              </a:rPr>
              <a:t>&gt;</a:t>
            </a:r>
            <a:r>
              <a:rPr lang="de-AT" sz="1600" dirty="0" err="1">
                <a:solidFill>
                  <a:schemeClr val="accent5">
                    <a:lumMod val="40000"/>
                    <a:lumOff val="60000"/>
                  </a:schemeClr>
                </a:solidFill>
                <a:latin typeface="Amasis MT Pro Light" panose="02040304050005020304" pitchFamily="18" charset="0"/>
              </a:rPr>
              <a:t>ag</a:t>
            </a:r>
            <a:endParaRPr lang="de-AT" sz="1600" dirty="0">
              <a:solidFill>
                <a:schemeClr val="accent5">
                  <a:lumMod val="40000"/>
                  <a:lumOff val="60000"/>
                </a:schemeClr>
              </a:solidFill>
              <a:latin typeface="Amasis MT Pro Light" panose="02040304050005020304" pitchFamily="18" charset="0"/>
            </a:endParaRPr>
          </a:p>
        </p:txBody>
      </p:sp>
      <p:grpSp>
        <p:nvGrpSpPr>
          <p:cNvPr id="8" name="Google Shape;13768;p64">
            <a:extLst>
              <a:ext uri="{FF2B5EF4-FFF2-40B4-BE49-F238E27FC236}">
                <a16:creationId xmlns:a16="http://schemas.microsoft.com/office/drawing/2014/main" id="{33D881C5-2938-A0E0-5745-28B2AB4D0DE6}"/>
              </a:ext>
            </a:extLst>
          </p:cNvPr>
          <p:cNvGrpSpPr/>
          <p:nvPr/>
        </p:nvGrpSpPr>
        <p:grpSpPr>
          <a:xfrm>
            <a:off x="90424" y="2571750"/>
            <a:ext cx="499533" cy="305136"/>
            <a:chOff x="7009649" y="1541981"/>
            <a:chExt cx="524940" cy="320655"/>
          </a:xfrm>
        </p:grpSpPr>
        <p:sp>
          <p:nvSpPr>
            <p:cNvPr id="9" name="Google Shape;13769;p64">
              <a:extLst>
                <a:ext uri="{FF2B5EF4-FFF2-40B4-BE49-F238E27FC236}">
                  <a16:creationId xmlns:a16="http://schemas.microsoft.com/office/drawing/2014/main" id="{55FACF24-4CF1-DABF-3082-95CA0230E778}"/>
                </a:ext>
              </a:extLst>
            </p:cNvPr>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770;p64">
              <a:extLst>
                <a:ext uri="{FF2B5EF4-FFF2-40B4-BE49-F238E27FC236}">
                  <a16:creationId xmlns:a16="http://schemas.microsoft.com/office/drawing/2014/main" id="{C3996737-7268-E204-ECB8-8C7E3C213C59}"/>
                </a:ext>
              </a:extLst>
            </p:cNvPr>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771;p64">
              <a:extLst>
                <a:ext uri="{FF2B5EF4-FFF2-40B4-BE49-F238E27FC236}">
                  <a16:creationId xmlns:a16="http://schemas.microsoft.com/office/drawing/2014/main" id="{2C1A0B81-1551-83D1-9318-8DF81A44A1AE}"/>
                </a:ext>
              </a:extLst>
            </p:cNvPr>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772;p64">
              <a:extLst>
                <a:ext uri="{FF2B5EF4-FFF2-40B4-BE49-F238E27FC236}">
                  <a16:creationId xmlns:a16="http://schemas.microsoft.com/office/drawing/2014/main" id="{0DC01BB0-84E4-A946-7FD5-31F768798B74}"/>
                </a:ext>
              </a:extLst>
            </p:cNvPr>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773;p64">
              <a:extLst>
                <a:ext uri="{FF2B5EF4-FFF2-40B4-BE49-F238E27FC236}">
                  <a16:creationId xmlns:a16="http://schemas.microsoft.com/office/drawing/2014/main" id="{2232933B-9D4C-81DB-0E71-90B8286622B2}"/>
                </a:ext>
              </a:extLst>
            </p:cNvPr>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774;p64">
              <a:extLst>
                <a:ext uri="{FF2B5EF4-FFF2-40B4-BE49-F238E27FC236}">
                  <a16:creationId xmlns:a16="http://schemas.microsoft.com/office/drawing/2014/main" id="{D1D428A4-5F09-3B9E-6564-FFDAEA4671EF}"/>
                </a:ext>
              </a:extLst>
            </p:cNvPr>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775;p64">
              <a:extLst>
                <a:ext uri="{FF2B5EF4-FFF2-40B4-BE49-F238E27FC236}">
                  <a16:creationId xmlns:a16="http://schemas.microsoft.com/office/drawing/2014/main" id="{B360C2FF-ADF0-715E-1D33-FAB772BE79AD}"/>
                </a:ext>
              </a:extLst>
            </p:cNvPr>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76;p64">
              <a:extLst>
                <a:ext uri="{FF2B5EF4-FFF2-40B4-BE49-F238E27FC236}">
                  <a16:creationId xmlns:a16="http://schemas.microsoft.com/office/drawing/2014/main" id="{AADADC77-21D8-D2A9-DA88-8EC2E4A365E3}"/>
                </a:ext>
              </a:extLst>
            </p:cNvPr>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 name="Grafik 16" descr="Ein Bild, das Logo, Grafiken, Schrift, weiß enthält.&#10;&#10;Automatisch generierte Beschreibung">
            <a:extLst>
              <a:ext uri="{FF2B5EF4-FFF2-40B4-BE49-F238E27FC236}">
                <a16:creationId xmlns:a16="http://schemas.microsoft.com/office/drawing/2014/main" id="{E9A5E249-E59A-8B90-571A-436024F878A4}"/>
              </a:ext>
            </a:extLst>
          </p:cNvPr>
          <p:cNvPicPr>
            <a:picLocks noChangeAspect="1"/>
          </p:cNvPicPr>
          <p:nvPr/>
        </p:nvPicPr>
        <p:blipFill>
          <a:blip r:embed="rId3"/>
          <a:stretch>
            <a:fillRect/>
          </a:stretch>
        </p:blipFill>
        <p:spPr>
          <a:xfrm>
            <a:off x="7647172" y="56711"/>
            <a:ext cx="1017947" cy="1017947"/>
          </a:xfrm>
          <a:prstGeom prst="rect">
            <a:avLst/>
          </a:prstGeom>
        </p:spPr>
      </p:pic>
    </p:spTree>
    <p:extLst>
      <p:ext uri="{BB962C8B-B14F-4D97-AF65-F5344CB8AC3E}">
        <p14:creationId xmlns:p14="http://schemas.microsoft.com/office/powerpoint/2010/main" val="2507548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8220B5-5132-A89B-780E-B7B7CF9B798B}"/>
              </a:ext>
            </a:extLst>
          </p:cNvPr>
          <p:cNvSpPr>
            <a:spLocks noGrp="1"/>
          </p:cNvSpPr>
          <p:nvPr>
            <p:ph type="ctrTitle"/>
          </p:nvPr>
        </p:nvSpPr>
        <p:spPr/>
        <p:txBody>
          <a:bodyPr/>
          <a:lstStyle/>
          <a:p>
            <a:r>
              <a:rPr lang="de-AT" dirty="0"/>
              <a:t>Quellen</a:t>
            </a:r>
          </a:p>
        </p:txBody>
      </p:sp>
      <p:sp>
        <p:nvSpPr>
          <p:cNvPr id="3" name="Textfeld 2">
            <a:extLst>
              <a:ext uri="{FF2B5EF4-FFF2-40B4-BE49-F238E27FC236}">
                <a16:creationId xmlns:a16="http://schemas.microsoft.com/office/drawing/2014/main" id="{D8C51D16-14FD-FA64-859F-EA281A2C6E47}"/>
              </a:ext>
            </a:extLst>
          </p:cNvPr>
          <p:cNvSpPr txBox="1"/>
          <p:nvPr/>
        </p:nvSpPr>
        <p:spPr>
          <a:xfrm>
            <a:off x="618825" y="1944356"/>
            <a:ext cx="8304962" cy="1815882"/>
          </a:xfrm>
          <a:prstGeom prst="rect">
            <a:avLst/>
          </a:prstGeom>
          <a:noFill/>
        </p:spPr>
        <p:txBody>
          <a:bodyPr wrap="square" rtlCol="0">
            <a:spAutoFit/>
          </a:bodyPr>
          <a:lstStyle/>
          <a:p>
            <a:r>
              <a:rPr lang="en-US" dirty="0">
                <a:hlinkClick r:id="rId2"/>
              </a:rPr>
              <a:t>https://axesslab.com/what-is-a-screen-reader/</a:t>
            </a:r>
            <a:r>
              <a:rPr lang="en-US" dirty="0"/>
              <a:t> </a:t>
            </a:r>
            <a:r>
              <a:rPr lang="en-US" dirty="0">
                <a:solidFill>
                  <a:srgbClr val="00CFCC"/>
                </a:solidFill>
              </a:rPr>
              <a:t>(25.10.2024)</a:t>
            </a:r>
          </a:p>
          <a:p>
            <a:r>
              <a:rPr lang="en-US" dirty="0">
                <a:hlinkClick r:id="rId3"/>
              </a:rPr>
              <a:t>https://www.a11yproject.com/checklist/#content</a:t>
            </a:r>
            <a:r>
              <a:rPr lang="en-US" dirty="0"/>
              <a:t> </a:t>
            </a:r>
            <a:r>
              <a:rPr lang="en-US" dirty="0">
                <a:solidFill>
                  <a:srgbClr val="00CFCC"/>
                </a:solidFill>
              </a:rPr>
              <a:t>(25.10.2024)</a:t>
            </a:r>
          </a:p>
          <a:p>
            <a:r>
              <a:rPr lang="en-US" dirty="0">
                <a:hlinkClick r:id="rId4"/>
              </a:rPr>
              <a:t>https://www.linkedin.com/advice/0/how-do-you-ensure-web-accessibility-seo-following</a:t>
            </a:r>
            <a:r>
              <a:rPr lang="en-US" dirty="0"/>
              <a:t> </a:t>
            </a:r>
            <a:r>
              <a:rPr lang="en-US" dirty="0">
                <a:solidFill>
                  <a:srgbClr val="00CFCC"/>
                </a:solidFill>
              </a:rPr>
              <a:t>(20.10.2024)</a:t>
            </a:r>
          </a:p>
          <a:p>
            <a:r>
              <a:rPr lang="en-US" dirty="0">
                <a:hlinkClick r:id="rId5"/>
              </a:rPr>
              <a:t>https://validator.w3.org/#validate_by_upload</a:t>
            </a:r>
            <a:r>
              <a:rPr lang="en-US" dirty="0"/>
              <a:t> </a:t>
            </a:r>
            <a:r>
              <a:rPr lang="en-US" dirty="0">
                <a:solidFill>
                  <a:srgbClr val="00CFCC"/>
                </a:solidFill>
              </a:rPr>
              <a:t>(25.10.2024)</a:t>
            </a:r>
          </a:p>
          <a:p>
            <a:r>
              <a:rPr lang="en-US" dirty="0">
                <a:hlinkClick r:id="rId6"/>
              </a:rPr>
              <a:t>https://developer.chrome.com/docs/lighthouse/overview</a:t>
            </a:r>
            <a:r>
              <a:rPr lang="en-US" dirty="0"/>
              <a:t> </a:t>
            </a:r>
            <a:r>
              <a:rPr lang="en-US" dirty="0">
                <a:solidFill>
                  <a:srgbClr val="00CFCC"/>
                </a:solidFill>
              </a:rPr>
              <a:t>(25.10.2024)</a:t>
            </a:r>
          </a:p>
          <a:p>
            <a:r>
              <a:rPr lang="en-US" dirty="0">
                <a:hlinkClick r:id="rId7"/>
              </a:rPr>
              <a:t>https://developers.google.com/search/docs/fundamentals/seo-starter-guide</a:t>
            </a:r>
            <a:r>
              <a:rPr lang="en-US" dirty="0"/>
              <a:t> </a:t>
            </a:r>
            <a:r>
              <a:rPr lang="en-US" dirty="0">
                <a:solidFill>
                  <a:srgbClr val="00CFCC"/>
                </a:solidFill>
              </a:rPr>
              <a:t>(25.10.2024</a:t>
            </a:r>
          </a:p>
          <a:p>
            <a:r>
              <a:rPr lang="en-US" dirty="0">
                <a:hlinkClick r:id="rId8"/>
              </a:rPr>
              <a:t>https://developers.google.com/search/docs/fundamentals/how-search-works#indexing</a:t>
            </a:r>
            <a:r>
              <a:rPr lang="en-US" dirty="0"/>
              <a:t> </a:t>
            </a:r>
            <a:r>
              <a:rPr lang="en-US" dirty="0">
                <a:solidFill>
                  <a:srgbClr val="00CFCC"/>
                </a:solidFill>
              </a:rPr>
              <a:t>(25.10.2024)</a:t>
            </a:r>
          </a:p>
          <a:p>
            <a:endParaRPr lang="de-AT" dirty="0"/>
          </a:p>
        </p:txBody>
      </p:sp>
      <p:pic>
        <p:nvPicPr>
          <p:cNvPr id="5" name="Grafik 4">
            <a:extLst>
              <a:ext uri="{FF2B5EF4-FFF2-40B4-BE49-F238E27FC236}">
                <a16:creationId xmlns:a16="http://schemas.microsoft.com/office/drawing/2014/main" id="{1EC0EF7A-3592-C9DC-1792-435B32CDCDC9}"/>
              </a:ext>
            </a:extLst>
          </p:cNvPr>
          <p:cNvPicPr>
            <a:picLocks noChangeAspect="1"/>
          </p:cNvPicPr>
          <p:nvPr/>
        </p:nvPicPr>
        <p:blipFill>
          <a:blip r:embed="rId9"/>
          <a:stretch>
            <a:fillRect/>
          </a:stretch>
        </p:blipFill>
        <p:spPr>
          <a:xfrm>
            <a:off x="7846350" y="42393"/>
            <a:ext cx="1027757" cy="1027757"/>
          </a:xfrm>
          <a:prstGeom prst="rect">
            <a:avLst/>
          </a:prstGeom>
        </p:spPr>
      </p:pic>
    </p:spTree>
    <p:extLst>
      <p:ext uri="{BB962C8B-B14F-4D97-AF65-F5344CB8AC3E}">
        <p14:creationId xmlns:p14="http://schemas.microsoft.com/office/powerpoint/2010/main" val="190547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2880E1-275D-5532-FCBF-2CEEDAECB84E}"/>
              </a:ext>
            </a:extLst>
          </p:cNvPr>
          <p:cNvSpPr>
            <a:spLocks noGrp="1"/>
          </p:cNvSpPr>
          <p:nvPr>
            <p:ph type="ctrTitle"/>
          </p:nvPr>
        </p:nvSpPr>
        <p:spPr>
          <a:xfrm>
            <a:off x="1292064" y="677956"/>
            <a:ext cx="6198982" cy="577800"/>
          </a:xfrm>
        </p:spPr>
        <p:txBody>
          <a:bodyPr/>
          <a:lstStyle/>
          <a:p>
            <a:r>
              <a:rPr lang="de-DE" dirty="0"/>
              <a:t>Vielen dank für eure Aufmerksamkeit</a:t>
            </a:r>
            <a:endParaRPr lang="de-AT" dirty="0"/>
          </a:p>
        </p:txBody>
      </p:sp>
      <p:pic>
        <p:nvPicPr>
          <p:cNvPr id="4" name="Grafik 3" descr="Ein Bild, das Animierter Cartoon, Clipart, Zeichnung, Darstellung enthält.&#10;&#10;Automatisch generierte Beschreibung">
            <a:extLst>
              <a:ext uri="{FF2B5EF4-FFF2-40B4-BE49-F238E27FC236}">
                <a16:creationId xmlns:a16="http://schemas.microsoft.com/office/drawing/2014/main" id="{7884A8CC-A25A-7C29-CB07-EEE841EEB886}"/>
              </a:ext>
            </a:extLst>
          </p:cNvPr>
          <p:cNvPicPr>
            <a:picLocks noChangeAspect="1"/>
          </p:cNvPicPr>
          <p:nvPr/>
        </p:nvPicPr>
        <p:blipFill>
          <a:blip r:embed="rId2"/>
          <a:stretch>
            <a:fillRect/>
          </a:stretch>
        </p:blipFill>
        <p:spPr>
          <a:xfrm>
            <a:off x="1814336" y="1513237"/>
            <a:ext cx="5154437" cy="2901757"/>
          </a:xfrm>
          <a:prstGeom prst="rect">
            <a:avLst/>
          </a:prstGeom>
        </p:spPr>
      </p:pic>
      <p:sp>
        <p:nvSpPr>
          <p:cNvPr id="3" name="Google Shape;1708;p52" descr="Timeline background shape">
            <a:extLst>
              <a:ext uri="{FF2B5EF4-FFF2-40B4-BE49-F238E27FC236}">
                <a16:creationId xmlns:a16="http://schemas.microsoft.com/office/drawing/2014/main" id="{989A2E8D-C3B8-9BF5-1C05-44D30E4F29E6}"/>
              </a:ext>
            </a:extLst>
          </p:cNvPr>
          <p:cNvSpPr/>
          <p:nvPr/>
        </p:nvSpPr>
        <p:spPr>
          <a:xfrm>
            <a:off x="-1" y="705115"/>
            <a:ext cx="7625255" cy="523481"/>
          </a:xfrm>
          <a:prstGeom prst="homePlate">
            <a:avLst>
              <a:gd name="adj" fmla="val 50000"/>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rafik 4" descr="Ein Bild, das Logo, Grafiken, Schrift, weiß enthält.&#10;&#10;Automatisch generierte Beschreibung">
            <a:extLst>
              <a:ext uri="{FF2B5EF4-FFF2-40B4-BE49-F238E27FC236}">
                <a16:creationId xmlns:a16="http://schemas.microsoft.com/office/drawing/2014/main" id="{6EABDDF4-1DB6-894F-3A21-B37DE87B6B93}"/>
              </a:ext>
            </a:extLst>
          </p:cNvPr>
          <p:cNvPicPr>
            <a:picLocks noChangeAspect="1"/>
          </p:cNvPicPr>
          <p:nvPr/>
        </p:nvPicPr>
        <p:blipFill>
          <a:blip r:embed="rId3"/>
          <a:stretch>
            <a:fillRect/>
          </a:stretch>
        </p:blipFill>
        <p:spPr>
          <a:xfrm>
            <a:off x="58922" y="-121089"/>
            <a:ext cx="1017947" cy="1017947"/>
          </a:xfrm>
          <a:prstGeom prst="rect">
            <a:avLst/>
          </a:prstGeom>
        </p:spPr>
      </p:pic>
    </p:spTree>
    <p:extLst>
      <p:ext uri="{BB962C8B-B14F-4D97-AF65-F5344CB8AC3E}">
        <p14:creationId xmlns:p14="http://schemas.microsoft.com/office/powerpoint/2010/main" val="2694623457"/>
      </p:ext>
    </p:extLst>
  </p:cSld>
  <p:clrMapOvr>
    <a:masterClrMapping/>
  </p:clrMapOvr>
</p:sld>
</file>

<file path=ppt/theme/theme1.xml><?xml version="1.0" encoding="utf-8"?>
<a:theme xmlns:a="http://schemas.openxmlformats.org/drawingml/2006/main"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1085</Words>
  <Application>Microsoft Office PowerPoint</Application>
  <PresentationFormat>Bildschirmpräsentation (16:9)</PresentationFormat>
  <Paragraphs>122</Paragraphs>
  <Slides>19</Slides>
  <Notes>2</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19</vt:i4>
      </vt:variant>
    </vt:vector>
  </HeadingPairs>
  <TitlesOfParts>
    <vt:vector size="29" baseType="lpstr">
      <vt:lpstr>Arial</vt:lpstr>
      <vt:lpstr>Maven Pro</vt:lpstr>
      <vt:lpstr>Share Tech</vt:lpstr>
      <vt:lpstr>Proxima Nova</vt:lpstr>
      <vt:lpstr>Proxima Nova Semibold</vt:lpstr>
      <vt:lpstr>Nunito Light</vt:lpstr>
      <vt:lpstr>Livvic Light</vt:lpstr>
      <vt:lpstr>Amasis MT Pro Light</vt:lpstr>
      <vt:lpstr>Data Science Consulting by Slidesgo</vt:lpstr>
      <vt:lpstr>Slidesgo Final Pages</vt:lpstr>
      <vt:lpstr>Accessibility Best Practices</vt:lpstr>
      <vt:lpstr>CONTENTS OF THIS TEMPLATE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Quellen</vt:lpstr>
      <vt:lpstr>Vielen dank für eure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Suleman Popalzai</dc:creator>
  <cp:lastModifiedBy>Popalzai Suleman</cp:lastModifiedBy>
  <cp:revision>2</cp:revision>
  <dcterms:modified xsi:type="dcterms:W3CDTF">2024-11-22T01:32:37Z</dcterms:modified>
</cp:coreProperties>
</file>